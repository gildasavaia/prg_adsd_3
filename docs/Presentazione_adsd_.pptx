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1" r:id="rId5"/>
    <p:sldId id="260" r:id="rId6"/>
    <p:sldId id="261" r:id="rId7"/>
    <p:sldId id="262" r:id="rId8"/>
    <p:sldId id="263" r:id="rId9"/>
    <p:sldId id="264" r:id="rId10"/>
    <p:sldId id="265" r:id="rId11"/>
    <p:sldId id="275" r:id="rId12"/>
    <p:sldId id="276" r:id="rId13"/>
    <p:sldId id="266" r:id="rId14"/>
    <p:sldId id="267" r:id="rId15"/>
    <p:sldId id="268" r:id="rId16"/>
    <p:sldId id="269" r:id="rId17"/>
    <p:sldId id="270" r:id="rId18"/>
    <p:sldId id="274"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C81CAC-E631-41A0-BA97-854A1773A20E}" v="4277" dt="2026-07-10T06:58:38.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9" autoAdjust="0"/>
    <p:restoredTop sz="84961" autoAdjust="0"/>
  </p:normalViewPr>
  <p:slideViewPr>
    <p:cSldViewPr snapToGrid="0" snapToObjects="1">
      <p:cViewPr varScale="1">
        <p:scale>
          <a:sx n="41" d="100"/>
          <a:sy n="41" d="100"/>
        </p:scale>
        <p:origin x="1382"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905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692640" y="-1463040"/>
            <a:ext cx="3291840" cy="3291840"/>
          </a:xfrm>
          <a:prstGeom prst="ellipse">
            <a:avLst/>
          </a:prstGeom>
          <a:solidFill>
            <a:srgbClr val="2B3570"/>
          </a:solidFill>
          <a:ln/>
        </p:spPr>
        <p:txBody>
          <a:bodyPr/>
          <a:lstStyle/>
          <a:p>
            <a:endParaRPr lang="it-IT"/>
          </a:p>
        </p:txBody>
      </p:sp>
      <p:sp>
        <p:nvSpPr>
          <p:cNvPr id="3" name="Shape 1"/>
          <p:cNvSpPr/>
          <p:nvPr/>
        </p:nvSpPr>
        <p:spPr>
          <a:xfrm>
            <a:off x="-1097280" y="5120640"/>
            <a:ext cx="2926080" cy="2926080"/>
          </a:xfrm>
          <a:prstGeom prst="ellipse">
            <a:avLst/>
          </a:prstGeom>
          <a:solidFill>
            <a:srgbClr val="2B3570"/>
          </a:solidFill>
          <a:ln/>
        </p:spPr>
        <p:txBody>
          <a:bodyPr/>
          <a:lstStyle/>
          <a:p>
            <a:endParaRPr lang="it-IT"/>
          </a:p>
        </p:txBody>
      </p:sp>
      <p:sp>
        <p:nvSpPr>
          <p:cNvPr id="4" name="Text 2"/>
          <p:cNvSpPr/>
          <p:nvPr/>
        </p:nvSpPr>
        <p:spPr>
          <a:xfrm>
            <a:off x="640080" y="822960"/>
            <a:ext cx="9144000" cy="320040"/>
          </a:xfrm>
          <a:prstGeom prst="rect">
            <a:avLst/>
          </a:prstGeom>
          <a:noFill/>
          <a:ln/>
        </p:spPr>
        <p:txBody>
          <a:bodyPr wrap="square" lIns="0" tIns="0" rIns="0" bIns="0" rtlCol="0" anchor="ctr"/>
          <a:lstStyle/>
          <a:p>
            <a:pPr marL="0" indent="0">
              <a:buNone/>
            </a:pPr>
            <a:r>
              <a:rPr lang="en-US" sz="1300" b="1" kern="0" spc="200" dirty="0">
                <a:solidFill>
                  <a:srgbClr val="9FD1E6"/>
                </a:solidFill>
                <a:latin typeface="Calibri" pitchFamily="34" charset="0"/>
                <a:ea typeface="Calibri" pitchFamily="34" charset="-122"/>
                <a:cs typeface="Calibri" pitchFamily="34" charset="-120"/>
              </a:rPr>
              <a:t>KV STORE · CONTRATTI DISTRIBUITI</a:t>
            </a:r>
            <a:endParaRPr lang="en-US" sz="1300" dirty="0"/>
          </a:p>
        </p:txBody>
      </p:sp>
      <p:sp>
        <p:nvSpPr>
          <p:cNvPr id="5" name="Text 3"/>
          <p:cNvSpPr/>
          <p:nvPr/>
        </p:nvSpPr>
        <p:spPr>
          <a:xfrm>
            <a:off x="640080" y="1234440"/>
            <a:ext cx="10515600" cy="91440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Retry Idempotenti con request_id</a:t>
            </a:r>
            <a:endParaRPr lang="en-US" sz="4200" dirty="0"/>
          </a:p>
        </p:txBody>
      </p:sp>
      <p:sp>
        <p:nvSpPr>
          <p:cNvPr id="6" name="Text 4"/>
          <p:cNvSpPr/>
          <p:nvPr/>
        </p:nvSpPr>
        <p:spPr>
          <a:xfrm>
            <a:off x="640080" y="2057400"/>
            <a:ext cx="9601200" cy="45720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Homework 3 — dal contratto pubblico al codice, fino ai test. </a:t>
            </a:r>
          </a:p>
          <a:p>
            <a:pPr marL="0" indent="0">
              <a:buNone/>
            </a:pPr>
            <a:r>
              <a:rPr lang="en-US" sz="1600" i="1" dirty="0" err="1">
                <a:solidFill>
                  <a:srgbClr val="CADCFC"/>
                </a:solidFill>
                <a:latin typeface="Calibri" pitchFamily="34" charset="0"/>
                <a:ea typeface="Calibri" pitchFamily="34" charset="-122"/>
                <a:cs typeface="Calibri" pitchFamily="34" charset="-120"/>
              </a:rPr>
              <a:t>Semantica</a:t>
            </a:r>
            <a:r>
              <a:rPr lang="en-US" sz="1600" i="1" dirty="0">
                <a:solidFill>
                  <a:srgbClr val="CADCFC"/>
                </a:solidFill>
                <a:latin typeface="Calibri" pitchFamily="34" charset="0"/>
                <a:ea typeface="Calibri" pitchFamily="34" charset="-122"/>
                <a:cs typeface="Calibri" pitchFamily="34" charset="-120"/>
              </a:rPr>
              <a:t> at most once per le </a:t>
            </a:r>
            <a:r>
              <a:rPr lang="en-US" sz="1600" i="1" dirty="0" err="1">
                <a:solidFill>
                  <a:srgbClr val="CADCFC"/>
                </a:solidFill>
                <a:latin typeface="Calibri" pitchFamily="34" charset="0"/>
                <a:ea typeface="Calibri" pitchFamily="34" charset="-122"/>
                <a:cs typeface="Calibri" pitchFamily="34" charset="-120"/>
              </a:rPr>
              <a:t>operazioni</a:t>
            </a:r>
            <a:r>
              <a:rPr lang="en-US" sz="1600" i="1" dirty="0">
                <a:solidFill>
                  <a:srgbClr val="CADCFC"/>
                </a:solidFill>
                <a:latin typeface="Calibri" pitchFamily="34" charset="0"/>
                <a:ea typeface="Calibri" pitchFamily="34" charset="-122"/>
                <a:cs typeface="Calibri" pitchFamily="34" charset="-120"/>
              </a:rPr>
              <a:t> mutative del KV store.</a:t>
            </a:r>
            <a:endParaRPr lang="en-US" sz="1600" dirty="0"/>
          </a:p>
        </p:txBody>
      </p:sp>
      <p:sp>
        <p:nvSpPr>
          <p:cNvPr id="20" name="Shape 5">
            <a:extLst>
              <a:ext uri="{FF2B5EF4-FFF2-40B4-BE49-F238E27FC236}">
                <a16:creationId xmlns:a16="http://schemas.microsoft.com/office/drawing/2014/main" id="{DB5F90B8-7F55-353F-7760-91BC25C9E3B7}"/>
              </a:ext>
            </a:extLst>
          </p:cNvPr>
          <p:cNvSpPr/>
          <p:nvPr/>
        </p:nvSpPr>
        <p:spPr>
          <a:xfrm>
            <a:off x="672998" y="3597368"/>
            <a:ext cx="502920" cy="502920"/>
          </a:xfrm>
          <a:prstGeom prst="ellipse">
            <a:avLst/>
          </a:prstGeom>
          <a:solidFill>
            <a:srgbClr val="FFFFFF">
              <a:alpha val="13000"/>
            </a:srgbClr>
          </a:solidFill>
          <a:ln/>
        </p:spPr>
        <p:txBody>
          <a:bodyPr/>
          <a:lstStyle/>
          <a:p>
            <a:endParaRPr lang="it-IT"/>
          </a:p>
        </p:txBody>
      </p:sp>
      <p:pic>
        <p:nvPicPr>
          <p:cNvPr id="22" name="Image 0" descr="/home/claude/deck/icons/clipboard_white.png">
            <a:extLst>
              <a:ext uri="{FF2B5EF4-FFF2-40B4-BE49-F238E27FC236}">
                <a16:creationId xmlns:a16="http://schemas.microsoft.com/office/drawing/2014/main" id="{910EBC9B-F92B-C953-0631-042178B4F9E2}"/>
              </a:ext>
            </a:extLst>
          </p:cNvPr>
          <p:cNvPicPr>
            <a:picLocks noChangeAspect="1"/>
          </p:cNvPicPr>
          <p:nvPr/>
        </p:nvPicPr>
        <p:blipFill>
          <a:blip r:embed="rId3"/>
          <a:stretch>
            <a:fillRect/>
          </a:stretch>
        </p:blipFill>
        <p:spPr>
          <a:xfrm>
            <a:off x="793699" y="3718069"/>
            <a:ext cx="261518" cy="261518"/>
          </a:xfrm>
          <a:prstGeom prst="rect">
            <a:avLst/>
          </a:prstGeom>
        </p:spPr>
      </p:pic>
      <p:sp>
        <p:nvSpPr>
          <p:cNvPr id="24" name="Text 6">
            <a:extLst>
              <a:ext uri="{FF2B5EF4-FFF2-40B4-BE49-F238E27FC236}">
                <a16:creationId xmlns:a16="http://schemas.microsoft.com/office/drawing/2014/main" id="{996233E9-FCFB-CD6C-2B46-E96FACA74461}"/>
              </a:ext>
            </a:extLst>
          </p:cNvPr>
          <p:cNvSpPr/>
          <p:nvPr/>
        </p:nvSpPr>
        <p:spPr>
          <a:xfrm>
            <a:off x="901598" y="3603165"/>
            <a:ext cx="1737360" cy="45720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Contratto</a:t>
            </a:r>
            <a:endParaRPr lang="en-US" sz="1100" dirty="0"/>
          </a:p>
        </p:txBody>
      </p:sp>
      <p:sp>
        <p:nvSpPr>
          <p:cNvPr id="26" name="Shape 7">
            <a:extLst>
              <a:ext uri="{FF2B5EF4-FFF2-40B4-BE49-F238E27FC236}">
                <a16:creationId xmlns:a16="http://schemas.microsoft.com/office/drawing/2014/main" id="{9A4DEF05-9983-1238-7E15-FFFEE0E26360}"/>
              </a:ext>
            </a:extLst>
          </p:cNvPr>
          <p:cNvSpPr/>
          <p:nvPr/>
        </p:nvSpPr>
        <p:spPr>
          <a:xfrm>
            <a:off x="2638958" y="3597368"/>
            <a:ext cx="502920" cy="502920"/>
          </a:xfrm>
          <a:prstGeom prst="ellipse">
            <a:avLst/>
          </a:prstGeom>
          <a:solidFill>
            <a:srgbClr val="FFFFFF">
              <a:alpha val="13000"/>
            </a:srgbClr>
          </a:solidFill>
          <a:ln/>
        </p:spPr>
        <p:txBody>
          <a:bodyPr/>
          <a:lstStyle/>
          <a:p>
            <a:endParaRPr lang="it-IT"/>
          </a:p>
        </p:txBody>
      </p:sp>
      <p:pic>
        <p:nvPicPr>
          <p:cNvPr id="28" name="Image 1" descr="/home/claude/deck/icons/server_white.png">
            <a:extLst>
              <a:ext uri="{FF2B5EF4-FFF2-40B4-BE49-F238E27FC236}">
                <a16:creationId xmlns:a16="http://schemas.microsoft.com/office/drawing/2014/main" id="{5DB7CF85-F659-0333-F2BF-9A221E8CED26}"/>
              </a:ext>
            </a:extLst>
          </p:cNvPr>
          <p:cNvPicPr>
            <a:picLocks noChangeAspect="1"/>
          </p:cNvPicPr>
          <p:nvPr/>
        </p:nvPicPr>
        <p:blipFill>
          <a:blip r:embed="rId4"/>
          <a:stretch>
            <a:fillRect/>
          </a:stretch>
        </p:blipFill>
        <p:spPr>
          <a:xfrm>
            <a:off x="2759659" y="3718069"/>
            <a:ext cx="261518" cy="261518"/>
          </a:xfrm>
          <a:prstGeom prst="rect">
            <a:avLst/>
          </a:prstGeom>
        </p:spPr>
      </p:pic>
      <p:sp>
        <p:nvSpPr>
          <p:cNvPr id="30" name="Text 8">
            <a:extLst>
              <a:ext uri="{FF2B5EF4-FFF2-40B4-BE49-F238E27FC236}">
                <a16:creationId xmlns:a16="http://schemas.microsoft.com/office/drawing/2014/main" id="{B65339BB-BF11-07CC-ACD2-D5ECD430E222}"/>
              </a:ext>
            </a:extLst>
          </p:cNvPr>
          <p:cNvSpPr/>
          <p:nvPr/>
        </p:nvSpPr>
        <p:spPr>
          <a:xfrm>
            <a:off x="2927909" y="3585655"/>
            <a:ext cx="1737360" cy="45720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Implementazione</a:t>
            </a:r>
            <a:endParaRPr lang="en-US" sz="1400" dirty="0"/>
          </a:p>
        </p:txBody>
      </p:sp>
      <p:sp>
        <p:nvSpPr>
          <p:cNvPr id="32" name="Shape 9">
            <a:extLst>
              <a:ext uri="{FF2B5EF4-FFF2-40B4-BE49-F238E27FC236}">
                <a16:creationId xmlns:a16="http://schemas.microsoft.com/office/drawing/2014/main" id="{BDCC14C7-7C6F-69EA-82B5-F0861DD07A25}"/>
              </a:ext>
            </a:extLst>
          </p:cNvPr>
          <p:cNvSpPr/>
          <p:nvPr/>
        </p:nvSpPr>
        <p:spPr>
          <a:xfrm>
            <a:off x="4833519" y="3570051"/>
            <a:ext cx="502920" cy="502920"/>
          </a:xfrm>
          <a:prstGeom prst="ellipse">
            <a:avLst/>
          </a:prstGeom>
          <a:solidFill>
            <a:srgbClr val="FFFFFF">
              <a:alpha val="13000"/>
            </a:srgbClr>
          </a:solidFill>
          <a:ln/>
        </p:spPr>
        <p:txBody>
          <a:bodyPr/>
          <a:lstStyle/>
          <a:p>
            <a:endParaRPr lang="it-IT"/>
          </a:p>
        </p:txBody>
      </p:sp>
      <p:pic>
        <p:nvPicPr>
          <p:cNvPr id="34" name="Image 2" descr="/home/claude/deck/icons/flask_white.png">
            <a:extLst>
              <a:ext uri="{FF2B5EF4-FFF2-40B4-BE49-F238E27FC236}">
                <a16:creationId xmlns:a16="http://schemas.microsoft.com/office/drawing/2014/main" id="{69E827C6-D329-5882-E88D-17BF1801BC17}"/>
              </a:ext>
            </a:extLst>
          </p:cNvPr>
          <p:cNvPicPr>
            <a:picLocks noChangeAspect="1"/>
          </p:cNvPicPr>
          <p:nvPr/>
        </p:nvPicPr>
        <p:blipFill>
          <a:blip r:embed="rId5"/>
          <a:stretch>
            <a:fillRect/>
          </a:stretch>
        </p:blipFill>
        <p:spPr>
          <a:xfrm>
            <a:off x="4954220" y="3690752"/>
            <a:ext cx="261518" cy="261518"/>
          </a:xfrm>
          <a:prstGeom prst="rect">
            <a:avLst/>
          </a:prstGeom>
        </p:spPr>
      </p:pic>
      <p:sp>
        <p:nvSpPr>
          <p:cNvPr id="36" name="Text 10">
            <a:extLst>
              <a:ext uri="{FF2B5EF4-FFF2-40B4-BE49-F238E27FC236}">
                <a16:creationId xmlns:a16="http://schemas.microsoft.com/office/drawing/2014/main" id="{31FC3D91-27A3-7D61-169F-EC6BBCD3EA3C}"/>
              </a:ext>
            </a:extLst>
          </p:cNvPr>
          <p:cNvSpPr/>
          <p:nvPr/>
        </p:nvSpPr>
        <p:spPr>
          <a:xfrm>
            <a:off x="4785970" y="3603165"/>
            <a:ext cx="1737360" cy="45720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Test</a:t>
            </a:r>
            <a:endParaRPr lang="en-US" sz="1400" dirty="0"/>
          </a:p>
        </p:txBody>
      </p:sp>
      <p:sp>
        <p:nvSpPr>
          <p:cNvPr id="38" name="Shape 11">
            <a:extLst>
              <a:ext uri="{FF2B5EF4-FFF2-40B4-BE49-F238E27FC236}">
                <a16:creationId xmlns:a16="http://schemas.microsoft.com/office/drawing/2014/main" id="{FCD36D86-6948-FA9D-7F9C-D68BF97C9BEA}"/>
              </a:ext>
            </a:extLst>
          </p:cNvPr>
          <p:cNvSpPr/>
          <p:nvPr/>
        </p:nvSpPr>
        <p:spPr>
          <a:xfrm>
            <a:off x="6799479" y="3570051"/>
            <a:ext cx="502920" cy="502920"/>
          </a:xfrm>
          <a:prstGeom prst="ellipse">
            <a:avLst/>
          </a:prstGeom>
          <a:solidFill>
            <a:srgbClr val="FFFFFF">
              <a:alpha val="13000"/>
            </a:srgbClr>
          </a:solidFill>
          <a:ln/>
        </p:spPr>
        <p:txBody>
          <a:bodyPr/>
          <a:lstStyle/>
          <a:p>
            <a:endParaRPr lang="it-IT"/>
          </a:p>
        </p:txBody>
      </p:sp>
      <p:pic>
        <p:nvPicPr>
          <p:cNvPr id="40" name="Image 3" descr="/home/claude/deck/icons/shield_white.png">
            <a:extLst>
              <a:ext uri="{FF2B5EF4-FFF2-40B4-BE49-F238E27FC236}">
                <a16:creationId xmlns:a16="http://schemas.microsoft.com/office/drawing/2014/main" id="{CD0765E2-176B-75C7-A1E4-2A1D3F2D8F29}"/>
              </a:ext>
            </a:extLst>
          </p:cNvPr>
          <p:cNvPicPr>
            <a:picLocks noChangeAspect="1"/>
          </p:cNvPicPr>
          <p:nvPr/>
        </p:nvPicPr>
        <p:blipFill>
          <a:blip r:embed="rId6"/>
          <a:stretch>
            <a:fillRect/>
          </a:stretch>
        </p:blipFill>
        <p:spPr>
          <a:xfrm>
            <a:off x="6920180" y="3690752"/>
            <a:ext cx="261518" cy="261518"/>
          </a:xfrm>
          <a:prstGeom prst="rect">
            <a:avLst/>
          </a:prstGeom>
        </p:spPr>
      </p:pic>
      <p:sp>
        <p:nvSpPr>
          <p:cNvPr id="42" name="Text 12">
            <a:extLst>
              <a:ext uri="{FF2B5EF4-FFF2-40B4-BE49-F238E27FC236}">
                <a16:creationId xmlns:a16="http://schemas.microsoft.com/office/drawing/2014/main" id="{E0DF9DF5-5DFD-807E-1CBB-E456FD3EE0CF}"/>
              </a:ext>
            </a:extLst>
          </p:cNvPr>
          <p:cNvSpPr/>
          <p:nvPr/>
        </p:nvSpPr>
        <p:spPr>
          <a:xfrm>
            <a:off x="7050939" y="3584563"/>
            <a:ext cx="1737360" cy="45720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Safety &amp; Liveness</a:t>
            </a:r>
            <a:endParaRPr lang="en-US" sz="1400" dirty="0"/>
          </a:p>
        </p:txBody>
      </p:sp>
      <p:sp>
        <p:nvSpPr>
          <p:cNvPr id="68" name="CasellaDiTesto 67">
            <a:extLst>
              <a:ext uri="{FF2B5EF4-FFF2-40B4-BE49-F238E27FC236}">
                <a16:creationId xmlns:a16="http://schemas.microsoft.com/office/drawing/2014/main" id="{6210CD26-A187-B898-0EAA-812A1C5BCAB8}"/>
              </a:ext>
            </a:extLst>
          </p:cNvPr>
          <p:cNvSpPr txBox="1"/>
          <p:nvPr/>
        </p:nvSpPr>
        <p:spPr>
          <a:xfrm>
            <a:off x="1562195" y="4681269"/>
            <a:ext cx="7045568" cy="923330"/>
          </a:xfrm>
          <a:prstGeom prst="rect">
            <a:avLst/>
          </a:prstGeom>
          <a:noFill/>
        </p:spPr>
        <p:txBody>
          <a:bodyPr wrap="square">
            <a:spAutoFit/>
          </a:bodyPr>
          <a:lstStyle/>
          <a:p>
            <a:r>
              <a:rPr lang="en-US" b="1" i="1" dirty="0">
                <a:solidFill>
                  <a:srgbClr val="CADCFC"/>
                </a:solidFill>
                <a:latin typeface="Calibri" pitchFamily="34" charset="0"/>
                <a:ea typeface="Calibri" pitchFamily="34" charset="-122"/>
                <a:cs typeface="Calibri" pitchFamily="34" charset="-120"/>
              </a:rPr>
              <a:t>COMPONENTI:			GABRIELE DI MARZIO</a:t>
            </a:r>
          </a:p>
          <a:p>
            <a:r>
              <a:rPr lang="en-US" b="1" i="1" dirty="0">
                <a:solidFill>
                  <a:srgbClr val="CADCFC"/>
                </a:solidFill>
                <a:latin typeface="Calibri" pitchFamily="34" charset="0"/>
                <a:ea typeface="Calibri" pitchFamily="34" charset="-122"/>
                <a:cs typeface="Calibri" pitchFamily="34" charset="-120"/>
              </a:rPr>
              <a:t>				GILDA SAVAIA</a:t>
            </a:r>
          </a:p>
          <a:p>
            <a:r>
              <a:rPr lang="en-US" b="1" i="1" dirty="0">
                <a:solidFill>
                  <a:srgbClr val="CADCFC"/>
                </a:solidFill>
                <a:latin typeface="Calibri" pitchFamily="34" charset="0"/>
                <a:ea typeface="Calibri" pitchFamily="34" charset="-122"/>
                <a:cs typeface="Calibri" pitchFamily="34" charset="-120"/>
              </a:rPr>
              <a:t>				ANDREA NOCERA </a:t>
            </a:r>
            <a:endParaRPr lang="en-US"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IL PROBLEMA</a:t>
            </a:r>
            <a:endParaRPr lang="en-US" sz="1200" dirty="0"/>
          </a:p>
        </p:txBody>
      </p:sp>
      <p:sp>
        <p:nvSpPr>
          <p:cNvPr id="3" name="Text 1"/>
          <p:cNvSpPr/>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Retry alla cieca, effetto doppio</a:t>
            </a:r>
            <a:endParaRPr lang="en-US" sz="3000" dirty="0"/>
          </a:p>
        </p:txBody>
      </p:sp>
      <p:sp>
        <p:nvSpPr>
          <p:cNvPr id="4" name="Text 2"/>
          <p:cNvSpPr/>
          <p:nvPr/>
        </p:nvSpPr>
        <p:spPr>
          <a:xfrm>
            <a:off x="548640" y="1417320"/>
            <a:ext cx="5394960" cy="1828800"/>
          </a:xfrm>
          <a:prstGeom prst="rect">
            <a:avLst/>
          </a:prstGeom>
          <a:noFill/>
          <a:ln/>
        </p:spPr>
        <p:txBody>
          <a:bodyPr wrap="square" lIns="0" tIns="0" rIns="0" bIns="0" rtlCol="0" anchor="ctr"/>
          <a:lstStyle/>
          <a:p>
            <a:pPr marL="0" indent="0">
              <a:lnSpc>
                <a:spcPct val="125000"/>
              </a:lnSpc>
              <a:buNone/>
            </a:pPr>
            <a:r>
              <a:rPr lang="en-US" sz="1400" dirty="0">
                <a:solidFill>
                  <a:srgbClr val="1E2430"/>
                </a:solidFill>
                <a:latin typeface="Calibri" pitchFamily="34" charset="0"/>
                <a:ea typeface="Calibri" pitchFamily="34" charset="-122"/>
                <a:cs typeface="Calibri" pitchFamily="34" charset="-120"/>
              </a:rPr>
              <a:t>In un sistema distribuito il client può inviare una scrittura, perdere la risposta e non sapere se il server l'abbia applicata. Se ritenta “alla cieca”, rischia di applicare due volte lo stesso effetto: ad esempio incrementare due volte la versione di una chiave.</a:t>
            </a:r>
            <a:endParaRPr lang="en-US" sz="1400" dirty="0"/>
          </a:p>
        </p:txBody>
      </p:sp>
      <p:sp>
        <p:nvSpPr>
          <p:cNvPr id="5" name="Shape 3"/>
          <p:cNvSpPr/>
          <p:nvPr/>
        </p:nvSpPr>
        <p:spPr>
          <a:xfrm>
            <a:off x="548640" y="3429000"/>
            <a:ext cx="5394960" cy="1920240"/>
          </a:xfrm>
          <a:prstGeom prst="roundRect">
            <a:avLst>
              <a:gd name="adj" fmla="val 3810"/>
            </a:avLst>
          </a:prstGeom>
          <a:solidFill>
            <a:srgbClr val="F3F7F9"/>
          </a:solidFill>
          <a:ln/>
        </p:spPr>
        <p:txBody>
          <a:bodyPr/>
          <a:lstStyle/>
          <a:p>
            <a:endParaRPr lang="it-IT"/>
          </a:p>
        </p:txBody>
      </p:sp>
      <p:sp>
        <p:nvSpPr>
          <p:cNvPr id="6" name="Text 4"/>
          <p:cNvSpPr/>
          <p:nvPr/>
        </p:nvSpPr>
        <p:spPr>
          <a:xfrm>
            <a:off x="804672" y="3593592"/>
            <a:ext cx="4882896"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Effetto doppio</a:t>
            </a:r>
            <a:endParaRPr lang="en-US" sz="1100" dirty="0"/>
          </a:p>
        </p:txBody>
      </p:sp>
      <p:sp>
        <p:nvSpPr>
          <p:cNvPr id="7" name="Text 5"/>
          <p:cNvSpPr/>
          <p:nvPr/>
        </p:nvSpPr>
        <p:spPr>
          <a:xfrm>
            <a:off x="804672" y="3959352"/>
            <a:ext cx="4882896" cy="1252728"/>
          </a:xfrm>
          <a:prstGeom prst="rect">
            <a:avLst/>
          </a:prstGeom>
          <a:noFill/>
          <a:ln/>
        </p:spPr>
        <p:txBody>
          <a:bodyPr wrap="square" lIns="0" tIns="0" rIns="0" bIns="0" rtlCol="0" anchor="t"/>
          <a:lstStyle/>
          <a:p>
            <a:pPr marL="0" indent="0">
              <a:lnSpc>
                <a:spcPct val="115000"/>
              </a:lnSpc>
              <a:buNone/>
            </a:pPr>
            <a:r>
              <a:rPr lang="en-US" sz="1250" dirty="0">
                <a:solidFill>
                  <a:srgbClr val="1E2430"/>
                </a:solidFill>
                <a:latin typeface="Calibri" pitchFamily="34" charset="0"/>
                <a:ea typeface="Calibri" pitchFamily="34" charset="-122"/>
                <a:cs typeface="Calibri" pitchFamily="34" charset="-120"/>
              </a:rPr>
              <a:t>Senza protezione, un secondo invio della stessa SET incrementa di nuovo la versione della chiave: da 0 direttamente a 2, invece che a 1.</a:t>
            </a:r>
            <a:endParaRPr lang="en-US" sz="1250" dirty="0"/>
          </a:p>
        </p:txBody>
      </p:sp>
      <p:sp>
        <p:nvSpPr>
          <p:cNvPr id="8" name="Text 6"/>
          <p:cNvSpPr/>
          <p:nvPr/>
        </p:nvSpPr>
        <p:spPr>
          <a:xfrm>
            <a:off x="6309360" y="1371600"/>
            <a:ext cx="5303520" cy="274320"/>
          </a:xfrm>
          <a:prstGeom prst="rect">
            <a:avLst/>
          </a:prstGeom>
          <a:noFill/>
          <a:ln/>
        </p:spPr>
        <p:txBody>
          <a:bodyPr wrap="square" lIns="0" tIns="0" rIns="0" bIns="0" rtlCol="0" anchor="ctr"/>
          <a:lstStyle/>
          <a:p>
            <a:pPr marL="0" indent="0" algn="ctr">
              <a:buNone/>
            </a:pPr>
            <a:r>
              <a:rPr lang="en-US" sz="1100" b="1" kern="0" spc="100" dirty="0">
                <a:solidFill>
                  <a:srgbClr val="5B6B79"/>
                </a:solidFill>
                <a:latin typeface="Calibri" pitchFamily="34" charset="0"/>
                <a:ea typeface="Calibri" pitchFamily="34" charset="-122"/>
                <a:cs typeface="Calibri" pitchFamily="34" charset="-120"/>
              </a:rPr>
              <a:t>SENZA IDEMPOTENZA</a:t>
            </a:r>
            <a:endParaRPr lang="en-US" sz="1100" dirty="0"/>
          </a:p>
        </p:txBody>
      </p:sp>
      <p:sp>
        <p:nvSpPr>
          <p:cNvPr id="9" name="Shape 7"/>
          <p:cNvSpPr/>
          <p:nvPr/>
        </p:nvSpPr>
        <p:spPr>
          <a:xfrm>
            <a:off x="6492240" y="1874520"/>
            <a:ext cx="1280160" cy="365760"/>
          </a:xfrm>
          <a:prstGeom prst="roundRect">
            <a:avLst>
              <a:gd name="adj" fmla="val 15000"/>
            </a:avLst>
          </a:prstGeom>
          <a:solidFill>
            <a:srgbClr val="21295C"/>
          </a:solidFill>
          <a:ln/>
        </p:spPr>
        <p:txBody>
          <a:bodyPr/>
          <a:lstStyle/>
          <a:p>
            <a:endParaRPr lang="it-IT"/>
          </a:p>
        </p:txBody>
      </p:sp>
      <p:sp>
        <p:nvSpPr>
          <p:cNvPr id="10" name="Text 8"/>
          <p:cNvSpPr/>
          <p:nvPr/>
        </p:nvSpPr>
        <p:spPr>
          <a:xfrm>
            <a:off x="6492240" y="1874520"/>
            <a:ext cx="12801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Client</a:t>
            </a:r>
            <a:endParaRPr lang="en-US" sz="1200" dirty="0"/>
          </a:p>
        </p:txBody>
      </p:sp>
      <p:sp>
        <p:nvSpPr>
          <p:cNvPr id="11" name="Shape 9"/>
          <p:cNvSpPr/>
          <p:nvPr/>
        </p:nvSpPr>
        <p:spPr>
          <a:xfrm>
            <a:off x="10149840" y="1874520"/>
            <a:ext cx="1280160" cy="365760"/>
          </a:xfrm>
          <a:prstGeom prst="roundRect">
            <a:avLst>
              <a:gd name="adj" fmla="val 15000"/>
            </a:avLst>
          </a:prstGeom>
          <a:solidFill>
            <a:srgbClr val="21295C"/>
          </a:solidFill>
          <a:ln/>
        </p:spPr>
        <p:txBody>
          <a:bodyPr/>
          <a:lstStyle/>
          <a:p>
            <a:endParaRPr lang="it-IT"/>
          </a:p>
        </p:txBody>
      </p:sp>
      <p:sp>
        <p:nvSpPr>
          <p:cNvPr id="12" name="Text 10"/>
          <p:cNvSpPr/>
          <p:nvPr/>
        </p:nvSpPr>
        <p:spPr>
          <a:xfrm>
            <a:off x="10149840" y="1874520"/>
            <a:ext cx="12801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Server</a:t>
            </a:r>
            <a:endParaRPr lang="en-US" sz="1200" dirty="0"/>
          </a:p>
        </p:txBody>
      </p:sp>
      <p:sp>
        <p:nvSpPr>
          <p:cNvPr id="13" name="Shape 11"/>
          <p:cNvSpPr/>
          <p:nvPr/>
        </p:nvSpPr>
        <p:spPr>
          <a:xfrm>
            <a:off x="7132320" y="2240280"/>
            <a:ext cx="0" cy="2468880"/>
          </a:xfrm>
          <a:prstGeom prst="line">
            <a:avLst/>
          </a:prstGeom>
          <a:noFill/>
          <a:ln w="12700">
            <a:solidFill>
              <a:srgbClr val="D7E3E8"/>
            </a:solidFill>
            <a:prstDash val="dash"/>
          </a:ln>
        </p:spPr>
        <p:txBody>
          <a:bodyPr/>
          <a:lstStyle/>
          <a:p>
            <a:endParaRPr lang="it-IT"/>
          </a:p>
        </p:txBody>
      </p:sp>
      <p:sp>
        <p:nvSpPr>
          <p:cNvPr id="14" name="Shape 12"/>
          <p:cNvSpPr/>
          <p:nvPr/>
        </p:nvSpPr>
        <p:spPr>
          <a:xfrm>
            <a:off x="10789920" y="2240280"/>
            <a:ext cx="0" cy="2468880"/>
          </a:xfrm>
          <a:prstGeom prst="line">
            <a:avLst/>
          </a:prstGeom>
          <a:noFill/>
          <a:ln w="12700">
            <a:solidFill>
              <a:srgbClr val="D7E3E8"/>
            </a:solidFill>
            <a:prstDash val="dash"/>
          </a:ln>
        </p:spPr>
        <p:txBody>
          <a:bodyPr/>
          <a:lstStyle/>
          <a:p>
            <a:endParaRPr lang="it-IT"/>
          </a:p>
        </p:txBody>
      </p:sp>
      <p:sp>
        <p:nvSpPr>
          <p:cNvPr id="15" name="Text 13"/>
          <p:cNvSpPr/>
          <p:nvPr/>
        </p:nvSpPr>
        <p:spPr>
          <a:xfrm>
            <a:off x="7132320" y="2121408"/>
            <a:ext cx="3657600" cy="228600"/>
          </a:xfrm>
          <a:prstGeom prst="rect">
            <a:avLst/>
          </a:prstGeom>
          <a:noFill/>
          <a:ln/>
        </p:spPr>
        <p:txBody>
          <a:bodyPr wrap="square" lIns="0" tIns="0" rIns="0" bIns="0" rtlCol="0" anchor="ctr"/>
          <a:lstStyle/>
          <a:p>
            <a:pPr marL="0" indent="0" algn="ctr">
              <a:buNone/>
            </a:pPr>
            <a:r>
              <a:rPr lang="en-US" sz="1050" dirty="0">
                <a:solidFill>
                  <a:srgbClr val="1E2430"/>
                </a:solidFill>
                <a:latin typeface="Courier New" pitchFamily="34" charset="0"/>
                <a:ea typeface="Courier New" pitchFamily="34" charset="-122"/>
                <a:cs typeface="Courier New" pitchFamily="34" charset="-120"/>
              </a:rPr>
              <a:t>SET key value</a:t>
            </a:r>
            <a:endParaRPr lang="en-US" sz="1050" dirty="0"/>
          </a:p>
        </p:txBody>
      </p:sp>
      <p:sp>
        <p:nvSpPr>
          <p:cNvPr id="16" name="Shape 14"/>
          <p:cNvSpPr/>
          <p:nvPr/>
        </p:nvSpPr>
        <p:spPr>
          <a:xfrm>
            <a:off x="7132320" y="2377440"/>
            <a:ext cx="3657600" cy="0"/>
          </a:xfrm>
          <a:prstGeom prst="line">
            <a:avLst/>
          </a:prstGeom>
          <a:noFill/>
          <a:ln w="22225">
            <a:solidFill>
              <a:srgbClr val="21295C"/>
            </a:solidFill>
            <a:prstDash val="solid"/>
            <a:headEnd type="none"/>
            <a:tailEnd type="triangle"/>
          </a:ln>
        </p:spPr>
        <p:txBody>
          <a:bodyPr/>
          <a:lstStyle/>
          <a:p>
            <a:endParaRPr lang="it-IT"/>
          </a:p>
        </p:txBody>
      </p:sp>
      <p:sp>
        <p:nvSpPr>
          <p:cNvPr id="17" name="Text 15"/>
          <p:cNvSpPr/>
          <p:nvPr/>
        </p:nvSpPr>
        <p:spPr>
          <a:xfrm>
            <a:off x="7132320" y="2692908"/>
            <a:ext cx="3657600" cy="228600"/>
          </a:xfrm>
          <a:prstGeom prst="rect">
            <a:avLst/>
          </a:prstGeom>
          <a:noFill/>
          <a:ln/>
        </p:spPr>
        <p:txBody>
          <a:bodyPr wrap="square" lIns="0" tIns="0" rIns="0" bIns="0" rtlCol="0" anchor="ctr"/>
          <a:lstStyle/>
          <a:p>
            <a:pPr marL="0" indent="0" algn="ctr">
              <a:buNone/>
            </a:pPr>
            <a:r>
              <a:rPr lang="en-US" sz="1050" dirty="0">
                <a:solidFill>
                  <a:srgbClr val="8C2E22"/>
                </a:solidFill>
                <a:latin typeface="Courier New" pitchFamily="34" charset="0"/>
                <a:ea typeface="Courier New" pitchFamily="34" charset="-122"/>
                <a:cs typeface="Courier New" pitchFamily="34" charset="-120"/>
              </a:rPr>
              <a:t>risposta persa</a:t>
            </a:r>
            <a:endParaRPr lang="en-US" sz="1050" dirty="0"/>
          </a:p>
        </p:txBody>
      </p:sp>
      <p:sp>
        <p:nvSpPr>
          <p:cNvPr id="18" name="Shape 16"/>
          <p:cNvSpPr/>
          <p:nvPr/>
        </p:nvSpPr>
        <p:spPr>
          <a:xfrm>
            <a:off x="10789920" y="2948940"/>
            <a:ext cx="0" cy="0"/>
          </a:xfrm>
          <a:prstGeom prst="line">
            <a:avLst/>
          </a:prstGeom>
          <a:noFill/>
          <a:ln w="22225">
            <a:solidFill>
              <a:srgbClr val="8C2E22"/>
            </a:solidFill>
            <a:prstDash val="dash"/>
            <a:headEnd type="triangle"/>
            <a:tailEnd type="none"/>
          </a:ln>
        </p:spPr>
        <p:txBody>
          <a:bodyPr/>
          <a:lstStyle/>
          <a:p>
            <a:endParaRPr lang="it-IT"/>
          </a:p>
        </p:txBody>
      </p:sp>
      <p:sp>
        <p:nvSpPr>
          <p:cNvPr id="19" name="Text 17"/>
          <p:cNvSpPr/>
          <p:nvPr/>
        </p:nvSpPr>
        <p:spPr>
          <a:xfrm>
            <a:off x="8823960" y="2820924"/>
            <a:ext cx="274320" cy="274320"/>
          </a:xfrm>
          <a:prstGeom prst="rect">
            <a:avLst/>
          </a:prstGeom>
          <a:noFill/>
          <a:ln/>
        </p:spPr>
        <p:txBody>
          <a:bodyPr wrap="square" lIns="0" tIns="0" rIns="0" bIns="0" rtlCol="0" anchor="ctr"/>
          <a:lstStyle/>
          <a:p>
            <a:pPr marL="0" indent="0" algn="ctr">
              <a:buNone/>
            </a:pPr>
            <a:r>
              <a:rPr lang="en-US" sz="1300" b="1" dirty="0">
                <a:solidFill>
                  <a:srgbClr val="8C2E22"/>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7132320" y="3264408"/>
            <a:ext cx="3657600" cy="228600"/>
          </a:xfrm>
          <a:prstGeom prst="rect">
            <a:avLst/>
          </a:prstGeom>
          <a:noFill/>
          <a:ln/>
        </p:spPr>
        <p:txBody>
          <a:bodyPr wrap="square" lIns="0" tIns="0" rIns="0" bIns="0" rtlCol="0" anchor="ctr"/>
          <a:lstStyle/>
          <a:p>
            <a:pPr marL="0" indent="0" algn="ctr">
              <a:buNone/>
            </a:pPr>
            <a:r>
              <a:rPr lang="en-US" sz="1050" dirty="0">
                <a:solidFill>
                  <a:srgbClr val="1E2430"/>
                </a:solidFill>
                <a:latin typeface="Courier New" pitchFamily="34" charset="0"/>
                <a:ea typeface="Courier New" pitchFamily="34" charset="-122"/>
                <a:cs typeface="Courier New" pitchFamily="34" charset="-120"/>
              </a:rPr>
              <a:t>SET key value (retry)</a:t>
            </a:r>
            <a:endParaRPr lang="en-US" sz="1050" dirty="0"/>
          </a:p>
        </p:txBody>
      </p:sp>
      <p:sp>
        <p:nvSpPr>
          <p:cNvPr id="21" name="Shape 19"/>
          <p:cNvSpPr/>
          <p:nvPr/>
        </p:nvSpPr>
        <p:spPr>
          <a:xfrm>
            <a:off x="7132320" y="3520440"/>
            <a:ext cx="3657600" cy="0"/>
          </a:xfrm>
          <a:prstGeom prst="line">
            <a:avLst/>
          </a:prstGeom>
          <a:noFill/>
          <a:ln w="22225">
            <a:solidFill>
              <a:srgbClr val="21295C"/>
            </a:solidFill>
            <a:prstDash val="solid"/>
            <a:headEnd type="none"/>
            <a:tailEnd type="triangle"/>
          </a:ln>
        </p:spPr>
        <p:txBody>
          <a:bodyPr/>
          <a:lstStyle/>
          <a:p>
            <a:endParaRPr lang="it-IT"/>
          </a:p>
        </p:txBody>
      </p:sp>
      <p:sp>
        <p:nvSpPr>
          <p:cNvPr id="22" name="Text 20"/>
          <p:cNvSpPr/>
          <p:nvPr/>
        </p:nvSpPr>
        <p:spPr>
          <a:xfrm>
            <a:off x="7132320" y="3835908"/>
            <a:ext cx="3657600" cy="228600"/>
          </a:xfrm>
          <a:prstGeom prst="rect">
            <a:avLst/>
          </a:prstGeom>
          <a:noFill/>
          <a:ln/>
        </p:spPr>
        <p:txBody>
          <a:bodyPr wrap="square" lIns="0" tIns="0" rIns="0" bIns="0" rtlCol="0" anchor="ctr"/>
          <a:lstStyle/>
          <a:p>
            <a:pPr marL="0" indent="0" algn="ctr">
              <a:buNone/>
            </a:pPr>
            <a:r>
              <a:rPr lang="en-US" sz="1050" dirty="0">
                <a:solidFill>
                  <a:srgbClr val="1E2430"/>
                </a:solidFill>
                <a:latin typeface="Courier New" pitchFamily="34" charset="0"/>
                <a:ea typeface="Courier New" pitchFamily="34" charset="-122"/>
                <a:cs typeface="Courier New" pitchFamily="34" charset="-120"/>
              </a:rPr>
              <a:t>OK version=2</a:t>
            </a:r>
            <a:endParaRPr lang="en-US" sz="1050" dirty="0"/>
          </a:p>
        </p:txBody>
      </p:sp>
      <p:sp>
        <p:nvSpPr>
          <p:cNvPr id="23" name="Shape 21"/>
          <p:cNvSpPr/>
          <p:nvPr/>
        </p:nvSpPr>
        <p:spPr>
          <a:xfrm>
            <a:off x="10789920" y="4091940"/>
            <a:ext cx="0" cy="0"/>
          </a:xfrm>
          <a:prstGeom prst="line">
            <a:avLst/>
          </a:prstGeom>
          <a:noFill/>
          <a:ln w="22225">
            <a:solidFill>
              <a:srgbClr val="21295C"/>
            </a:solidFill>
            <a:prstDash val="solid"/>
            <a:headEnd type="triangle"/>
            <a:tailEnd type="none"/>
          </a:ln>
        </p:spPr>
        <p:txBody>
          <a:bodyPr/>
          <a:lstStyle/>
          <a:p>
            <a:endParaRPr lang="it-IT"/>
          </a:p>
        </p:txBody>
      </p:sp>
      <p:sp>
        <p:nvSpPr>
          <p:cNvPr id="24" name="Shape 22"/>
          <p:cNvSpPr/>
          <p:nvPr/>
        </p:nvSpPr>
        <p:spPr>
          <a:xfrm>
            <a:off x="6309360" y="4846320"/>
            <a:ext cx="5303520" cy="457200"/>
          </a:xfrm>
          <a:prstGeom prst="roundRect">
            <a:avLst>
              <a:gd name="adj" fmla="val 12000"/>
            </a:avLst>
          </a:prstGeom>
          <a:solidFill>
            <a:srgbClr val="FDEAEA"/>
          </a:solidFill>
          <a:ln/>
        </p:spPr>
        <p:txBody>
          <a:bodyPr/>
          <a:lstStyle/>
          <a:p>
            <a:endParaRPr lang="it-IT"/>
          </a:p>
        </p:txBody>
      </p:sp>
      <p:sp>
        <p:nvSpPr>
          <p:cNvPr id="25" name="Text 23"/>
          <p:cNvSpPr/>
          <p:nvPr/>
        </p:nvSpPr>
        <p:spPr>
          <a:xfrm>
            <a:off x="6492240" y="4846320"/>
            <a:ext cx="4937760" cy="457200"/>
          </a:xfrm>
          <a:prstGeom prst="rect">
            <a:avLst/>
          </a:prstGeom>
          <a:noFill/>
          <a:ln/>
        </p:spPr>
        <p:txBody>
          <a:bodyPr wrap="square" lIns="0" tIns="0" rIns="0" bIns="0" rtlCol="0" anchor="ctr"/>
          <a:lstStyle/>
          <a:p>
            <a:pPr marL="0" indent="0" algn="ctr">
              <a:buNone/>
            </a:pPr>
            <a:r>
              <a:rPr lang="en-US" sz="1100" i="1" dirty="0">
                <a:solidFill>
                  <a:srgbClr val="8C2E22"/>
                </a:solidFill>
                <a:latin typeface="Calibri" pitchFamily="34" charset="0"/>
                <a:ea typeface="Calibri" pitchFamily="34" charset="-122"/>
                <a:cs typeface="Calibri" pitchFamily="34" charset="-120"/>
              </a:rPr>
              <a:t>Il server riesegue il comando: la versione passa da 0 a 2 invece che a 1.</a:t>
            </a:r>
            <a:endParaRPr lang="en-US" sz="11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LA SOLUZIONE</a:t>
            </a:r>
            <a:endParaRPr lang="en-US" sz="1200" dirty="0"/>
          </a:p>
        </p:txBody>
      </p:sp>
      <p:sp>
        <p:nvSpPr>
          <p:cNvPr id="3" name="Text 1"/>
          <p:cNvSpPr/>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002060"/>
                </a:solidFill>
                <a:latin typeface="Cambria" pitchFamily="34" charset="0"/>
                <a:ea typeface="Cambria" pitchFamily="34" charset="-122"/>
                <a:cs typeface="Cambria" pitchFamily="34" charset="-120"/>
              </a:rPr>
              <a:t>request_id e replay</a:t>
            </a:r>
            <a:endParaRPr lang="en-US" sz="3000" dirty="0">
              <a:solidFill>
                <a:srgbClr val="002060"/>
              </a:solidFill>
            </a:endParaRPr>
          </a:p>
        </p:txBody>
      </p:sp>
      <p:sp>
        <p:nvSpPr>
          <p:cNvPr id="4" name="Shape 2"/>
          <p:cNvSpPr/>
          <p:nvPr/>
        </p:nvSpPr>
        <p:spPr>
          <a:xfrm>
            <a:off x="548640" y="1417320"/>
            <a:ext cx="5394960" cy="960120"/>
          </a:xfrm>
          <a:prstGeom prst="roundRect">
            <a:avLst>
              <a:gd name="adj" fmla="val 7619"/>
            </a:avLst>
          </a:prstGeom>
          <a:solidFill>
            <a:srgbClr val="1E2430"/>
          </a:solidFill>
          <a:ln/>
          <a:effectLst>
            <a:outerShdw blurRad="101600" dist="38100" dir="5400000" algn="bl" rotWithShape="0">
              <a:srgbClr val="000000">
                <a:alpha val="18000"/>
              </a:srgbClr>
            </a:outerShdw>
          </a:effectLst>
        </p:spPr>
        <p:txBody>
          <a:bodyPr/>
          <a:lstStyle/>
          <a:p>
            <a:endParaRPr lang="it-IT"/>
          </a:p>
        </p:txBody>
      </p:sp>
      <p:sp>
        <p:nvSpPr>
          <p:cNvPr id="5" name="Text 3"/>
          <p:cNvSpPr/>
          <p:nvPr/>
        </p:nvSpPr>
        <p:spPr>
          <a:xfrm>
            <a:off x="804672" y="1618488"/>
            <a:ext cx="4882896" cy="594360"/>
          </a:xfrm>
          <a:prstGeom prst="rect">
            <a:avLst/>
          </a:prstGeom>
          <a:noFill/>
          <a:ln/>
        </p:spPr>
        <p:txBody>
          <a:bodyPr wrap="square" lIns="0" tIns="0" rIns="0" bIns="0" rtlCol="0" anchor="t"/>
          <a:lstStyle/>
          <a:p>
            <a:pPr marL="0" indent="0">
              <a:lnSpc>
                <a:spcPct val="118000"/>
              </a:lnSpc>
              <a:buNone/>
            </a:pPr>
            <a:r>
              <a:rPr lang="en-US" sz="1350" dirty="0">
                <a:solidFill>
                  <a:srgbClr val="7FD1C9"/>
                </a:solidFill>
                <a:latin typeface="Courier New" pitchFamily="34" charset="0"/>
                <a:ea typeface="Courier New" pitchFamily="34" charset="-122"/>
                <a:cs typeface="Courier New" pitchFamily="34" charset="-120"/>
              </a:rPr>
              <a:t>&lt;client_id&gt;:&lt;sequence_number&gt;</a:t>
            </a:r>
            <a:endParaRPr lang="en-US" sz="1350" dirty="0"/>
          </a:p>
          <a:p>
            <a:pPr marL="0" indent="0">
              <a:lnSpc>
                <a:spcPct val="118000"/>
              </a:lnSpc>
              <a:buNone/>
            </a:pPr>
            <a:r>
              <a:rPr lang="en-US" sz="1350" dirty="0">
                <a:solidFill>
                  <a:srgbClr val="8A97A6"/>
                </a:solidFill>
                <a:latin typeface="Courier New" pitchFamily="34" charset="0"/>
                <a:ea typeface="Courier New" pitchFamily="34" charset="-122"/>
                <a:cs typeface="Courier New" pitchFamily="34" charset="-120"/>
              </a:rPr>
              <a:t>es.  clientA:42   →  la richiesta n.42 del client clientA</a:t>
            </a:r>
            <a:endParaRPr lang="en-US" sz="1350" dirty="0"/>
          </a:p>
        </p:txBody>
      </p:sp>
      <p:sp>
        <p:nvSpPr>
          <p:cNvPr id="6" name="Text 4"/>
          <p:cNvSpPr/>
          <p:nvPr/>
        </p:nvSpPr>
        <p:spPr>
          <a:xfrm>
            <a:off x="548640" y="2606040"/>
            <a:ext cx="5394960" cy="1737360"/>
          </a:xfrm>
          <a:prstGeom prst="rect">
            <a:avLst/>
          </a:prstGeom>
          <a:noFill/>
          <a:ln/>
        </p:spPr>
        <p:txBody>
          <a:bodyPr wrap="square" lIns="0" tIns="0" rIns="0" bIns="0" rtlCol="0" anchor="ctr"/>
          <a:lstStyle/>
          <a:p>
            <a:pPr marL="342900" indent="-342900">
              <a:lnSpc>
                <a:spcPct val="120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Ogni operazione mutativa (SET_REQ, CAS_REQ, DELETE_REQ) porta un request_id univoco.</a:t>
            </a:r>
            <a:endParaRPr lang="en-US" sz="1300" dirty="0"/>
          </a:p>
          <a:p>
            <a:pPr marL="342900" indent="-342900">
              <a:lnSpc>
                <a:spcPct val="120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Il server memorizza la risposta prodotta alla prima esecuzione in una request_table.</a:t>
            </a:r>
            <a:endParaRPr lang="en-US" sz="1300" dirty="0"/>
          </a:p>
          <a:p>
            <a:pPr marL="342900" indent="-342900">
              <a:lnSpc>
                <a:spcPct val="120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Se lo stesso request_id arriva di nuovo, il server restituisce la risposta salvata senza rieseguire l'effetto.</a:t>
            </a:r>
            <a:endParaRPr lang="en-US" sz="1300" dirty="0"/>
          </a:p>
        </p:txBody>
      </p:sp>
      <p:sp>
        <p:nvSpPr>
          <p:cNvPr id="7" name="Shape 5"/>
          <p:cNvSpPr/>
          <p:nvPr/>
        </p:nvSpPr>
        <p:spPr>
          <a:xfrm>
            <a:off x="548640" y="4526280"/>
            <a:ext cx="5394960" cy="868680"/>
          </a:xfrm>
          <a:prstGeom prst="roundRect">
            <a:avLst>
              <a:gd name="adj" fmla="val 8421"/>
            </a:avLst>
          </a:prstGeom>
          <a:solidFill>
            <a:srgbClr val="21295C"/>
          </a:solidFill>
          <a:ln/>
        </p:spPr>
        <p:txBody>
          <a:bodyPr/>
          <a:lstStyle/>
          <a:p>
            <a:endParaRPr lang="it-IT"/>
          </a:p>
        </p:txBody>
      </p:sp>
      <p:sp>
        <p:nvSpPr>
          <p:cNvPr id="8" name="Text 6"/>
          <p:cNvSpPr/>
          <p:nvPr/>
        </p:nvSpPr>
        <p:spPr>
          <a:xfrm>
            <a:off x="804672" y="4690872"/>
            <a:ext cx="4882896" cy="274320"/>
          </a:xfrm>
          <a:prstGeom prst="rect">
            <a:avLst/>
          </a:prstGeom>
          <a:noFill/>
          <a:ln/>
        </p:spPr>
        <p:txBody>
          <a:bodyPr wrap="square" lIns="0" tIns="0" rIns="0" bIns="0" rtlCol="0" anchor="ctr"/>
          <a:lstStyle/>
          <a:p>
            <a:pPr marL="0" indent="0">
              <a:buNone/>
            </a:pPr>
            <a:r>
              <a:rPr lang="en-US" sz="1100" b="1" dirty="0">
                <a:solidFill>
                  <a:srgbClr val="9FD1E6"/>
                </a:solidFill>
                <a:latin typeface="Calibri" pitchFamily="34" charset="0"/>
                <a:ea typeface="Calibri" pitchFamily="34" charset="-122"/>
                <a:cs typeface="Calibri" pitchFamily="34" charset="-120"/>
              </a:rPr>
              <a:t>Promessa</a:t>
            </a:r>
            <a:endParaRPr lang="en-US" sz="1100" dirty="0"/>
          </a:p>
        </p:txBody>
      </p:sp>
      <p:sp>
        <p:nvSpPr>
          <p:cNvPr id="9" name="Text 7"/>
          <p:cNvSpPr/>
          <p:nvPr/>
        </p:nvSpPr>
        <p:spPr>
          <a:xfrm>
            <a:off x="804672" y="4877121"/>
            <a:ext cx="4882896" cy="201168"/>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at-most-once semantics: una richiesta viene eseguita al più una volta, indipendentemente dai retry.</a:t>
            </a:r>
            <a:endParaRPr lang="en-US" sz="1250" dirty="0"/>
          </a:p>
        </p:txBody>
      </p:sp>
      <p:sp>
        <p:nvSpPr>
          <p:cNvPr id="10" name="Text 8"/>
          <p:cNvSpPr/>
          <p:nvPr/>
        </p:nvSpPr>
        <p:spPr>
          <a:xfrm>
            <a:off x="6309360" y="1371600"/>
            <a:ext cx="5303520" cy="274320"/>
          </a:xfrm>
          <a:prstGeom prst="rect">
            <a:avLst/>
          </a:prstGeom>
          <a:noFill/>
          <a:ln/>
        </p:spPr>
        <p:txBody>
          <a:bodyPr wrap="square" lIns="0" tIns="0" rIns="0" bIns="0" rtlCol="0" anchor="ctr"/>
          <a:lstStyle/>
          <a:p>
            <a:pPr marL="0" indent="0" algn="ctr">
              <a:buNone/>
            </a:pPr>
            <a:r>
              <a:rPr lang="en-US" sz="1100" b="1" kern="0" spc="100" dirty="0">
                <a:solidFill>
                  <a:srgbClr val="5B6B79"/>
                </a:solidFill>
                <a:latin typeface="Calibri" pitchFamily="34" charset="0"/>
                <a:ea typeface="Calibri" pitchFamily="34" charset="-122"/>
                <a:cs typeface="Calibri" pitchFamily="34" charset="-120"/>
              </a:rPr>
              <a:t>CON IDEMPOTENZA (REQUEST_ID)</a:t>
            </a:r>
            <a:endParaRPr lang="en-US" sz="1100" dirty="0"/>
          </a:p>
        </p:txBody>
      </p:sp>
      <p:sp>
        <p:nvSpPr>
          <p:cNvPr id="11" name="Shape 9"/>
          <p:cNvSpPr/>
          <p:nvPr/>
        </p:nvSpPr>
        <p:spPr>
          <a:xfrm>
            <a:off x="6492240" y="1874520"/>
            <a:ext cx="1280160" cy="365760"/>
          </a:xfrm>
          <a:prstGeom prst="roundRect">
            <a:avLst>
              <a:gd name="adj" fmla="val 15000"/>
            </a:avLst>
          </a:prstGeom>
          <a:solidFill>
            <a:srgbClr val="21295C"/>
          </a:solidFill>
          <a:ln/>
        </p:spPr>
        <p:txBody>
          <a:bodyPr/>
          <a:lstStyle/>
          <a:p>
            <a:endParaRPr lang="it-IT"/>
          </a:p>
        </p:txBody>
      </p:sp>
      <p:sp>
        <p:nvSpPr>
          <p:cNvPr id="12" name="Text 10"/>
          <p:cNvSpPr/>
          <p:nvPr/>
        </p:nvSpPr>
        <p:spPr>
          <a:xfrm>
            <a:off x="6492240" y="1874520"/>
            <a:ext cx="12801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Client</a:t>
            </a:r>
            <a:endParaRPr lang="en-US" sz="1200" dirty="0"/>
          </a:p>
        </p:txBody>
      </p:sp>
      <p:sp>
        <p:nvSpPr>
          <p:cNvPr id="13" name="Shape 11"/>
          <p:cNvSpPr/>
          <p:nvPr/>
        </p:nvSpPr>
        <p:spPr>
          <a:xfrm>
            <a:off x="10149840" y="1874520"/>
            <a:ext cx="1280160" cy="365760"/>
          </a:xfrm>
          <a:prstGeom prst="roundRect">
            <a:avLst>
              <a:gd name="adj" fmla="val 15000"/>
            </a:avLst>
          </a:prstGeom>
          <a:solidFill>
            <a:srgbClr val="21295C"/>
          </a:solidFill>
          <a:ln/>
        </p:spPr>
        <p:txBody>
          <a:bodyPr/>
          <a:lstStyle/>
          <a:p>
            <a:endParaRPr lang="it-IT"/>
          </a:p>
        </p:txBody>
      </p:sp>
      <p:sp>
        <p:nvSpPr>
          <p:cNvPr id="14" name="Text 12"/>
          <p:cNvSpPr/>
          <p:nvPr/>
        </p:nvSpPr>
        <p:spPr>
          <a:xfrm>
            <a:off x="10149840" y="1874520"/>
            <a:ext cx="12801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Server</a:t>
            </a:r>
            <a:endParaRPr lang="en-US" sz="1200" dirty="0"/>
          </a:p>
        </p:txBody>
      </p:sp>
      <p:sp>
        <p:nvSpPr>
          <p:cNvPr id="15" name="Shape 13"/>
          <p:cNvSpPr/>
          <p:nvPr/>
        </p:nvSpPr>
        <p:spPr>
          <a:xfrm>
            <a:off x="7132320" y="2240280"/>
            <a:ext cx="0" cy="2468880"/>
          </a:xfrm>
          <a:prstGeom prst="line">
            <a:avLst/>
          </a:prstGeom>
          <a:noFill/>
          <a:ln w="12700">
            <a:solidFill>
              <a:srgbClr val="D7E3E8"/>
            </a:solidFill>
            <a:prstDash val="dash"/>
          </a:ln>
        </p:spPr>
        <p:txBody>
          <a:bodyPr/>
          <a:lstStyle/>
          <a:p>
            <a:endParaRPr lang="it-IT"/>
          </a:p>
        </p:txBody>
      </p:sp>
      <p:sp>
        <p:nvSpPr>
          <p:cNvPr id="16" name="Shape 14"/>
          <p:cNvSpPr/>
          <p:nvPr/>
        </p:nvSpPr>
        <p:spPr>
          <a:xfrm>
            <a:off x="10789920" y="2240280"/>
            <a:ext cx="0" cy="2468880"/>
          </a:xfrm>
          <a:prstGeom prst="line">
            <a:avLst/>
          </a:prstGeom>
          <a:noFill/>
          <a:ln w="12700">
            <a:solidFill>
              <a:srgbClr val="D7E3E8"/>
            </a:solidFill>
            <a:prstDash val="dash"/>
          </a:ln>
        </p:spPr>
        <p:txBody>
          <a:bodyPr/>
          <a:lstStyle/>
          <a:p>
            <a:endParaRPr lang="it-IT"/>
          </a:p>
        </p:txBody>
      </p:sp>
      <p:sp>
        <p:nvSpPr>
          <p:cNvPr id="17" name="Text 15"/>
          <p:cNvSpPr/>
          <p:nvPr/>
        </p:nvSpPr>
        <p:spPr>
          <a:xfrm>
            <a:off x="7132320" y="2121408"/>
            <a:ext cx="3657600" cy="228600"/>
          </a:xfrm>
          <a:prstGeom prst="rect">
            <a:avLst/>
          </a:prstGeom>
          <a:noFill/>
          <a:ln/>
        </p:spPr>
        <p:txBody>
          <a:bodyPr wrap="square" lIns="0" tIns="0" rIns="0" bIns="0" rtlCol="0" anchor="ctr"/>
          <a:lstStyle/>
          <a:p>
            <a:pPr marL="0" indent="0" algn="ctr">
              <a:buNone/>
            </a:pPr>
            <a:r>
              <a:rPr lang="en-US" sz="1050" dirty="0">
                <a:solidFill>
                  <a:srgbClr val="1E2430"/>
                </a:solidFill>
                <a:latin typeface="Courier New" pitchFamily="34" charset="0"/>
                <a:ea typeface="Courier New" pitchFamily="34" charset="-122"/>
                <a:cs typeface="Courier New" pitchFamily="34" charset="-120"/>
              </a:rPr>
              <a:t>SET_REQ clientA:42 key v</a:t>
            </a:r>
            <a:endParaRPr lang="en-US" sz="1050" dirty="0"/>
          </a:p>
        </p:txBody>
      </p:sp>
      <p:sp>
        <p:nvSpPr>
          <p:cNvPr id="18" name="Shape 16"/>
          <p:cNvSpPr/>
          <p:nvPr/>
        </p:nvSpPr>
        <p:spPr>
          <a:xfrm>
            <a:off x="7132320" y="2377440"/>
            <a:ext cx="3657600" cy="0"/>
          </a:xfrm>
          <a:prstGeom prst="line">
            <a:avLst/>
          </a:prstGeom>
          <a:noFill/>
          <a:ln w="22225">
            <a:solidFill>
              <a:srgbClr val="21295C"/>
            </a:solidFill>
            <a:prstDash val="solid"/>
            <a:headEnd type="none"/>
            <a:tailEnd type="triangle"/>
          </a:ln>
        </p:spPr>
        <p:txBody>
          <a:bodyPr/>
          <a:lstStyle/>
          <a:p>
            <a:endParaRPr lang="it-IT"/>
          </a:p>
        </p:txBody>
      </p:sp>
      <p:sp>
        <p:nvSpPr>
          <p:cNvPr id="19" name="Text 17"/>
          <p:cNvSpPr/>
          <p:nvPr/>
        </p:nvSpPr>
        <p:spPr>
          <a:xfrm>
            <a:off x="7132320" y="2692908"/>
            <a:ext cx="3657600" cy="228600"/>
          </a:xfrm>
          <a:prstGeom prst="rect">
            <a:avLst/>
          </a:prstGeom>
          <a:noFill/>
          <a:ln/>
        </p:spPr>
        <p:txBody>
          <a:bodyPr wrap="square" lIns="0" tIns="0" rIns="0" bIns="0" rtlCol="0" anchor="ctr"/>
          <a:lstStyle/>
          <a:p>
            <a:pPr marL="0" indent="0" algn="ctr">
              <a:buNone/>
            </a:pPr>
            <a:r>
              <a:rPr lang="en-US" sz="1050" dirty="0">
                <a:solidFill>
                  <a:srgbClr val="8C2E22"/>
                </a:solidFill>
                <a:latin typeface="Courier New" pitchFamily="34" charset="0"/>
                <a:ea typeface="Courier New" pitchFamily="34" charset="-122"/>
                <a:cs typeface="Courier New" pitchFamily="34" charset="-120"/>
              </a:rPr>
              <a:t>risposta persa</a:t>
            </a:r>
            <a:endParaRPr lang="en-US" sz="1050" dirty="0"/>
          </a:p>
        </p:txBody>
      </p:sp>
      <p:sp>
        <p:nvSpPr>
          <p:cNvPr id="20" name="Shape 18"/>
          <p:cNvSpPr/>
          <p:nvPr/>
        </p:nvSpPr>
        <p:spPr>
          <a:xfrm>
            <a:off x="10789920" y="2948940"/>
            <a:ext cx="0" cy="0"/>
          </a:xfrm>
          <a:prstGeom prst="line">
            <a:avLst/>
          </a:prstGeom>
          <a:noFill/>
          <a:ln w="22225">
            <a:solidFill>
              <a:srgbClr val="8C2E22"/>
            </a:solidFill>
            <a:prstDash val="dash"/>
            <a:headEnd type="triangle"/>
            <a:tailEnd type="none"/>
          </a:ln>
        </p:spPr>
        <p:txBody>
          <a:bodyPr/>
          <a:lstStyle/>
          <a:p>
            <a:endParaRPr lang="it-IT"/>
          </a:p>
        </p:txBody>
      </p:sp>
      <p:sp>
        <p:nvSpPr>
          <p:cNvPr id="21" name="Text 19"/>
          <p:cNvSpPr/>
          <p:nvPr/>
        </p:nvSpPr>
        <p:spPr>
          <a:xfrm>
            <a:off x="8823960" y="2820924"/>
            <a:ext cx="274320" cy="274320"/>
          </a:xfrm>
          <a:prstGeom prst="rect">
            <a:avLst/>
          </a:prstGeom>
          <a:noFill/>
          <a:ln/>
        </p:spPr>
        <p:txBody>
          <a:bodyPr wrap="square" lIns="0" tIns="0" rIns="0" bIns="0" rtlCol="0" anchor="ctr"/>
          <a:lstStyle/>
          <a:p>
            <a:pPr marL="0" indent="0" algn="ctr">
              <a:buNone/>
            </a:pPr>
            <a:r>
              <a:rPr lang="en-US" sz="1300" b="1" dirty="0">
                <a:solidFill>
                  <a:srgbClr val="8C2E22"/>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7132320" y="3264408"/>
            <a:ext cx="3657600" cy="228600"/>
          </a:xfrm>
          <a:prstGeom prst="rect">
            <a:avLst/>
          </a:prstGeom>
          <a:noFill/>
          <a:ln/>
        </p:spPr>
        <p:txBody>
          <a:bodyPr wrap="square" lIns="0" tIns="0" rIns="0" bIns="0" rtlCol="0" anchor="ctr"/>
          <a:lstStyle/>
          <a:p>
            <a:pPr marL="0" indent="0" algn="ctr">
              <a:buNone/>
            </a:pPr>
            <a:r>
              <a:rPr lang="en-US" sz="1050" dirty="0">
                <a:solidFill>
                  <a:srgbClr val="1E2430"/>
                </a:solidFill>
                <a:latin typeface="Courier New" pitchFamily="34" charset="0"/>
                <a:ea typeface="Courier New" pitchFamily="34" charset="-122"/>
                <a:cs typeface="Courier New" pitchFamily="34" charset="-120"/>
              </a:rPr>
              <a:t>SET_REQ clientA:42 key v (retry)</a:t>
            </a:r>
            <a:endParaRPr lang="en-US" sz="1050" dirty="0"/>
          </a:p>
        </p:txBody>
      </p:sp>
      <p:sp>
        <p:nvSpPr>
          <p:cNvPr id="23" name="Shape 21"/>
          <p:cNvSpPr/>
          <p:nvPr/>
        </p:nvSpPr>
        <p:spPr>
          <a:xfrm>
            <a:off x="7132320" y="3520440"/>
            <a:ext cx="3657600" cy="0"/>
          </a:xfrm>
          <a:prstGeom prst="line">
            <a:avLst/>
          </a:prstGeom>
          <a:noFill/>
          <a:ln w="22225">
            <a:solidFill>
              <a:srgbClr val="21295C"/>
            </a:solidFill>
            <a:prstDash val="solid"/>
            <a:headEnd type="none"/>
            <a:tailEnd type="triangle"/>
          </a:ln>
        </p:spPr>
        <p:txBody>
          <a:bodyPr/>
          <a:lstStyle/>
          <a:p>
            <a:endParaRPr lang="it-IT"/>
          </a:p>
        </p:txBody>
      </p:sp>
      <p:sp>
        <p:nvSpPr>
          <p:cNvPr id="24" name="Text 22"/>
          <p:cNvSpPr/>
          <p:nvPr/>
        </p:nvSpPr>
        <p:spPr>
          <a:xfrm>
            <a:off x="7132320" y="3835908"/>
            <a:ext cx="3657600" cy="228600"/>
          </a:xfrm>
          <a:prstGeom prst="rect">
            <a:avLst/>
          </a:prstGeom>
          <a:noFill/>
          <a:ln/>
        </p:spPr>
        <p:txBody>
          <a:bodyPr wrap="square" lIns="0" tIns="0" rIns="0" bIns="0" rtlCol="0" anchor="ctr"/>
          <a:lstStyle/>
          <a:p>
            <a:pPr marL="0" indent="0" algn="ctr">
              <a:buNone/>
            </a:pPr>
            <a:r>
              <a:rPr lang="en-US" sz="1050" dirty="0">
                <a:solidFill>
                  <a:srgbClr val="0E6B5C"/>
                </a:solidFill>
                <a:latin typeface="Courier New" pitchFamily="34" charset="0"/>
                <a:ea typeface="Courier New" pitchFamily="34" charset="-122"/>
                <a:cs typeface="Courier New" pitchFamily="34" charset="-120"/>
              </a:rPr>
              <a:t>OK version=0 (replay)</a:t>
            </a:r>
            <a:endParaRPr lang="en-US" sz="1050" dirty="0"/>
          </a:p>
        </p:txBody>
      </p:sp>
      <p:sp>
        <p:nvSpPr>
          <p:cNvPr id="25" name="Shape 23"/>
          <p:cNvSpPr/>
          <p:nvPr/>
        </p:nvSpPr>
        <p:spPr>
          <a:xfrm>
            <a:off x="10789920" y="4091940"/>
            <a:ext cx="0" cy="0"/>
          </a:xfrm>
          <a:prstGeom prst="line">
            <a:avLst/>
          </a:prstGeom>
          <a:noFill/>
          <a:ln w="22225">
            <a:solidFill>
              <a:srgbClr val="0E6B5C"/>
            </a:solidFill>
            <a:prstDash val="solid"/>
            <a:headEnd type="triangle"/>
            <a:tailEnd type="none"/>
          </a:ln>
        </p:spPr>
        <p:txBody>
          <a:bodyPr/>
          <a:lstStyle/>
          <a:p>
            <a:endParaRPr lang="it-IT"/>
          </a:p>
        </p:txBody>
      </p:sp>
      <p:sp>
        <p:nvSpPr>
          <p:cNvPr id="26" name="Shape 24"/>
          <p:cNvSpPr/>
          <p:nvPr/>
        </p:nvSpPr>
        <p:spPr>
          <a:xfrm>
            <a:off x="6309360" y="4846320"/>
            <a:ext cx="5303520" cy="457200"/>
          </a:xfrm>
          <a:prstGeom prst="roundRect">
            <a:avLst>
              <a:gd name="adj" fmla="val 12000"/>
            </a:avLst>
          </a:prstGeom>
          <a:solidFill>
            <a:srgbClr val="E8F3F1"/>
          </a:solidFill>
          <a:ln/>
        </p:spPr>
        <p:txBody>
          <a:bodyPr/>
          <a:lstStyle/>
          <a:p>
            <a:endParaRPr lang="it-IT"/>
          </a:p>
        </p:txBody>
      </p:sp>
      <p:sp>
        <p:nvSpPr>
          <p:cNvPr id="27" name="Text 25"/>
          <p:cNvSpPr/>
          <p:nvPr/>
        </p:nvSpPr>
        <p:spPr>
          <a:xfrm>
            <a:off x="6492240" y="4846320"/>
            <a:ext cx="4937760" cy="457200"/>
          </a:xfrm>
          <a:prstGeom prst="rect">
            <a:avLst/>
          </a:prstGeom>
          <a:noFill/>
          <a:ln/>
        </p:spPr>
        <p:txBody>
          <a:bodyPr wrap="square" lIns="0" tIns="0" rIns="0" bIns="0" rtlCol="0" anchor="ctr"/>
          <a:lstStyle/>
          <a:p>
            <a:pPr marL="0" indent="0" algn="ctr">
              <a:buNone/>
            </a:pPr>
            <a:r>
              <a:rPr lang="en-US" sz="1100" i="1" dirty="0">
                <a:solidFill>
                  <a:srgbClr val="0E6B5C"/>
                </a:solidFill>
                <a:latin typeface="Calibri" pitchFamily="34" charset="0"/>
                <a:ea typeface="Calibri" pitchFamily="34" charset="-122"/>
                <a:cs typeface="Calibri" pitchFamily="34" charset="-120"/>
              </a:rPr>
              <a:t>Stessa risposta, nessun doppio effetto: la versione resta a 0.</a:t>
            </a:r>
            <a:endParaRPr lang="en-US" sz="1100" dirty="0"/>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CONTRATTO PUBBLICO</a:t>
            </a:r>
            <a:endParaRPr lang="en-US" sz="1200" dirty="0"/>
          </a:p>
        </p:txBody>
      </p:sp>
      <p:sp>
        <p:nvSpPr>
          <p:cNvPr id="3" name="Text 1"/>
          <p:cNvSpPr/>
          <p:nvPr/>
        </p:nvSpPr>
        <p:spPr>
          <a:xfrm>
            <a:off x="548640" y="640080"/>
            <a:ext cx="10789920" cy="594360"/>
          </a:xfrm>
          <a:prstGeom prst="rect">
            <a:avLst/>
          </a:prstGeom>
          <a:noFill/>
          <a:ln/>
        </p:spPr>
        <p:txBody>
          <a:bodyPr wrap="square" rtlCol="0" anchor="ctr"/>
          <a:lstStyle/>
          <a:p>
            <a:pPr marL="0" indent="0">
              <a:buNone/>
            </a:pPr>
            <a:r>
              <a:rPr lang="en-US" sz="3000" b="1" dirty="0">
                <a:solidFill>
                  <a:srgbClr val="002060"/>
                </a:solidFill>
                <a:latin typeface="Cambria" pitchFamily="34" charset="0"/>
                <a:ea typeface="Cambria" pitchFamily="34" charset="-122"/>
                <a:cs typeface="Cambria" pitchFamily="34" charset="-120"/>
              </a:rPr>
              <a:t>Comandi mutanti idempotenti</a:t>
            </a:r>
            <a:endParaRPr lang="en-US" sz="3000" dirty="0">
              <a:solidFill>
                <a:srgbClr val="002060"/>
              </a:solidFill>
            </a:endParaRPr>
          </a:p>
        </p:txBody>
      </p:sp>
      <p:graphicFrame>
        <p:nvGraphicFramePr>
          <p:cNvPr id="5" name="Table 0"/>
          <p:cNvGraphicFramePr>
            <a:graphicFrameLocks noGrp="1"/>
          </p:cNvGraphicFramePr>
          <p:nvPr/>
        </p:nvGraphicFramePr>
        <p:xfrm>
          <a:off x="550164" y="2089404"/>
          <a:ext cx="11091672" cy="2011680"/>
        </p:xfrm>
        <a:graphic>
          <a:graphicData uri="http://schemas.openxmlformats.org/drawingml/2006/table">
            <a:tbl>
              <a:tblPr/>
              <a:tblGrid>
                <a:gridCol w="33832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50292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Comando</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21295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Successo</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21295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Retry</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21295C"/>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Errori principali</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502920">
                <a:tc>
                  <a:txBody>
                    <a:bodyPr/>
                    <a:lstStyle/>
                    <a:p>
                      <a:pPr marL="0" indent="0">
                        <a:buNone/>
                      </a:pPr>
                      <a:r>
                        <a:rPr lang="en-US" sz="1100" dirty="0">
                          <a:solidFill>
                            <a:srgbClr val="1E2430"/>
                          </a:solidFill>
                          <a:latin typeface="Courier New" pitchFamily="34" charset="0"/>
                          <a:ea typeface="Courier New" pitchFamily="34" charset="-122"/>
                          <a:cs typeface="Courier New" pitchFamily="34" charset="-120"/>
                        </a:rPr>
                        <a:t>SET_REQ &lt;req_id&gt; &lt;key&gt; &lt;val&gt;</a:t>
                      </a:r>
                      <a:endParaRPr lang="en-US" sz="1100" dirty="0">
                        <a:latin typeface="Courier New" charset="0"/>
                        <a:ea typeface="Courier New" charset="0"/>
                        <a:cs typeface="Courier New"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OK version=&lt;v&gt;</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Replay risposta originale</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invalid_request_id · request_id_expired</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00" dirty="0">
                          <a:solidFill>
                            <a:srgbClr val="1E2430"/>
                          </a:solidFill>
                          <a:latin typeface="Courier New" pitchFamily="34" charset="0"/>
                          <a:ea typeface="Courier New" pitchFamily="34" charset="-122"/>
                          <a:cs typeface="Courier New" pitchFamily="34" charset="-120"/>
                        </a:rPr>
                        <a:t>CAS_REQ &lt;req_id&gt; &lt;key&gt; &lt;exp_v&gt; &lt;val&gt;</a:t>
                      </a:r>
                      <a:endParaRPr lang="en-US" sz="1100" dirty="0">
                        <a:latin typeface="Courier New" charset="0"/>
                        <a:ea typeface="Courier New" charset="0"/>
                        <a:cs typeface="Courier New"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3F7F9"/>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OK version=&lt;v&gt;</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3F7F9"/>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Replay risposta originale</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3F7F9"/>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version_mismatch current=&lt;v&gt;</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3F7F9"/>
                    </a:solidFill>
                  </a:tcPr>
                </a:tc>
                <a:extLst>
                  <a:ext uri="{0D108BD9-81ED-4DB2-BD59-A6C34878D82A}">
                    <a16:rowId xmlns:a16="http://schemas.microsoft.com/office/drawing/2014/main" val="10002"/>
                  </a:ext>
                </a:extLst>
              </a:tr>
              <a:tr h="502920">
                <a:tc>
                  <a:txBody>
                    <a:bodyPr/>
                    <a:lstStyle/>
                    <a:p>
                      <a:pPr marL="0" indent="0">
                        <a:buNone/>
                      </a:pPr>
                      <a:r>
                        <a:rPr lang="en-US" sz="1100" dirty="0">
                          <a:solidFill>
                            <a:srgbClr val="1E2430"/>
                          </a:solidFill>
                          <a:latin typeface="Courier New" pitchFamily="34" charset="0"/>
                          <a:ea typeface="Courier New" pitchFamily="34" charset="-122"/>
                          <a:cs typeface="Courier New" pitchFamily="34" charset="-120"/>
                        </a:rPr>
                        <a:t>DELETE_REQ &lt;req_id&gt; &lt;key&gt;</a:t>
                      </a:r>
                      <a:endParaRPr lang="en-US" sz="1100" dirty="0">
                        <a:latin typeface="Courier New" charset="0"/>
                        <a:ea typeface="Courier New" charset="0"/>
                        <a:cs typeface="Courier New"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OK</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Replay risposta originale</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chiave inesistente → NOT_FOUND</a:t>
                      </a:r>
                      <a:endParaRPr lang="en-US" sz="1150" dirty="0">
                        <a:latin typeface="Calibri" charset="0"/>
                        <a:ea typeface="Calibri" charset="0"/>
                        <a:cs typeface="Calibri" charset="0"/>
                      </a:endParaRPr>
                    </a:p>
                  </a:txBody>
                  <a:tcP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Text 7"/>
          <p:cNvSpPr/>
          <p:nvPr/>
        </p:nvSpPr>
        <p:spPr>
          <a:xfrm>
            <a:off x="11302756" y="7405135"/>
            <a:ext cx="457200" cy="274320"/>
          </a:xfrm>
          <a:prstGeom prst="rect">
            <a:avLst/>
          </a:prstGeom>
          <a:noFill/>
          <a:ln/>
        </p:spPr>
        <p:txBody>
          <a:bodyPr wrap="square" rtlCol="0" anchor="ctr"/>
          <a:lstStyle/>
          <a:p>
            <a:pPr marL="0" indent="0" algn="r">
              <a:buNone/>
            </a:pPr>
            <a:endParaRPr lang="en-US" sz="900" dirty="0"/>
          </a:p>
        </p:txBody>
      </p:sp>
      <p:sp>
        <p:nvSpPr>
          <p:cNvPr id="13" name="Text 2">
            <a:extLst>
              <a:ext uri="{FF2B5EF4-FFF2-40B4-BE49-F238E27FC236}">
                <a16:creationId xmlns:a16="http://schemas.microsoft.com/office/drawing/2014/main" id="{ECEC1AD2-AA55-7AC1-1F12-0E4BFCFB68D3}"/>
              </a:ext>
            </a:extLst>
          </p:cNvPr>
          <p:cNvSpPr/>
          <p:nvPr/>
        </p:nvSpPr>
        <p:spPr>
          <a:xfrm>
            <a:off x="550164" y="1117466"/>
            <a:ext cx="11091672" cy="914400"/>
          </a:xfrm>
          <a:prstGeom prst="rect">
            <a:avLst/>
          </a:prstGeom>
          <a:noFill/>
          <a:ln/>
        </p:spPr>
        <p:txBody>
          <a:bodyPr wrap="square" rtlCol="0" anchor="ctr"/>
          <a:lstStyle/>
          <a:p>
            <a:pPr algn="just">
              <a:spcAft>
                <a:spcPts val="1200"/>
              </a:spcAft>
            </a:pPr>
            <a:r>
              <a:rPr lang="it-IT" sz="1400" dirty="0">
                <a:latin typeface="Inter"/>
              </a:rPr>
              <a:t>il Contratto Pubblico stabilisce chiaramente i doveri del server e le aspettative del client. Le operazioni si dividono rigidamente in due categorie: comandi mutanti e non mutanti.</a:t>
            </a:r>
          </a:p>
        </p:txBody>
      </p:sp>
      <p:sp>
        <p:nvSpPr>
          <p:cNvPr id="17" name="Text 2">
            <a:extLst>
              <a:ext uri="{FF2B5EF4-FFF2-40B4-BE49-F238E27FC236}">
                <a16:creationId xmlns:a16="http://schemas.microsoft.com/office/drawing/2014/main" id="{228B74C4-A104-9740-4E61-BC081FD65C76}"/>
              </a:ext>
            </a:extLst>
          </p:cNvPr>
          <p:cNvSpPr/>
          <p:nvPr/>
        </p:nvSpPr>
        <p:spPr>
          <a:xfrm>
            <a:off x="702564" y="4206240"/>
            <a:ext cx="11091672" cy="914400"/>
          </a:xfrm>
          <a:prstGeom prst="rect">
            <a:avLst/>
          </a:prstGeom>
          <a:noFill/>
          <a:ln/>
        </p:spPr>
        <p:txBody>
          <a:bodyPr wrap="square" rtlCol="0" anchor="ctr"/>
          <a:lstStyle/>
          <a:p>
            <a:pPr algn="just">
              <a:spcAft>
                <a:spcPts val="1200"/>
              </a:spcAft>
            </a:pPr>
            <a:endParaRPr lang="it-IT" sz="1600" dirty="0">
              <a:latin typeface="Inter"/>
            </a:endParaRPr>
          </a:p>
        </p:txBody>
      </p:sp>
      <p:sp>
        <p:nvSpPr>
          <p:cNvPr id="23" name="TextBox 8">
            <a:extLst>
              <a:ext uri="{FF2B5EF4-FFF2-40B4-BE49-F238E27FC236}">
                <a16:creationId xmlns:a16="http://schemas.microsoft.com/office/drawing/2014/main" id="{C96D87F9-6A95-EA8C-8F80-4BBE5DCA61F1}"/>
              </a:ext>
            </a:extLst>
          </p:cNvPr>
          <p:cNvSpPr txBox="1"/>
          <p:nvPr/>
        </p:nvSpPr>
        <p:spPr>
          <a:xfrm>
            <a:off x="548640" y="4504667"/>
            <a:ext cx="11091672" cy="1107996"/>
          </a:xfrm>
          <a:prstGeom prst="rect">
            <a:avLst/>
          </a:prstGeom>
          <a:noFill/>
        </p:spPr>
        <p:txBody>
          <a:bodyPr wrap="square">
            <a:spAutoFit/>
          </a:bodyPr>
          <a:lstStyle/>
          <a:p>
            <a:pPr marL="0" marR="0" indent="0" algn="just">
              <a:spcBef>
                <a:spcPts val="600"/>
              </a:spcBef>
              <a:buNone/>
            </a:pPr>
            <a:r>
              <a:rPr lang="it-IT" sz="1400" dirty="0">
                <a:latin typeface="Inter" panose="020B0502030000000004" pitchFamily="34" charset="0"/>
                <a:ea typeface="Inter" panose="020B0502030000000004" pitchFamily="34" charset="0"/>
                <a:cs typeface="Arabic Typesetting" panose="020F0502020204030204" pitchFamily="66" charset="-78"/>
              </a:rPr>
              <a:t>I c</a:t>
            </a:r>
            <a:r>
              <a:rPr lang="it-IT" sz="1400" b="0" i="0" dirty="0">
                <a:effectLst/>
                <a:latin typeface="Inter" panose="020B0502030000000004" pitchFamily="34" charset="0"/>
                <a:ea typeface="Inter" panose="020B0502030000000004" pitchFamily="34" charset="0"/>
                <a:cs typeface="Arabic Typesetting" panose="020F0502020204030204" pitchFamily="66" charset="-78"/>
              </a:rPr>
              <a:t>omandi come </a:t>
            </a:r>
            <a:r>
              <a:rPr lang="it-IT" sz="1400" b="1" i="0" dirty="0">
                <a:effectLst/>
                <a:latin typeface="Inter" panose="020B0502030000000004" pitchFamily="34" charset="0"/>
                <a:ea typeface="Inter" panose="020B0502030000000004" pitchFamily="34" charset="0"/>
                <a:cs typeface="Arabic Typesetting" panose="020F0502020204030204" pitchFamily="66" charset="-78"/>
              </a:rPr>
              <a:t>SET_REQ</a:t>
            </a:r>
            <a:r>
              <a:rPr lang="it-IT" sz="1400" b="0" i="0" dirty="0">
                <a:effectLst/>
                <a:latin typeface="Inter" panose="020B0502030000000004" pitchFamily="34" charset="0"/>
                <a:ea typeface="Inter" panose="020B0502030000000004" pitchFamily="34" charset="0"/>
                <a:cs typeface="Arabic Typesetting" panose="020F0502020204030204" pitchFamily="66" charset="-78"/>
              </a:rPr>
              <a:t>, </a:t>
            </a:r>
            <a:r>
              <a:rPr lang="it-IT" sz="1400" b="1" i="0" dirty="0">
                <a:effectLst/>
                <a:latin typeface="Inter" panose="020B0502030000000004" pitchFamily="34" charset="0"/>
                <a:ea typeface="Inter" panose="020B0502030000000004" pitchFamily="34" charset="0"/>
                <a:cs typeface="Arabic Typesetting" panose="020F0502020204030204" pitchFamily="66" charset="-78"/>
              </a:rPr>
              <a:t>CAS_REQ</a:t>
            </a:r>
            <a:r>
              <a:rPr lang="it-IT" sz="1400" b="0" i="0" dirty="0">
                <a:effectLst/>
                <a:latin typeface="Inter" panose="020B0502030000000004" pitchFamily="34" charset="0"/>
                <a:ea typeface="Inter" panose="020B0502030000000004" pitchFamily="34" charset="0"/>
                <a:cs typeface="Arabic Typesetting" panose="020F0502020204030204" pitchFamily="66" charset="-78"/>
              </a:rPr>
              <a:t> e  </a:t>
            </a:r>
            <a:r>
              <a:rPr lang="it-IT" sz="1400" b="1" i="0" dirty="0">
                <a:effectLst/>
                <a:latin typeface="Inter" panose="020B0502030000000004" pitchFamily="34" charset="0"/>
                <a:ea typeface="Inter" panose="020B0502030000000004" pitchFamily="34" charset="0"/>
                <a:cs typeface="Arabic Typesetting" panose="020F0502020204030204" pitchFamily="66" charset="-78"/>
              </a:rPr>
              <a:t>DELETE_REQ</a:t>
            </a:r>
            <a:r>
              <a:rPr lang="it-IT" sz="1400" b="0" i="0" dirty="0">
                <a:effectLst/>
                <a:latin typeface="Inter" panose="020B0502030000000004" pitchFamily="34" charset="0"/>
                <a:ea typeface="Inter" panose="020B0502030000000004" pitchFamily="34" charset="0"/>
                <a:cs typeface="Arabic Typesetting" panose="020F0502020204030204" pitchFamily="66" charset="-78"/>
              </a:rPr>
              <a:t> modificano lo stato del sistema. </a:t>
            </a:r>
          </a:p>
          <a:p>
            <a:pPr marL="0" marR="0" indent="0" algn="just">
              <a:spcBef>
                <a:spcPts val="600"/>
              </a:spcBef>
              <a:buNone/>
            </a:pPr>
            <a:r>
              <a:rPr lang="it-IT" sz="1400" b="0" i="0" dirty="0">
                <a:effectLst/>
                <a:latin typeface="Inter" panose="020B0502030000000004" pitchFamily="34" charset="0"/>
                <a:ea typeface="Inter" panose="020B0502030000000004" pitchFamily="34" charset="0"/>
                <a:cs typeface="Arabic Typesetting" panose="020F0502020204030204" pitchFamily="66" charset="-78"/>
              </a:rPr>
              <a:t>Richiedono obbligatoriamente un </a:t>
            </a:r>
            <a:r>
              <a:rPr lang="it-IT" sz="1400" b="0" i="0" dirty="0" err="1">
                <a:effectLst/>
                <a:latin typeface="Inter" panose="020B0502030000000004" pitchFamily="34" charset="0"/>
                <a:ea typeface="Inter" panose="020B0502030000000004" pitchFamily="34" charset="0"/>
                <a:cs typeface="Arabic Typesetting" panose="020F0502020204030204" pitchFamily="66" charset="-78"/>
              </a:rPr>
              <a:t>request_id</a:t>
            </a:r>
            <a:r>
              <a:rPr lang="it-IT" sz="1400" b="0" i="0" dirty="0">
                <a:effectLst/>
                <a:latin typeface="Inter" panose="020B0502030000000004" pitchFamily="34" charset="0"/>
                <a:ea typeface="Inter" panose="020B0502030000000004" pitchFamily="34" charset="0"/>
                <a:cs typeface="Arabic Typesetting" panose="020F0502020204030204" pitchFamily="66" charset="-78"/>
              </a:rPr>
              <a:t> composto dal client ID e da un </a:t>
            </a:r>
            <a:r>
              <a:rPr lang="it-IT" sz="1400" b="0" i="0" dirty="0" err="1">
                <a:effectLst/>
                <a:latin typeface="Inter" panose="020B0502030000000004" pitchFamily="34" charset="0"/>
                <a:ea typeface="Inter" panose="020B0502030000000004" pitchFamily="34" charset="0"/>
                <a:cs typeface="Arabic Typesetting" panose="020F0502020204030204" pitchFamily="66" charset="-78"/>
              </a:rPr>
              <a:t>sequence</a:t>
            </a:r>
            <a:r>
              <a:rPr lang="it-IT" sz="1400" b="0" i="0" dirty="0">
                <a:effectLst/>
                <a:latin typeface="Inter" panose="020B0502030000000004" pitchFamily="34" charset="0"/>
                <a:ea typeface="Inter" panose="020B0502030000000004" pitchFamily="34" charset="0"/>
                <a:cs typeface="Arabic Typesetting" panose="020F0502020204030204" pitchFamily="66" charset="-78"/>
              </a:rPr>
              <a:t> </a:t>
            </a:r>
            <a:r>
              <a:rPr lang="it-IT" sz="1400" b="0" i="0" dirty="0" err="1">
                <a:effectLst/>
                <a:latin typeface="Inter" panose="020B0502030000000004" pitchFamily="34" charset="0"/>
                <a:ea typeface="Inter" panose="020B0502030000000004" pitchFamily="34" charset="0"/>
                <a:cs typeface="Arabic Typesetting" panose="020F0502020204030204" pitchFamily="66" charset="-78"/>
              </a:rPr>
              <a:t>number</a:t>
            </a:r>
            <a:r>
              <a:rPr lang="it-IT" sz="1400" b="0" i="0" dirty="0">
                <a:effectLst/>
                <a:latin typeface="Inter" panose="020B0502030000000004" pitchFamily="34" charset="0"/>
                <a:ea typeface="Inter" panose="020B0502030000000004" pitchFamily="34" charset="0"/>
                <a:cs typeface="Arabic Typesetting" panose="020F0502020204030204" pitchFamily="66" charset="-78"/>
              </a:rPr>
              <a:t> strettamente monotono. </a:t>
            </a:r>
          </a:p>
          <a:p>
            <a:pPr marL="0" marR="0" indent="0" algn="just">
              <a:spcBef>
                <a:spcPts val="600"/>
              </a:spcBef>
              <a:buNone/>
            </a:pPr>
            <a:r>
              <a:rPr lang="it-IT" sz="1400" b="0" i="0" dirty="0">
                <a:effectLst/>
                <a:latin typeface="Inter" panose="020B0502030000000004" pitchFamily="34" charset="0"/>
                <a:ea typeface="Inter" panose="020B0502030000000004" pitchFamily="34" charset="0"/>
                <a:cs typeface="Arabic Typesetting" panose="020F0502020204030204" pitchFamily="66" charset="-78"/>
              </a:rPr>
              <a:t>Se il comando rispetta queste precondizioni, garantiamo la sua esecuzione </a:t>
            </a:r>
            <a:r>
              <a:rPr lang="it-IT" sz="1400" b="0" i="1" dirty="0">
                <a:effectLst/>
                <a:latin typeface="Inter" panose="020B0502030000000004" pitchFamily="34" charset="0"/>
                <a:ea typeface="Inter" panose="020B0502030000000004" pitchFamily="34" charset="0"/>
                <a:cs typeface="Arabic Typesetting" panose="020F0502020204030204" pitchFamily="66" charset="-78"/>
              </a:rPr>
              <a:t>idempotente</a:t>
            </a:r>
            <a:r>
              <a:rPr lang="it-IT" sz="1400" b="0" i="0" dirty="0">
                <a:effectLst/>
                <a:latin typeface="Inter" panose="020B0502030000000004" pitchFamily="34" charset="0"/>
                <a:ea typeface="Inter" panose="020B0502030000000004" pitchFamily="34" charset="0"/>
                <a:cs typeface="Arabic Typesetting" panose="020F0502020204030204" pitchFamily="66" charset="-78"/>
              </a:rPr>
              <a:t>.</a:t>
            </a:r>
          </a:p>
          <a:p>
            <a:pPr algn="just">
              <a:buNone/>
            </a:pPr>
            <a:endParaRPr sz="1400" b="0" i="0" dirty="0">
              <a:latin typeface="Aptos Slab SemiBold" panose="020F0502020204030204" pitchFamily="34" charset="0"/>
              <a:cs typeface="Arabic Typesetting" panose="020F0502020204030204" pitchFamily="66" charset="-78"/>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CONTRATTO PUBBLICO</a:t>
            </a:r>
            <a:endParaRPr lang="en-US" sz="1200" dirty="0"/>
          </a:p>
        </p:txBody>
      </p:sp>
      <p:sp>
        <p:nvSpPr>
          <p:cNvPr id="3" name="Text 1"/>
          <p:cNvSpPr/>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Letture, ACK e condizioni</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394960" cy="1152144"/>
        </p:xfrm>
        <a:graphic>
          <a:graphicData uri="http://schemas.openxmlformats.org/drawingml/2006/table">
            <a:tbl>
              <a:tblPr/>
              <a:tblGrid>
                <a:gridCol w="21945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Comando</a:t>
                      </a:r>
                      <a:endParaRPr lang="en-US" sz="115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Risposta</a:t>
                      </a:r>
                      <a:endParaRPr lang="en-US" sz="115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E2430"/>
                          </a:solidFill>
                          <a:latin typeface="Courier New" pitchFamily="34" charset="0"/>
                          <a:ea typeface="Courier New" pitchFamily="34" charset="-122"/>
                          <a:cs typeface="Courier New" pitchFamily="34" charset="-120"/>
                        </a:rPr>
                        <a:t>PING / GET / GETV</a:t>
                      </a:r>
                      <a:endParaRPr lang="en-US" sz="1100" dirty="0">
                        <a:latin typeface="Courier New" charset="0"/>
                        <a:ea typeface="Courier New" charset="0"/>
                        <a:cs typeface="Courier New"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ourier New" pitchFamily="34" charset="0"/>
                          <a:ea typeface="Courier New" pitchFamily="34" charset="-122"/>
                          <a:cs typeface="Courier New" pitchFamily="34" charset="-120"/>
                        </a:rPr>
                        <a:t>OK PONG · OK &lt;value&gt; · NOT_FOUND</a:t>
                      </a:r>
                      <a:endParaRPr lang="en-US" sz="1100" dirty="0">
                        <a:latin typeface="Courier New" charset="0"/>
                        <a:ea typeface="Courier New" charset="0"/>
                        <a:cs typeface="Courier New"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E2430"/>
                          </a:solidFill>
                          <a:latin typeface="Courier New" pitchFamily="34" charset="0"/>
                          <a:ea typeface="Courier New" pitchFamily="34" charset="-122"/>
                          <a:cs typeface="Courier New" pitchFamily="34" charset="-120"/>
                        </a:rPr>
                        <a:t>KEYS / QUIT</a:t>
                      </a:r>
                      <a:endParaRPr lang="en-US" sz="1100" dirty="0">
                        <a:latin typeface="Courier New" charset="0"/>
                        <a:ea typeface="Courier New" charset="0"/>
                        <a:cs typeface="Courier New"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3F7F9"/>
                    </a:solidFill>
                  </a:tcPr>
                </a:tc>
                <a:tc>
                  <a:txBody>
                    <a:bodyPr/>
                    <a:lstStyle/>
                    <a:p>
                      <a:pPr marL="0" indent="0">
                        <a:buNone/>
                      </a:pPr>
                      <a:r>
                        <a:rPr lang="en-US" sz="1100" dirty="0">
                          <a:solidFill>
                            <a:srgbClr val="1E2430"/>
                          </a:solidFill>
                          <a:latin typeface="Courier New" pitchFamily="34" charset="0"/>
                          <a:ea typeface="Courier New" pitchFamily="34" charset="-122"/>
                          <a:cs typeface="Courier New" pitchFamily="34" charset="-120"/>
                        </a:rPr>
                        <a:t>OK &lt;key1&gt; ... · OK BYE</a:t>
                      </a:r>
                      <a:endParaRPr lang="en-US" sz="1100" dirty="0">
                        <a:latin typeface="Courier New" charset="0"/>
                        <a:ea typeface="Courier New" charset="0"/>
                        <a:cs typeface="Courier New"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3F7F9"/>
                    </a:solidFill>
                  </a:tcPr>
                </a:tc>
                <a:extLst>
                  <a:ext uri="{0D108BD9-81ED-4DB2-BD59-A6C34878D82A}">
                    <a16:rowId xmlns:a16="http://schemas.microsoft.com/office/drawing/2014/main" val="10002"/>
                  </a:ext>
                </a:extLst>
              </a:tr>
            </a:tbl>
          </a:graphicData>
        </a:graphic>
      </p:graphicFrame>
      <p:sp>
        <p:nvSpPr>
          <p:cNvPr id="5" name="Shape 2"/>
          <p:cNvSpPr/>
          <p:nvPr/>
        </p:nvSpPr>
        <p:spPr>
          <a:xfrm>
            <a:off x="548640" y="2697480"/>
            <a:ext cx="5394960" cy="868680"/>
          </a:xfrm>
          <a:prstGeom prst="roundRect">
            <a:avLst>
              <a:gd name="adj" fmla="val 8421"/>
            </a:avLst>
          </a:prstGeom>
          <a:solidFill>
            <a:srgbClr val="F3F7F9"/>
          </a:solidFill>
          <a:ln/>
        </p:spPr>
        <p:txBody>
          <a:bodyPr/>
          <a:lstStyle/>
          <a:p>
            <a:endParaRPr lang="it-IT"/>
          </a:p>
        </p:txBody>
      </p:sp>
      <p:sp>
        <p:nvSpPr>
          <p:cNvPr id="4" name="Text 3"/>
          <p:cNvSpPr/>
          <p:nvPr/>
        </p:nvSpPr>
        <p:spPr>
          <a:xfrm>
            <a:off x="712074" y="2792045"/>
            <a:ext cx="4882896"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ACK &lt;client_id&gt; &lt;sequence_number&gt;</a:t>
            </a:r>
            <a:endParaRPr lang="en-US" sz="1100" dirty="0"/>
          </a:p>
        </p:txBody>
      </p:sp>
      <p:sp>
        <p:nvSpPr>
          <p:cNvPr id="7" name="Text 4"/>
          <p:cNvSpPr/>
          <p:nvPr/>
        </p:nvSpPr>
        <p:spPr>
          <a:xfrm>
            <a:off x="712074" y="3060346"/>
            <a:ext cx="4882896" cy="201168"/>
          </a:xfrm>
          <a:prstGeom prst="rect">
            <a:avLst/>
          </a:prstGeom>
          <a:noFill/>
          <a:ln/>
        </p:spPr>
        <p:txBody>
          <a:bodyPr wrap="square" lIns="0" tIns="0" rIns="0" bIns="0" rtlCol="0" anchor="t"/>
          <a:lstStyle/>
          <a:p>
            <a:pPr marL="0" indent="0">
              <a:lnSpc>
                <a:spcPct val="115000"/>
              </a:lnSpc>
              <a:buNone/>
            </a:pPr>
            <a:r>
              <a:rPr lang="en-US" sz="1250" dirty="0">
                <a:solidFill>
                  <a:srgbClr val="1E2430"/>
                </a:solidFill>
                <a:latin typeface="Calibri" pitchFamily="34" charset="0"/>
                <a:ea typeface="Calibri" pitchFamily="34" charset="-122"/>
                <a:cs typeface="Calibri" pitchFamily="34" charset="-120"/>
              </a:rPr>
              <a:t>Conferma la ricezione cumulativa; il server libera le entry corrispondenti dalla request_table.</a:t>
            </a:r>
            <a:endParaRPr lang="en-US" sz="1250" dirty="0"/>
          </a:p>
        </p:txBody>
      </p:sp>
      <p:sp>
        <p:nvSpPr>
          <p:cNvPr id="8" name="Text 5"/>
          <p:cNvSpPr/>
          <p:nvPr/>
        </p:nvSpPr>
        <p:spPr>
          <a:xfrm>
            <a:off x="579120" y="4940989"/>
            <a:ext cx="5394960" cy="27432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Fuori contratto</a:t>
            </a:r>
            <a:endParaRPr lang="en-US" sz="1300" dirty="0"/>
          </a:p>
        </p:txBody>
      </p:sp>
      <p:sp>
        <p:nvSpPr>
          <p:cNvPr id="9" name="Text 6"/>
          <p:cNvSpPr/>
          <p:nvPr/>
        </p:nvSpPr>
        <p:spPr>
          <a:xfrm>
            <a:off x="579120" y="5261029"/>
            <a:ext cx="5394960" cy="82296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E2430"/>
                </a:solidFill>
                <a:latin typeface="Calibri" pitchFamily="34" charset="0"/>
                <a:ea typeface="Calibri" pitchFamily="34" charset="-122"/>
                <a:cs typeface="Calibri" pitchFamily="34" charset="-120"/>
              </a:rPr>
              <a:t>client_id riusato da processi diversi → non garantito</a:t>
            </a:r>
            <a:endParaRPr lang="en-US" sz="1250" dirty="0"/>
          </a:p>
          <a:p>
            <a:pPr marL="342900" indent="-342900">
              <a:lnSpc>
                <a:spcPct val="120000"/>
              </a:lnSpc>
              <a:buSzPct val="100000"/>
              <a:buChar char="•"/>
            </a:pPr>
            <a:r>
              <a:rPr lang="en-US" sz="1250" dirty="0">
                <a:solidFill>
                  <a:srgbClr val="1E2430"/>
                </a:solidFill>
                <a:latin typeface="Calibri" pitchFamily="34" charset="0"/>
                <a:ea typeface="Calibri" pitchFamily="34" charset="-122"/>
                <a:cs typeface="Calibri" pitchFamily="34" charset="-120"/>
              </a:rPr>
              <a:t>seq non monotono → trattata normalmente se in finestra, altrimenti expired</a:t>
            </a:r>
            <a:endParaRPr lang="en-US" sz="1250" dirty="0"/>
          </a:p>
        </p:txBody>
      </p:sp>
      <p:sp>
        <p:nvSpPr>
          <p:cNvPr id="10" name="Text 7"/>
          <p:cNvSpPr/>
          <p:nvPr/>
        </p:nvSpPr>
        <p:spPr>
          <a:xfrm>
            <a:off x="6309360" y="1463040"/>
            <a:ext cx="5303520" cy="27432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Precondizioni</a:t>
            </a:r>
            <a:endParaRPr lang="en-US" sz="1300" dirty="0"/>
          </a:p>
        </p:txBody>
      </p:sp>
      <p:sp>
        <p:nvSpPr>
          <p:cNvPr id="11" name="Text 8"/>
          <p:cNvSpPr/>
          <p:nvPr/>
        </p:nvSpPr>
        <p:spPr>
          <a:xfrm>
            <a:off x="6309360" y="1783080"/>
            <a:ext cx="5303520" cy="1005840"/>
          </a:xfrm>
          <a:prstGeom prst="rect">
            <a:avLst/>
          </a:prstGeom>
          <a:noFill/>
          <a:ln/>
        </p:spPr>
        <p:txBody>
          <a:bodyPr wrap="square" lIns="0" tIns="0" rIns="0" bIns="0" rtlCol="0" anchor="ctr"/>
          <a:lstStyle/>
          <a:p>
            <a:pPr marL="342900" indent="-342900">
              <a:lnSpc>
                <a:spcPct val="120000"/>
              </a:lnSpc>
              <a:buSzPct val="100000"/>
              <a:buChar char="•"/>
            </a:pPr>
            <a:r>
              <a:rPr lang="en-US" sz="1260" dirty="0">
                <a:solidFill>
                  <a:srgbClr val="1E2430"/>
                </a:solidFill>
                <a:latin typeface="Calibri" pitchFamily="34" charset="0"/>
                <a:ea typeface="Calibri" pitchFamily="34" charset="-122"/>
                <a:cs typeface="Calibri" pitchFamily="34" charset="-120"/>
              </a:rPr>
              <a:t>Formato &lt;client_id&gt;:&lt;seq&gt; valido, seq intero ≥ 0</a:t>
            </a:r>
            <a:endParaRPr lang="en-US" sz="1260" dirty="0"/>
          </a:p>
          <a:p>
            <a:pPr marL="342900" indent="-342900">
              <a:lnSpc>
                <a:spcPct val="120000"/>
              </a:lnSpc>
              <a:buSzPct val="100000"/>
              <a:buChar char="•"/>
            </a:pPr>
            <a:r>
              <a:rPr lang="en-US" sz="1260" dirty="0">
                <a:solidFill>
                  <a:srgbClr val="1E2430"/>
                </a:solidFill>
                <a:latin typeface="Calibri" pitchFamily="34" charset="0"/>
                <a:ea typeface="Calibri" pitchFamily="34" charset="-122"/>
                <a:cs typeface="Calibri" pitchFamily="34" charset="-120"/>
              </a:rPr>
              <a:t>seq monotono crescente per client</a:t>
            </a:r>
            <a:endParaRPr lang="en-US" sz="1260" dirty="0"/>
          </a:p>
          <a:p>
            <a:pPr marL="342900" indent="-342900">
              <a:lnSpc>
                <a:spcPct val="120000"/>
              </a:lnSpc>
              <a:buSzPct val="100000"/>
              <a:buChar char="•"/>
            </a:pPr>
            <a:r>
              <a:rPr lang="en-US" sz="1260" dirty="0">
                <a:solidFill>
                  <a:srgbClr val="1E2430"/>
                </a:solidFill>
                <a:latin typeface="Calibri" pitchFamily="34" charset="0"/>
                <a:ea typeface="Calibri" pitchFamily="34" charset="-122"/>
                <a:cs typeface="Calibri" pitchFamily="34" charset="-120"/>
              </a:rPr>
              <a:t>seq entro la finestra di deduplicazione attiva</a:t>
            </a:r>
            <a:endParaRPr lang="en-US" sz="1260" dirty="0"/>
          </a:p>
        </p:txBody>
      </p:sp>
      <p:sp>
        <p:nvSpPr>
          <p:cNvPr id="12" name="Text 9"/>
          <p:cNvSpPr/>
          <p:nvPr/>
        </p:nvSpPr>
        <p:spPr>
          <a:xfrm>
            <a:off x="6309360" y="2880360"/>
            <a:ext cx="5303520" cy="27432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Postcondizioni</a:t>
            </a:r>
            <a:endParaRPr lang="en-US" sz="1300" dirty="0"/>
          </a:p>
        </p:txBody>
      </p:sp>
      <p:sp>
        <p:nvSpPr>
          <p:cNvPr id="13" name="Text 10"/>
          <p:cNvSpPr/>
          <p:nvPr/>
        </p:nvSpPr>
        <p:spPr>
          <a:xfrm>
            <a:off x="6309360" y="3200400"/>
            <a:ext cx="5303520" cy="100584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1E2430"/>
                </a:solidFill>
                <a:latin typeface="Calibri" pitchFamily="34" charset="0"/>
                <a:ea typeface="Calibri" pitchFamily="34" charset="-122"/>
                <a:cs typeface="Calibri" pitchFamily="34" charset="-120"/>
              </a:rPr>
              <a:t>Richiesta nuova → eseguita e salvata in request_table</a:t>
            </a:r>
            <a:endParaRPr lang="en-US" sz="1250" dirty="0"/>
          </a:p>
          <a:p>
            <a:pPr marL="342900" indent="-342900">
              <a:lnSpc>
                <a:spcPct val="120000"/>
              </a:lnSpc>
              <a:buSzPct val="100000"/>
              <a:buChar char="•"/>
            </a:pPr>
            <a:r>
              <a:rPr lang="en-US" sz="1250" dirty="0">
                <a:solidFill>
                  <a:srgbClr val="1E2430"/>
                </a:solidFill>
                <a:latin typeface="Calibri" pitchFamily="34" charset="0"/>
                <a:ea typeface="Calibri" pitchFamily="34" charset="-122"/>
                <a:cs typeface="Calibri" pitchFamily="34" charset="-120"/>
              </a:rPr>
              <a:t>Replay → stessa risposta, nessuna riesecuzione</a:t>
            </a:r>
            <a:endParaRPr lang="en-US" sz="1250" dirty="0"/>
          </a:p>
          <a:p>
            <a:pPr marL="342900" indent="-342900">
              <a:lnSpc>
                <a:spcPct val="120000"/>
              </a:lnSpc>
              <a:buSzPct val="100000"/>
              <a:buChar char="•"/>
            </a:pPr>
            <a:r>
              <a:rPr lang="en-US" sz="1250" dirty="0">
                <a:solidFill>
                  <a:srgbClr val="1E2430"/>
                </a:solidFill>
                <a:latin typeface="Calibri" pitchFamily="34" charset="0"/>
                <a:ea typeface="Calibri" pitchFamily="34" charset="-122"/>
                <a:cs typeface="Calibri" pitchFamily="34" charset="-120"/>
              </a:rPr>
              <a:t>Una sola esecuzione effettiva per ogni request_id</a:t>
            </a:r>
            <a:endParaRPr lang="en-US" sz="1250" dirty="0"/>
          </a:p>
        </p:txBody>
      </p:sp>
      <p:sp>
        <p:nvSpPr>
          <p:cNvPr id="14" name="Shape 11"/>
          <p:cNvSpPr/>
          <p:nvPr/>
        </p:nvSpPr>
        <p:spPr>
          <a:xfrm>
            <a:off x="6309360" y="4343400"/>
            <a:ext cx="5303520" cy="1417320"/>
          </a:xfrm>
          <a:prstGeom prst="roundRect">
            <a:avLst>
              <a:gd name="adj" fmla="val 5161"/>
            </a:avLst>
          </a:prstGeom>
          <a:solidFill>
            <a:srgbClr val="21295C"/>
          </a:solidFill>
          <a:ln/>
        </p:spPr>
        <p:txBody>
          <a:bodyPr/>
          <a:lstStyle/>
          <a:p>
            <a:endParaRPr lang="it-IT"/>
          </a:p>
        </p:txBody>
      </p:sp>
      <p:sp>
        <p:nvSpPr>
          <p:cNvPr id="15" name="Text 12"/>
          <p:cNvSpPr/>
          <p:nvPr/>
        </p:nvSpPr>
        <p:spPr>
          <a:xfrm>
            <a:off x="6565392" y="4507992"/>
            <a:ext cx="4791456" cy="274320"/>
          </a:xfrm>
          <a:prstGeom prst="rect">
            <a:avLst/>
          </a:prstGeom>
          <a:noFill/>
          <a:ln/>
        </p:spPr>
        <p:txBody>
          <a:bodyPr wrap="square" lIns="0" tIns="0" rIns="0" bIns="0" rtlCol="0" anchor="ctr"/>
          <a:lstStyle/>
          <a:p>
            <a:pPr marL="0" indent="0">
              <a:buNone/>
            </a:pPr>
            <a:r>
              <a:rPr lang="en-US" sz="1100" b="1" dirty="0">
                <a:solidFill>
                  <a:srgbClr val="9FD1E6"/>
                </a:solidFill>
                <a:latin typeface="Calibri" pitchFamily="34" charset="0"/>
                <a:ea typeface="Calibri" pitchFamily="34" charset="-122"/>
                <a:cs typeface="Calibri" pitchFamily="34" charset="-120"/>
              </a:rPr>
              <a:t>Safety &amp; Liveness dichiarate</a:t>
            </a:r>
            <a:endParaRPr lang="en-US" sz="1100" dirty="0"/>
          </a:p>
        </p:txBody>
      </p:sp>
      <p:sp>
        <p:nvSpPr>
          <p:cNvPr id="16" name="Text 13"/>
          <p:cNvSpPr/>
          <p:nvPr/>
        </p:nvSpPr>
        <p:spPr>
          <a:xfrm>
            <a:off x="6565392" y="4873752"/>
            <a:ext cx="4791456" cy="749808"/>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S1 no doppio effetto · S2 coerenza replay · S3 non confusione</a:t>
            </a:r>
            <a:endParaRPr lang="en-US" sz="1250" dirty="0"/>
          </a:p>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L1 GC non bloccante · L2 retry completabile · L3 memoria limitata</a:t>
            </a:r>
            <a:endParaRPr lang="en-US" sz="1250" dirty="0"/>
          </a:p>
        </p:txBody>
      </p:sp>
      <p:sp>
        <p:nvSpPr>
          <p:cNvPr id="20" name="CasellaDiTesto 19">
            <a:extLst>
              <a:ext uri="{FF2B5EF4-FFF2-40B4-BE49-F238E27FC236}">
                <a16:creationId xmlns:a16="http://schemas.microsoft.com/office/drawing/2014/main" id="{4173CDC6-19E4-3F33-3733-5F71778CB388}"/>
              </a:ext>
            </a:extLst>
          </p:cNvPr>
          <p:cNvSpPr txBox="1"/>
          <p:nvPr/>
        </p:nvSpPr>
        <p:spPr>
          <a:xfrm>
            <a:off x="548640" y="3703320"/>
            <a:ext cx="5504688" cy="938719"/>
          </a:xfrm>
          <a:prstGeom prst="rect">
            <a:avLst/>
          </a:prstGeom>
          <a:noFill/>
        </p:spPr>
        <p:txBody>
          <a:bodyPr wrap="square">
            <a:spAutoFit/>
          </a:bodyPr>
          <a:lstStyle/>
          <a:p>
            <a:pPr>
              <a:spcBef>
                <a:spcPts val="600"/>
              </a:spcBef>
            </a:pPr>
            <a:r>
              <a:rPr lang="it-IT" sz="1250" dirty="0">
                <a:ea typeface="Inter" panose="020B0502030000000004" pitchFamily="34" charset="0"/>
              </a:rPr>
              <a:t>Comandi come </a:t>
            </a:r>
            <a:r>
              <a:rPr lang="it-IT" sz="1250" b="1" dirty="0">
                <a:ea typeface="Inter" panose="020B0502030000000004" pitchFamily="34" charset="0"/>
              </a:rPr>
              <a:t>GET</a:t>
            </a:r>
            <a:r>
              <a:rPr lang="it-IT" sz="1250" dirty="0">
                <a:ea typeface="Inter" panose="020B0502030000000004" pitchFamily="34" charset="0"/>
              </a:rPr>
              <a:t>, </a:t>
            </a:r>
            <a:r>
              <a:rPr lang="it-IT" sz="1250" b="1" dirty="0">
                <a:ea typeface="Inter" panose="020B0502030000000004" pitchFamily="34" charset="0"/>
              </a:rPr>
              <a:t>GETV</a:t>
            </a:r>
            <a:r>
              <a:rPr lang="it-IT" sz="1250" dirty="0">
                <a:ea typeface="Inter" panose="020B0502030000000004" pitchFamily="34" charset="0"/>
              </a:rPr>
              <a:t>, </a:t>
            </a:r>
            <a:r>
              <a:rPr lang="it-IT" sz="1250" b="1" dirty="0">
                <a:ea typeface="Inter" panose="020B0502030000000004" pitchFamily="34" charset="0"/>
              </a:rPr>
              <a:t>KEYS o </a:t>
            </a:r>
            <a:r>
              <a:rPr lang="it-IT" sz="1250" dirty="0">
                <a:ea typeface="Inter" panose="020B0502030000000004" pitchFamily="34" charset="0"/>
              </a:rPr>
              <a:t> </a:t>
            </a:r>
            <a:r>
              <a:rPr lang="it-IT" sz="1250" b="1" dirty="0">
                <a:ea typeface="Inter" panose="020B0502030000000004" pitchFamily="34" charset="0"/>
              </a:rPr>
              <a:t>PING</a:t>
            </a:r>
            <a:r>
              <a:rPr lang="it-IT" sz="1250" dirty="0">
                <a:ea typeface="Inter" panose="020B0502030000000004" pitchFamily="34" charset="0"/>
              </a:rPr>
              <a:t> non alterano i dati. </a:t>
            </a:r>
          </a:p>
          <a:p>
            <a:pPr algn="just">
              <a:spcBef>
                <a:spcPts val="600"/>
              </a:spcBef>
            </a:pPr>
            <a:r>
              <a:rPr lang="it-IT" sz="1250" dirty="0">
                <a:ea typeface="Inter" panose="020B0502030000000004" pitchFamily="34" charset="0"/>
              </a:rPr>
              <a:t>Non richiedono deduplicazione: pertanto, vengono eseguiti e restituiti immediatamente dal server senza alcun overhead aggiuntivo o necessità di </a:t>
            </a:r>
            <a:r>
              <a:rPr lang="it-IT" sz="1250" dirty="0" err="1">
                <a:ea typeface="Inter" panose="020B0502030000000004" pitchFamily="34" charset="0"/>
              </a:rPr>
              <a:t>request_id</a:t>
            </a:r>
            <a:r>
              <a:rPr lang="it-IT" sz="1250" dirty="0">
                <a:ea typeface="Inter" panose="020B0502030000000004" pitchFamily="34" charset="0"/>
              </a:rPr>
              <a:t>.</a:t>
            </a:r>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IMPLEMENTAZIONE</a:t>
            </a:r>
            <a:endParaRPr lang="en-US" sz="1200" dirty="0"/>
          </a:p>
        </p:txBody>
      </p:sp>
      <p:sp>
        <p:nvSpPr>
          <p:cNvPr id="3" name="Text 1"/>
          <p:cNvSpPr/>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Architettura del server</a:t>
            </a:r>
            <a:endParaRPr lang="en-US" sz="3000" dirty="0"/>
          </a:p>
        </p:txBody>
      </p:sp>
      <p:sp>
        <p:nvSpPr>
          <p:cNvPr id="4" name="Shape 2"/>
          <p:cNvSpPr/>
          <p:nvPr/>
        </p:nvSpPr>
        <p:spPr>
          <a:xfrm>
            <a:off x="368976" y="1463040"/>
            <a:ext cx="7499063" cy="1074420"/>
          </a:xfrm>
          <a:prstGeom prst="roundRect">
            <a:avLst>
              <a:gd name="adj" fmla="val 5161"/>
            </a:avLst>
          </a:prstGeom>
          <a:solidFill>
            <a:srgbClr val="F3F7F9"/>
          </a:solidFill>
          <a:ln/>
        </p:spPr>
        <p:txBody>
          <a:bodyPr/>
          <a:lstStyle/>
          <a:p>
            <a:endParaRPr lang="it-IT"/>
          </a:p>
        </p:txBody>
      </p:sp>
      <p:sp>
        <p:nvSpPr>
          <p:cNvPr id="5" name="Text 3"/>
          <p:cNvSpPr/>
          <p:nvPr/>
        </p:nvSpPr>
        <p:spPr>
          <a:xfrm>
            <a:off x="804672" y="1627632"/>
            <a:ext cx="4882896"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IdempotentVersionedStore</a:t>
            </a:r>
            <a:endParaRPr lang="en-US" sz="1100" dirty="0"/>
          </a:p>
        </p:txBody>
      </p:sp>
      <p:sp>
        <p:nvSpPr>
          <p:cNvPr id="6" name="Text 4"/>
          <p:cNvSpPr/>
          <p:nvPr/>
        </p:nvSpPr>
        <p:spPr>
          <a:xfrm>
            <a:off x="804672" y="1993392"/>
            <a:ext cx="6841050" cy="749808"/>
          </a:xfrm>
          <a:prstGeom prst="rect">
            <a:avLst/>
          </a:prstGeom>
          <a:noFill/>
          <a:ln/>
        </p:spPr>
        <p:txBody>
          <a:bodyPr wrap="square" lIns="0" tIns="0" rIns="0" bIns="0" rtlCol="0" anchor="t"/>
          <a:lstStyle/>
          <a:p>
            <a:pPr marL="0" indent="0">
              <a:lnSpc>
                <a:spcPct val="115000"/>
              </a:lnSpc>
              <a:buNone/>
            </a:pPr>
            <a:r>
              <a:rPr lang="en-US" sz="1250" dirty="0">
                <a:solidFill>
                  <a:srgbClr val="1E2430"/>
                </a:solidFill>
                <a:latin typeface="Calibri" pitchFamily="34" charset="0"/>
                <a:ea typeface="Calibri" pitchFamily="34" charset="-122"/>
                <a:cs typeface="Calibri" pitchFamily="34" charset="-120"/>
              </a:rPr>
              <a:t>Store versionato (_data) + tabella di deduplicazione (_request_table) + ack cumulativo per client (_client_ack), protetti da un lock globale.</a:t>
            </a:r>
            <a:endParaRPr lang="en-US" sz="1250" dirty="0"/>
          </a:p>
        </p:txBody>
      </p:sp>
      <p:sp>
        <p:nvSpPr>
          <p:cNvPr id="7" name="Shape 5"/>
          <p:cNvSpPr/>
          <p:nvPr/>
        </p:nvSpPr>
        <p:spPr>
          <a:xfrm>
            <a:off x="368976" y="2628176"/>
            <a:ext cx="7499063" cy="3563556"/>
          </a:xfrm>
          <a:prstGeom prst="roundRect">
            <a:avLst>
              <a:gd name="adj" fmla="val 2388"/>
            </a:avLst>
          </a:prstGeom>
          <a:solidFill>
            <a:srgbClr val="1E2430"/>
          </a:solidFill>
          <a:ln/>
          <a:effectLst>
            <a:outerShdw blurRad="101600" dist="38100" dir="5400000" algn="bl" rotWithShape="0">
              <a:srgbClr val="000000">
                <a:alpha val="18000"/>
              </a:srgbClr>
            </a:outerShdw>
          </a:effectLst>
        </p:spPr>
        <p:txBody>
          <a:bodyPr/>
          <a:lstStyle/>
          <a:p>
            <a:endParaRPr lang="it-IT"/>
          </a:p>
        </p:txBody>
      </p:sp>
      <p:sp>
        <p:nvSpPr>
          <p:cNvPr id="8" name="Text 6"/>
          <p:cNvSpPr/>
          <p:nvPr/>
        </p:nvSpPr>
        <p:spPr>
          <a:xfrm>
            <a:off x="500025" y="2697479"/>
            <a:ext cx="7145697" cy="3379229"/>
          </a:xfrm>
          <a:prstGeom prst="rect">
            <a:avLst/>
          </a:prstGeom>
          <a:noFill/>
          <a:ln/>
        </p:spPr>
        <p:txBody>
          <a:bodyPr wrap="square" lIns="0" tIns="0" rIns="0" bIns="0" rtlCol="0" anchor="t"/>
          <a:lstStyle/>
          <a:p>
            <a:pPr>
              <a:lnSpc>
                <a:spcPct val="118000"/>
              </a:lnSpc>
            </a:pPr>
            <a:r>
              <a:rPr lang="en-US" sz="1100" dirty="0">
                <a:solidFill>
                  <a:srgbClr val="33CCCC"/>
                </a:solidFill>
                <a:latin typeface="Courier New" panose="02070309020205020404" pitchFamily="49" charset="0"/>
                <a:cs typeface="Courier New" panose="02070309020205020404" pitchFamily="49" charset="0"/>
              </a:rPr>
              <a:t>class </a:t>
            </a:r>
            <a:r>
              <a:rPr lang="en-US" sz="1100" dirty="0" err="1">
                <a:solidFill>
                  <a:srgbClr val="33CCCC"/>
                </a:solidFill>
                <a:latin typeface="Courier New" panose="02070309020205020404" pitchFamily="49" charset="0"/>
                <a:cs typeface="Courier New" panose="02070309020205020404" pitchFamily="49" charset="0"/>
              </a:rPr>
              <a:t>IdempotentVersionedStore</a:t>
            </a:r>
            <a:r>
              <a:rPr lang="en-US" sz="1100" dirty="0">
                <a:solidFill>
                  <a:srgbClr val="33CCCC"/>
                </a:solidFill>
                <a:latin typeface="Courier New" panose="02070309020205020404" pitchFamily="49" charset="0"/>
                <a:cs typeface="Courier New" panose="02070309020205020404" pitchFamily="49" charset="0"/>
              </a:rPr>
              <a:t>:</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def __</a:t>
            </a:r>
            <a:r>
              <a:rPr lang="en-US" sz="1100" dirty="0" err="1">
                <a:solidFill>
                  <a:schemeClr val="bg1"/>
                </a:solidFill>
                <a:latin typeface="Courier New" panose="02070309020205020404" pitchFamily="49" charset="0"/>
                <a:cs typeface="Courier New" panose="02070309020205020404" pitchFamily="49" charset="0"/>
              </a:rPr>
              <a:t>init</a:t>
            </a:r>
            <a:r>
              <a:rPr lang="en-US" sz="1100" dirty="0">
                <a:solidFill>
                  <a:schemeClr val="bg1"/>
                </a:solidFill>
                <a:latin typeface="Courier New" panose="02070309020205020404" pitchFamily="49" charset="0"/>
                <a:cs typeface="Courier New" panose="02070309020205020404" pitchFamily="49" charset="0"/>
              </a:rPr>
              <a:t>__(self, </a:t>
            </a:r>
            <a:r>
              <a:rPr lang="en-US" sz="1100" dirty="0" err="1">
                <a:solidFill>
                  <a:schemeClr val="bg1"/>
                </a:solidFill>
                <a:latin typeface="Courier New" panose="02070309020205020404" pitchFamily="49" charset="0"/>
                <a:cs typeface="Courier New" panose="02070309020205020404" pitchFamily="49" charset="0"/>
              </a:rPr>
              <a:t>max_window</a:t>
            </a:r>
            <a:r>
              <a:rPr lang="en-US" sz="1100" dirty="0">
                <a:solidFill>
                  <a:schemeClr val="bg1"/>
                </a:solidFill>
                <a:latin typeface="Courier New" panose="02070309020205020404" pitchFamily="49" charset="0"/>
                <a:cs typeface="Courier New" panose="02070309020205020404" pitchFamily="49" charset="0"/>
              </a:rPr>
              <a:t>: int = MAX_WINDOW) -&gt; None:</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self._lock</a:t>
            </a:r>
            <a:r>
              <a:rPr lang="en-US" sz="1100" dirty="0">
                <a:solidFill>
                  <a:schemeClr val="bg1"/>
                </a:solidFill>
                <a:latin typeface="Courier New" panose="02070309020205020404" pitchFamily="49" charset="0"/>
                <a:cs typeface="Courier New" panose="02070309020205020404" pitchFamily="49" charset="0"/>
              </a:rPr>
              <a:t> = </a:t>
            </a:r>
            <a:r>
              <a:rPr lang="en-US" sz="1100" dirty="0" err="1">
                <a:solidFill>
                  <a:schemeClr val="bg1"/>
                </a:solidFill>
                <a:latin typeface="Courier New" panose="02070309020205020404" pitchFamily="49" charset="0"/>
                <a:cs typeface="Courier New" panose="02070309020205020404" pitchFamily="49" charset="0"/>
              </a:rPr>
              <a:t>threading.Lock</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self._data</a:t>
            </a: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dict</a:t>
            </a:r>
            <a:r>
              <a:rPr lang="en-US" sz="1100" dirty="0">
                <a:solidFill>
                  <a:schemeClr val="bg1"/>
                </a:solidFill>
                <a:latin typeface="Courier New" panose="02070309020205020404" pitchFamily="49" charset="0"/>
                <a:cs typeface="Courier New" panose="02070309020205020404" pitchFamily="49" charset="0"/>
              </a:rPr>
              <a:t>[str, tuple[str, int]] = {}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#key -&gt; (</a:t>
            </a:r>
            <a:r>
              <a:rPr lang="en-US" sz="1100" dirty="0" err="1">
                <a:solidFill>
                  <a:schemeClr val="accent6">
                    <a:lumMod val="60000"/>
                    <a:lumOff val="40000"/>
                  </a:schemeClr>
                </a:solidFill>
                <a:latin typeface="Courier New" panose="02070309020205020404" pitchFamily="49" charset="0"/>
                <a:cs typeface="Courier New" panose="02070309020205020404" pitchFamily="49" charset="0"/>
              </a:rPr>
              <a:t>val</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t>
            </a:r>
            <a:r>
              <a:rPr lang="en-US" sz="1100" dirty="0" err="1">
                <a:solidFill>
                  <a:schemeClr val="accent6">
                    <a:lumMod val="60000"/>
                    <a:lumOff val="40000"/>
                  </a:schemeClr>
                </a:solidFill>
                <a:latin typeface="Courier New" panose="02070309020205020404" pitchFamily="49" charset="0"/>
                <a:cs typeface="Courier New" panose="02070309020205020404" pitchFamily="49" charset="0"/>
              </a:rPr>
              <a:t>versione</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self._</a:t>
            </a:r>
            <a:r>
              <a:rPr lang="en-US" sz="1100" dirty="0" err="1">
                <a:solidFill>
                  <a:schemeClr val="bg1"/>
                </a:solidFill>
                <a:latin typeface="Courier New" panose="02070309020205020404" pitchFamily="49" charset="0"/>
                <a:cs typeface="Courier New" panose="02070309020205020404" pitchFamily="49" charset="0"/>
              </a:rPr>
              <a:t>request_table</a:t>
            </a: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dict</a:t>
            </a:r>
            <a:r>
              <a:rPr lang="en-US" sz="1100" dirty="0">
                <a:solidFill>
                  <a:schemeClr val="bg1"/>
                </a:solidFill>
                <a:latin typeface="Courier New" panose="02070309020205020404" pitchFamily="49" charset="0"/>
                <a:cs typeface="Courier New" panose="02070309020205020404" pitchFamily="49" charset="0"/>
              </a:rPr>
              <a:t>[str, </a:t>
            </a:r>
            <a:r>
              <a:rPr lang="en-US" sz="1100" dirty="0" err="1">
                <a:solidFill>
                  <a:schemeClr val="bg1"/>
                </a:solidFill>
                <a:latin typeface="Courier New" panose="02070309020205020404" pitchFamily="49" charset="0"/>
                <a:cs typeface="Courier New" panose="02070309020205020404" pitchFamily="49" charset="0"/>
              </a:rPr>
              <a:t>dict</a:t>
            </a:r>
            <a:r>
              <a:rPr lang="en-US" sz="1100" dirty="0">
                <a:solidFill>
                  <a:schemeClr val="bg1"/>
                </a:solidFill>
                <a:latin typeface="Courier New" panose="02070309020205020404" pitchFamily="49" charset="0"/>
                <a:cs typeface="Courier New" panose="02070309020205020404" pitchFamily="49" charset="0"/>
              </a:rPr>
              <a:t>[int, str]] = {}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t>
            </a:r>
            <a:r>
              <a:rPr lang="en-US" sz="1100" dirty="0" err="1">
                <a:solidFill>
                  <a:schemeClr val="accent6">
                    <a:lumMod val="60000"/>
                    <a:lumOff val="40000"/>
                  </a:schemeClr>
                </a:solidFill>
                <a:latin typeface="Courier New" panose="02070309020205020404" pitchFamily="49" charset="0"/>
                <a:cs typeface="Courier New" panose="02070309020205020404" pitchFamily="49" charset="0"/>
              </a:rPr>
              <a:t>client_id</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-&gt; {</a:t>
            </a:r>
            <a:r>
              <a:rPr lang="en-US" sz="1100" dirty="0" err="1">
                <a:solidFill>
                  <a:schemeClr val="accent6">
                    <a:lumMod val="60000"/>
                    <a:lumOff val="40000"/>
                  </a:schemeClr>
                </a:solidFill>
                <a:latin typeface="Courier New" panose="02070309020205020404" pitchFamily="49" charset="0"/>
                <a:cs typeface="Courier New" panose="02070309020205020404" pitchFamily="49" charset="0"/>
              </a:rPr>
              <a:t>seq_number</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-&gt; response </a:t>
            </a:r>
            <a:r>
              <a:rPr lang="en-US" sz="1100" dirty="0" err="1">
                <a:solidFill>
                  <a:schemeClr val="accent6">
                    <a:lumMod val="60000"/>
                    <a:lumOff val="40000"/>
                  </a:schemeClr>
                </a:solidFill>
                <a:latin typeface="Courier New" panose="02070309020205020404" pitchFamily="49" charset="0"/>
                <a:cs typeface="Courier New" panose="02070309020205020404" pitchFamily="49" charset="0"/>
              </a:rPr>
              <a:t>già</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t>
            </a:r>
            <a:r>
              <a:rPr lang="en-US" sz="1100" dirty="0" err="1">
                <a:solidFill>
                  <a:schemeClr val="accent6">
                    <a:lumMod val="60000"/>
                    <a:lumOff val="40000"/>
                  </a:schemeClr>
                </a:solidFill>
                <a:latin typeface="Courier New" panose="02070309020205020404" pitchFamily="49" charset="0"/>
                <a:cs typeface="Courier New" panose="02070309020205020404" pitchFamily="49" charset="0"/>
              </a:rPr>
              <a:t>calcolata</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a:t>
            </a:r>
          </a:p>
          <a:p>
            <a:pPr>
              <a:lnSpc>
                <a:spcPct val="118000"/>
              </a:lnSpc>
            </a:pP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self._</a:t>
            </a:r>
            <a:r>
              <a:rPr lang="en-US" sz="1100" dirty="0" err="1">
                <a:solidFill>
                  <a:schemeClr val="bg1"/>
                </a:solidFill>
                <a:latin typeface="Courier New" panose="02070309020205020404" pitchFamily="49" charset="0"/>
                <a:cs typeface="Courier New" panose="02070309020205020404" pitchFamily="49" charset="0"/>
              </a:rPr>
              <a:t>client_ack</a:t>
            </a: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dict</a:t>
            </a:r>
            <a:r>
              <a:rPr lang="en-US" sz="1100" dirty="0">
                <a:solidFill>
                  <a:schemeClr val="bg1"/>
                </a:solidFill>
                <a:latin typeface="Courier New" panose="02070309020205020404" pitchFamily="49" charset="0"/>
                <a:cs typeface="Courier New" panose="02070309020205020404" pitchFamily="49" charset="0"/>
              </a:rPr>
              <a:t>[str, int] = {} </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#last </a:t>
            </a:r>
            <a:r>
              <a:rPr lang="en-US" sz="1100" dirty="0" err="1">
                <a:solidFill>
                  <a:schemeClr val="accent6">
                    <a:lumMod val="60000"/>
                    <a:lumOff val="40000"/>
                  </a:schemeClr>
                </a:solidFill>
                <a:latin typeface="Courier New" panose="02070309020205020404" pitchFamily="49" charset="0"/>
                <a:cs typeface="Courier New" panose="02070309020205020404" pitchFamily="49" charset="0"/>
              </a:rPr>
              <a:t>request_id</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t>
            </a:r>
            <a:r>
              <a:rPr lang="en-US" sz="1100" dirty="0" err="1">
                <a:solidFill>
                  <a:schemeClr val="accent6">
                    <a:lumMod val="60000"/>
                    <a:lumOff val="40000"/>
                  </a:schemeClr>
                </a:solidFill>
                <a:latin typeface="Courier New" panose="02070309020205020404" pitchFamily="49" charset="0"/>
                <a:cs typeface="Courier New" panose="02070309020205020404" pitchFamily="49" charset="0"/>
              </a:rPr>
              <a:t>confermato</a:t>
            </a: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per client</a:t>
            </a:r>
          </a:p>
          <a:p>
            <a:pPr>
              <a:lnSpc>
                <a:spcPct val="118000"/>
              </a:lnSpc>
            </a:pP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self._</a:t>
            </a:r>
            <a:r>
              <a:rPr lang="en-US" sz="1100" dirty="0" err="1">
                <a:solidFill>
                  <a:schemeClr val="bg1"/>
                </a:solidFill>
                <a:latin typeface="Courier New" panose="02070309020205020404" pitchFamily="49" charset="0"/>
                <a:cs typeface="Courier New" panose="02070309020205020404" pitchFamily="49" charset="0"/>
              </a:rPr>
              <a:t>max_window</a:t>
            </a:r>
            <a:r>
              <a:rPr lang="en-US" sz="1100" dirty="0">
                <a:solidFill>
                  <a:schemeClr val="bg1"/>
                </a:solidFill>
                <a:latin typeface="Courier New" panose="02070309020205020404" pitchFamily="49" charset="0"/>
                <a:cs typeface="Courier New" panose="02070309020205020404" pitchFamily="49" charset="0"/>
              </a:rPr>
              <a:t> = </a:t>
            </a:r>
            <a:r>
              <a:rPr lang="en-US" sz="1100" dirty="0" err="1">
                <a:solidFill>
                  <a:schemeClr val="bg1"/>
                </a:solidFill>
                <a:latin typeface="Courier New" panose="02070309020205020404" pitchFamily="49" charset="0"/>
                <a:cs typeface="Courier New" panose="02070309020205020404" pitchFamily="49" charset="0"/>
              </a:rPr>
              <a:t>max_window</a:t>
            </a: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self._handlers</a:t>
            </a: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dict</a:t>
            </a:r>
            <a:r>
              <a:rPr lang="en-US" sz="1100" dirty="0">
                <a:solidFill>
                  <a:schemeClr val="bg1"/>
                </a:solidFill>
                <a:latin typeface="Courier New" panose="02070309020205020404" pitchFamily="49" charset="0"/>
                <a:cs typeface="Courier New" panose="02070309020205020404" pitchFamily="49" charset="0"/>
              </a:rPr>
              <a:t>[str, </a:t>
            </a:r>
            <a:r>
              <a:rPr lang="en-US" sz="1100" dirty="0" err="1">
                <a:solidFill>
                  <a:schemeClr val="bg1"/>
                </a:solidFill>
                <a:latin typeface="Courier New" panose="02070309020205020404" pitchFamily="49" charset="0"/>
                <a:cs typeface="Courier New" panose="02070309020205020404" pitchFamily="49" charset="0"/>
              </a:rPr>
              <a:t>CommandHandler</a:t>
            </a:r>
            <a:r>
              <a:rPr lang="en-US" sz="1100" dirty="0">
                <a:solidFill>
                  <a:schemeClr val="bg1"/>
                </a:solidFill>
                <a:latin typeface="Courier New" panose="02070309020205020404" pitchFamily="49" charset="0"/>
                <a:cs typeface="Courier New" panose="02070309020205020404" pitchFamily="49" charset="0"/>
              </a:rPr>
              <a:t>] = {</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"PING":       self._</a:t>
            </a:r>
            <a:r>
              <a:rPr lang="en-US" sz="1100" dirty="0" err="1">
                <a:solidFill>
                  <a:schemeClr val="bg1"/>
                </a:solidFill>
                <a:latin typeface="Courier New" panose="02070309020205020404" pitchFamily="49" charset="0"/>
                <a:cs typeface="Courier New" panose="02070309020205020404" pitchFamily="49" charset="0"/>
              </a:rPr>
              <a:t>handle_ping</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"GET":        self._</a:t>
            </a:r>
            <a:r>
              <a:rPr lang="en-US" sz="1100" dirty="0" err="1">
                <a:solidFill>
                  <a:schemeClr val="bg1"/>
                </a:solidFill>
                <a:latin typeface="Courier New" panose="02070309020205020404" pitchFamily="49" charset="0"/>
                <a:cs typeface="Courier New" panose="02070309020205020404" pitchFamily="49" charset="0"/>
              </a:rPr>
              <a:t>handle_get</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"GETV":       self._</a:t>
            </a:r>
            <a:r>
              <a:rPr lang="en-US" sz="1100" dirty="0" err="1">
                <a:solidFill>
                  <a:schemeClr val="bg1"/>
                </a:solidFill>
                <a:latin typeface="Courier New" panose="02070309020205020404" pitchFamily="49" charset="0"/>
                <a:cs typeface="Courier New" panose="02070309020205020404" pitchFamily="49" charset="0"/>
              </a:rPr>
              <a:t>handle_getv</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r>
              <a:rPr lang="en-US" sz="1100" dirty="0">
                <a:solidFill>
                  <a:schemeClr val="accent6">
                    <a:lumMod val="60000"/>
                    <a:lumOff val="40000"/>
                  </a:schemeClr>
                </a:solidFill>
                <a:latin typeface="Courier New" panose="02070309020205020404" pitchFamily="49" charset="0"/>
                <a:cs typeface="Courier New" panose="02070309020205020404" pitchFamily="49" charset="0"/>
              </a:rPr>
              <a:t>	 #</a:t>
            </a:r>
            <a:r>
              <a:rPr lang="it-IT" sz="1100" dirty="0">
                <a:solidFill>
                  <a:schemeClr val="accent6">
                    <a:lumMod val="60000"/>
                    <a:lumOff val="40000"/>
                  </a:schemeClr>
                </a:solidFill>
                <a:latin typeface="Courier New" panose="02070309020205020404" pitchFamily="49" charset="0"/>
                <a:cs typeface="Courier New" panose="02070309020205020404" pitchFamily="49" charset="0"/>
              </a:rPr>
              <a:t>KEYS, QUIT, ACK, DELETE_REQ (</a:t>
            </a:r>
            <a:r>
              <a:rPr lang="it-IT" sz="1100" dirty="0" err="1">
                <a:solidFill>
                  <a:schemeClr val="accent6">
                    <a:lumMod val="60000"/>
                    <a:lumOff val="40000"/>
                  </a:schemeClr>
                </a:solidFill>
                <a:latin typeface="Courier New" panose="02070309020205020404" pitchFamily="49" charset="0"/>
                <a:cs typeface="Courier New" panose="02070309020205020404" pitchFamily="49" charset="0"/>
              </a:rPr>
              <a:t>handler</a:t>
            </a:r>
            <a:r>
              <a:rPr lang="it-IT" sz="1100" dirty="0">
                <a:solidFill>
                  <a:schemeClr val="accent6">
                    <a:lumMod val="60000"/>
                    <a:lumOff val="40000"/>
                  </a:schemeClr>
                </a:solidFill>
                <a:latin typeface="Courier New" panose="02070309020205020404" pitchFamily="49" charset="0"/>
                <a:cs typeface="Courier New" panose="02070309020205020404" pitchFamily="49" charset="0"/>
              </a:rPr>
              <a:t> di lettura/servizio </a:t>
            </a:r>
            <a:r>
              <a:rPr lang="it-IT" sz="1100" dirty="0" err="1">
                <a:solidFill>
                  <a:schemeClr val="accent6">
                    <a:lumMod val="60000"/>
                    <a:lumOff val="40000"/>
                  </a:schemeClr>
                </a:solidFill>
                <a:latin typeface="Courier New" panose="02070309020205020404" pitchFamily="49" charset="0"/>
                <a:cs typeface="Courier New" panose="02070309020205020404" pitchFamily="49" charset="0"/>
              </a:rPr>
              <a:t>ecc</a:t>
            </a:r>
            <a:r>
              <a:rPr lang="it-IT" sz="1100" dirty="0">
                <a:solidFill>
                  <a:schemeClr val="accent6">
                    <a:lumMod val="60000"/>
                    <a:lumOff val="40000"/>
                  </a:schemeClr>
                </a:solidFill>
                <a:latin typeface="Courier New" panose="02070309020205020404" pitchFamily="49" charset="0"/>
                <a:cs typeface="Courier New" panose="02070309020205020404" pitchFamily="49" charset="0"/>
              </a:rPr>
              <a:t> … </a:t>
            </a:r>
            <a:endParaRPr lang="en-US" sz="1100" dirty="0">
              <a:solidFill>
                <a:schemeClr val="accent6">
                  <a:lumMod val="60000"/>
                  <a:lumOff val="40000"/>
                </a:schemeClr>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a:t>
            </a:r>
          </a:p>
        </p:txBody>
      </p:sp>
      <p:grpSp>
        <p:nvGrpSpPr>
          <p:cNvPr id="21" name="Gruppo 20">
            <a:extLst>
              <a:ext uri="{FF2B5EF4-FFF2-40B4-BE49-F238E27FC236}">
                <a16:creationId xmlns:a16="http://schemas.microsoft.com/office/drawing/2014/main" id="{A08B3F3B-1DE5-1372-2F29-A175632A7D22}"/>
              </a:ext>
            </a:extLst>
          </p:cNvPr>
          <p:cNvGrpSpPr/>
          <p:nvPr/>
        </p:nvGrpSpPr>
        <p:grpSpPr>
          <a:xfrm>
            <a:off x="8390642" y="1394460"/>
            <a:ext cx="3586994" cy="2971800"/>
            <a:chOff x="6309360" y="1463040"/>
            <a:chExt cx="5303520" cy="2971800"/>
          </a:xfrm>
        </p:grpSpPr>
        <p:sp>
          <p:nvSpPr>
            <p:cNvPr id="9" name="Text 7"/>
            <p:cNvSpPr/>
            <p:nvPr/>
          </p:nvSpPr>
          <p:spPr>
            <a:xfrm>
              <a:off x="6309360" y="1463040"/>
              <a:ext cx="5303520" cy="27432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Stack a runtime</a:t>
              </a:r>
              <a:endParaRPr lang="en-US" sz="1300" dirty="0"/>
            </a:p>
          </p:txBody>
        </p:sp>
        <p:sp>
          <p:nvSpPr>
            <p:cNvPr id="10" name="Shape 8"/>
            <p:cNvSpPr/>
            <p:nvPr/>
          </p:nvSpPr>
          <p:spPr>
            <a:xfrm>
              <a:off x="6309360" y="1828800"/>
              <a:ext cx="5303520" cy="777240"/>
            </a:xfrm>
            <a:prstGeom prst="roundRect">
              <a:avLst>
                <a:gd name="adj" fmla="val 8235"/>
              </a:avLst>
            </a:prstGeom>
            <a:solidFill>
              <a:srgbClr val="F3F7F9"/>
            </a:solidFill>
            <a:ln w="12700">
              <a:solidFill>
                <a:srgbClr val="D7E3E8"/>
              </a:solidFill>
              <a:prstDash val="solid"/>
            </a:ln>
          </p:spPr>
          <p:txBody>
            <a:bodyPr/>
            <a:lstStyle/>
            <a:p>
              <a:endParaRPr lang="it-IT"/>
            </a:p>
          </p:txBody>
        </p:sp>
        <p:sp>
          <p:nvSpPr>
            <p:cNvPr id="11" name="Text 9"/>
            <p:cNvSpPr/>
            <p:nvPr/>
          </p:nvSpPr>
          <p:spPr>
            <a:xfrm>
              <a:off x="6537960" y="1920240"/>
              <a:ext cx="4846320" cy="29260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client.py</a:t>
              </a:r>
              <a:endParaRPr lang="en-US" sz="1300" dirty="0"/>
            </a:p>
          </p:txBody>
        </p:sp>
        <p:sp>
          <p:nvSpPr>
            <p:cNvPr id="12" name="Text 10"/>
            <p:cNvSpPr/>
            <p:nvPr/>
          </p:nvSpPr>
          <p:spPr>
            <a:xfrm>
              <a:off x="6537960" y="2212848"/>
              <a:ext cx="4846320" cy="32004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IdempotentClient: genera </a:t>
              </a:r>
              <a:r>
                <a:rPr lang="en-US" sz="1150" dirty="0" err="1">
                  <a:solidFill>
                    <a:srgbClr val="1E2430"/>
                  </a:solidFill>
                  <a:latin typeface="Calibri" pitchFamily="34" charset="0"/>
                  <a:ea typeface="Calibri" pitchFamily="34" charset="-122"/>
                  <a:cs typeface="Calibri" pitchFamily="34" charset="-120"/>
                </a:rPr>
                <a:t>request_id</a:t>
              </a:r>
              <a:r>
                <a:rPr lang="en-US" sz="1150" dirty="0">
                  <a:solidFill>
                    <a:srgbClr val="1E2430"/>
                  </a:solidFill>
                  <a:latin typeface="Calibri" pitchFamily="34" charset="0"/>
                  <a:ea typeface="Calibri" pitchFamily="34" charset="-122"/>
                  <a:cs typeface="Calibri" pitchFamily="34" charset="-120"/>
                </a:rPr>
                <a:t> e </a:t>
              </a:r>
              <a:r>
                <a:rPr lang="en-US" sz="1150" dirty="0" err="1">
                  <a:solidFill>
                    <a:srgbClr val="1E2430"/>
                  </a:solidFill>
                  <a:latin typeface="Calibri" pitchFamily="34" charset="0"/>
                  <a:ea typeface="Calibri" pitchFamily="34" charset="-122"/>
                  <a:cs typeface="Calibri" pitchFamily="34" charset="-120"/>
                </a:rPr>
                <a:t>gestisce</a:t>
              </a:r>
              <a:r>
                <a:rPr lang="en-US" sz="1150" dirty="0">
                  <a:solidFill>
                    <a:srgbClr val="1E2430"/>
                  </a:solidFill>
                  <a:latin typeface="Calibri" pitchFamily="34" charset="0"/>
                  <a:ea typeface="Calibri" pitchFamily="34" charset="-122"/>
                  <a:cs typeface="Calibri" pitchFamily="34" charset="-120"/>
                </a:rPr>
                <a:t> </a:t>
              </a:r>
              <a:r>
                <a:rPr lang="en-US" sz="1150" dirty="0" err="1">
                  <a:solidFill>
                    <a:srgbClr val="1E2430"/>
                  </a:solidFill>
                  <a:latin typeface="Calibri" pitchFamily="34" charset="0"/>
                  <a:ea typeface="Calibri" pitchFamily="34" charset="-122"/>
                  <a:cs typeface="Calibri" pitchFamily="34" charset="-120"/>
                </a:rPr>
                <a:t>i</a:t>
              </a:r>
              <a:r>
                <a:rPr lang="en-US" sz="1150" dirty="0">
                  <a:solidFill>
                    <a:srgbClr val="1E2430"/>
                  </a:solidFill>
                  <a:latin typeface="Calibri" pitchFamily="34" charset="0"/>
                  <a:ea typeface="Calibri" pitchFamily="34" charset="-122"/>
                  <a:cs typeface="Calibri" pitchFamily="34" charset="-120"/>
                </a:rPr>
                <a:t> retry lato client</a:t>
              </a:r>
              <a:endParaRPr lang="en-US" sz="1150" dirty="0"/>
            </a:p>
          </p:txBody>
        </p:sp>
        <p:sp>
          <p:nvSpPr>
            <p:cNvPr id="13" name="Shape 11"/>
            <p:cNvSpPr/>
            <p:nvPr/>
          </p:nvSpPr>
          <p:spPr>
            <a:xfrm>
              <a:off x="8961120" y="2606040"/>
              <a:ext cx="0" cy="137160"/>
            </a:xfrm>
            <a:prstGeom prst="line">
              <a:avLst/>
            </a:prstGeom>
            <a:noFill/>
            <a:ln w="19050">
              <a:solidFill>
                <a:srgbClr val="1C7293"/>
              </a:solidFill>
              <a:prstDash val="solid"/>
              <a:tailEnd type="triangle"/>
            </a:ln>
          </p:spPr>
          <p:txBody>
            <a:bodyPr/>
            <a:lstStyle/>
            <a:p>
              <a:endParaRPr lang="it-IT"/>
            </a:p>
          </p:txBody>
        </p:sp>
        <p:sp>
          <p:nvSpPr>
            <p:cNvPr id="14" name="Shape 12"/>
            <p:cNvSpPr/>
            <p:nvPr/>
          </p:nvSpPr>
          <p:spPr>
            <a:xfrm>
              <a:off x="6309360" y="2743200"/>
              <a:ext cx="5303520" cy="777240"/>
            </a:xfrm>
            <a:prstGeom prst="roundRect">
              <a:avLst>
                <a:gd name="adj" fmla="val 8235"/>
              </a:avLst>
            </a:prstGeom>
            <a:solidFill>
              <a:srgbClr val="F3F7F9"/>
            </a:solidFill>
            <a:ln w="12700">
              <a:solidFill>
                <a:srgbClr val="D7E3E8"/>
              </a:solidFill>
              <a:prstDash val="solid"/>
            </a:ln>
          </p:spPr>
          <p:txBody>
            <a:bodyPr/>
            <a:lstStyle/>
            <a:p>
              <a:endParaRPr lang="it-IT"/>
            </a:p>
          </p:txBody>
        </p:sp>
        <p:sp>
          <p:nvSpPr>
            <p:cNvPr id="15" name="Text 13"/>
            <p:cNvSpPr/>
            <p:nvPr/>
          </p:nvSpPr>
          <p:spPr>
            <a:xfrm>
              <a:off x="6537960" y="2834640"/>
              <a:ext cx="4846320" cy="29260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server.py</a:t>
              </a:r>
              <a:endParaRPr lang="en-US" sz="1300" dirty="0"/>
            </a:p>
          </p:txBody>
        </p:sp>
        <p:sp>
          <p:nvSpPr>
            <p:cNvPr id="16" name="Text 14"/>
            <p:cNvSpPr/>
            <p:nvPr/>
          </p:nvSpPr>
          <p:spPr>
            <a:xfrm>
              <a:off x="6537960" y="3127248"/>
              <a:ext cx="4846320" cy="32004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IdempotentVersionedStore: </a:t>
              </a:r>
              <a:r>
                <a:rPr lang="en-US" sz="1150" dirty="0" err="1">
                  <a:solidFill>
                    <a:srgbClr val="1E2430"/>
                  </a:solidFill>
                  <a:latin typeface="Calibri" pitchFamily="34" charset="0"/>
                  <a:ea typeface="Calibri" pitchFamily="34" charset="-122"/>
                  <a:cs typeface="Calibri" pitchFamily="34" charset="-120"/>
                </a:rPr>
                <a:t>si</a:t>
              </a:r>
              <a:r>
                <a:rPr lang="en-US" sz="1150" dirty="0">
                  <a:solidFill>
                    <a:srgbClr val="1E2430"/>
                  </a:solidFill>
                  <a:latin typeface="Calibri" pitchFamily="34" charset="0"/>
                  <a:ea typeface="Calibri" pitchFamily="34" charset="-122"/>
                  <a:cs typeface="Calibri" pitchFamily="34" charset="-120"/>
                </a:rPr>
                <a:t> </a:t>
              </a:r>
              <a:r>
                <a:rPr lang="en-US" sz="1150" dirty="0" err="1">
                  <a:solidFill>
                    <a:srgbClr val="1E2430"/>
                  </a:solidFill>
                  <a:latin typeface="Calibri" pitchFamily="34" charset="0"/>
                  <a:ea typeface="Calibri" pitchFamily="34" charset="-122"/>
                  <a:cs typeface="Calibri" pitchFamily="34" charset="-120"/>
                </a:rPr>
                <a:t>occupa</a:t>
              </a:r>
              <a:r>
                <a:rPr lang="en-US" sz="1150" dirty="0">
                  <a:solidFill>
                    <a:srgbClr val="1E2430"/>
                  </a:solidFill>
                  <a:latin typeface="Calibri" pitchFamily="34" charset="0"/>
                  <a:ea typeface="Calibri" pitchFamily="34" charset="-122"/>
                  <a:cs typeface="Calibri" pitchFamily="34" charset="-120"/>
                </a:rPr>
                <a:t> di dispatch, dedup, GC</a:t>
              </a:r>
              <a:endParaRPr lang="en-US" sz="1150" dirty="0"/>
            </a:p>
          </p:txBody>
        </p:sp>
        <p:sp>
          <p:nvSpPr>
            <p:cNvPr id="17" name="Shape 15"/>
            <p:cNvSpPr/>
            <p:nvPr/>
          </p:nvSpPr>
          <p:spPr>
            <a:xfrm>
              <a:off x="8961120" y="3520440"/>
              <a:ext cx="0" cy="137160"/>
            </a:xfrm>
            <a:prstGeom prst="line">
              <a:avLst/>
            </a:prstGeom>
            <a:noFill/>
            <a:ln w="19050">
              <a:solidFill>
                <a:srgbClr val="1C7293"/>
              </a:solidFill>
              <a:prstDash val="solid"/>
              <a:tailEnd type="triangle"/>
            </a:ln>
          </p:spPr>
          <p:txBody>
            <a:bodyPr/>
            <a:lstStyle/>
            <a:p>
              <a:endParaRPr lang="it-IT"/>
            </a:p>
          </p:txBody>
        </p:sp>
        <p:sp>
          <p:nvSpPr>
            <p:cNvPr id="18" name="Shape 16"/>
            <p:cNvSpPr/>
            <p:nvPr/>
          </p:nvSpPr>
          <p:spPr>
            <a:xfrm>
              <a:off x="6309360" y="3657600"/>
              <a:ext cx="5303520" cy="777240"/>
            </a:xfrm>
            <a:prstGeom prst="roundRect">
              <a:avLst>
                <a:gd name="adj" fmla="val 8235"/>
              </a:avLst>
            </a:prstGeom>
            <a:solidFill>
              <a:srgbClr val="F3F7F9"/>
            </a:solidFill>
            <a:ln w="12700">
              <a:solidFill>
                <a:srgbClr val="D7E3E8"/>
              </a:solidFill>
              <a:prstDash val="solid"/>
            </a:ln>
          </p:spPr>
          <p:txBody>
            <a:bodyPr/>
            <a:lstStyle/>
            <a:p>
              <a:endParaRPr lang="it-IT"/>
            </a:p>
          </p:txBody>
        </p:sp>
        <p:sp>
          <p:nvSpPr>
            <p:cNvPr id="19" name="Text 17"/>
            <p:cNvSpPr/>
            <p:nvPr/>
          </p:nvSpPr>
          <p:spPr>
            <a:xfrm>
              <a:off x="6537960" y="3749040"/>
              <a:ext cx="4846320" cy="292608"/>
            </a:xfrm>
            <a:prstGeom prst="rect">
              <a:avLst/>
            </a:prstGeom>
            <a:noFill/>
            <a:ln/>
          </p:spPr>
          <p:txBody>
            <a:bodyPr wrap="square" lIns="0" tIns="0" rIns="0" bIns="0" rtlCol="0" anchor="ctr"/>
            <a:lstStyle/>
            <a:p>
              <a:pPr marL="0" indent="0">
                <a:buNone/>
              </a:pPr>
              <a:r>
                <a:rPr lang="en-US" sz="1300" b="1" dirty="0">
                  <a:solidFill>
                    <a:srgbClr val="065A82"/>
                  </a:solidFill>
                  <a:latin typeface="Courier New" pitchFamily="34" charset="0"/>
                  <a:ea typeface="Courier New" pitchFamily="34" charset="-122"/>
                  <a:cs typeface="Courier New" pitchFamily="34" charset="-120"/>
                </a:rPr>
                <a:t>Store versionato</a:t>
              </a:r>
              <a:endParaRPr lang="en-US" sz="1300" dirty="0"/>
            </a:p>
          </p:txBody>
        </p:sp>
        <p:sp>
          <p:nvSpPr>
            <p:cNvPr id="20" name="Text 18"/>
            <p:cNvSpPr/>
            <p:nvPr/>
          </p:nvSpPr>
          <p:spPr>
            <a:xfrm>
              <a:off x="6537960" y="4041648"/>
              <a:ext cx="4846320" cy="32004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Dati + </a:t>
              </a:r>
              <a:r>
                <a:rPr lang="en-US" sz="1150" dirty="0" err="1">
                  <a:solidFill>
                    <a:srgbClr val="1E2430"/>
                  </a:solidFill>
                  <a:latin typeface="Calibri" pitchFamily="34" charset="0"/>
                  <a:ea typeface="Calibri" pitchFamily="34" charset="-122"/>
                  <a:cs typeface="Calibri" pitchFamily="34" charset="-120"/>
                </a:rPr>
                <a:t>request_table</a:t>
              </a:r>
              <a:r>
                <a:rPr lang="en-US" sz="1150" dirty="0">
                  <a:solidFill>
                    <a:srgbClr val="1E2430"/>
                  </a:solidFill>
                  <a:latin typeface="Calibri" pitchFamily="34" charset="0"/>
                  <a:ea typeface="Calibri" pitchFamily="34" charset="-122"/>
                  <a:cs typeface="Calibri" pitchFamily="34" charset="-120"/>
                </a:rPr>
                <a:t> </a:t>
              </a:r>
              <a:r>
                <a:rPr lang="en-US" sz="1150" dirty="0" err="1">
                  <a:solidFill>
                    <a:srgbClr val="1E2430"/>
                  </a:solidFill>
                  <a:latin typeface="Calibri" pitchFamily="34" charset="0"/>
                  <a:ea typeface="Calibri" pitchFamily="34" charset="-122"/>
                  <a:cs typeface="Calibri" pitchFamily="34" charset="-120"/>
                </a:rPr>
                <a:t>che</a:t>
              </a:r>
              <a:r>
                <a:rPr lang="en-US" sz="1150" dirty="0">
                  <a:solidFill>
                    <a:srgbClr val="1E2430"/>
                  </a:solidFill>
                  <a:latin typeface="Calibri" pitchFamily="34" charset="0"/>
                  <a:ea typeface="Calibri" pitchFamily="34" charset="-122"/>
                  <a:cs typeface="Calibri" pitchFamily="34" charset="-120"/>
                </a:rPr>
                <a:t> </a:t>
              </a:r>
              <a:r>
                <a:rPr lang="en-US" sz="1150" dirty="0" err="1">
                  <a:solidFill>
                    <a:srgbClr val="1E2430"/>
                  </a:solidFill>
                  <a:latin typeface="Calibri" pitchFamily="34" charset="0"/>
                  <a:ea typeface="Calibri" pitchFamily="34" charset="-122"/>
                  <a:cs typeface="Calibri" pitchFamily="34" charset="-120"/>
                </a:rPr>
                <a:t>vivono</a:t>
              </a:r>
              <a:r>
                <a:rPr lang="en-US" sz="1150" dirty="0">
                  <a:solidFill>
                    <a:srgbClr val="1E2430"/>
                  </a:solidFill>
                  <a:latin typeface="Calibri" pitchFamily="34" charset="0"/>
                  <a:ea typeface="Calibri" pitchFamily="34" charset="-122"/>
                  <a:cs typeface="Calibri" pitchFamily="34" charset="-120"/>
                </a:rPr>
                <a:t> sotto lock globale</a:t>
              </a:r>
              <a:endParaRPr lang="en-US" sz="1150" dirty="0"/>
            </a:p>
          </p:txBody>
        </p:sp>
      </p:grpSp>
      <p:sp>
        <p:nvSpPr>
          <p:cNvPr id="25" name="Shape 2">
            <a:extLst>
              <a:ext uri="{FF2B5EF4-FFF2-40B4-BE49-F238E27FC236}">
                <a16:creationId xmlns:a16="http://schemas.microsoft.com/office/drawing/2014/main" id="{701AFF76-0485-DC66-15D5-B8186C09E6C9}"/>
              </a:ext>
            </a:extLst>
          </p:cNvPr>
          <p:cNvSpPr/>
          <p:nvPr/>
        </p:nvSpPr>
        <p:spPr>
          <a:xfrm>
            <a:off x="8402666" y="4516990"/>
            <a:ext cx="3586993" cy="893210"/>
          </a:xfrm>
          <a:prstGeom prst="roundRect">
            <a:avLst>
              <a:gd name="adj" fmla="val 5161"/>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it-IT"/>
          </a:p>
        </p:txBody>
      </p:sp>
      <p:sp>
        <p:nvSpPr>
          <p:cNvPr id="23" name="CasellaDiTesto 22">
            <a:extLst>
              <a:ext uri="{FF2B5EF4-FFF2-40B4-BE49-F238E27FC236}">
                <a16:creationId xmlns:a16="http://schemas.microsoft.com/office/drawing/2014/main" id="{44463425-F823-978C-59FB-E9B3B8C26983}"/>
              </a:ext>
            </a:extLst>
          </p:cNvPr>
          <p:cNvSpPr txBox="1"/>
          <p:nvPr/>
        </p:nvSpPr>
        <p:spPr>
          <a:xfrm>
            <a:off x="8424430" y="4658868"/>
            <a:ext cx="3519418" cy="600164"/>
          </a:xfrm>
          <a:prstGeom prst="rect">
            <a:avLst/>
          </a:prstGeom>
          <a:noFill/>
        </p:spPr>
        <p:txBody>
          <a:bodyPr wrap="square">
            <a:spAutoFit/>
          </a:bodyPr>
          <a:lstStyle/>
          <a:p>
            <a:pPr marL="0" indent="0" algn="just">
              <a:buNone/>
            </a:pPr>
            <a:r>
              <a:rPr lang="en-US" sz="1100" dirty="0">
                <a:solidFill>
                  <a:srgbClr val="1E2430"/>
                </a:solidFill>
                <a:latin typeface="Calibri" pitchFamily="34" charset="0"/>
                <a:ea typeface="Calibri" pitchFamily="34" charset="-122"/>
                <a:cs typeface="Calibri" pitchFamily="34" charset="-120"/>
              </a:rPr>
              <a:t>È </a:t>
            </a:r>
            <a:r>
              <a:rPr lang="en-US" sz="1100" dirty="0" err="1">
                <a:solidFill>
                  <a:srgbClr val="1E2430"/>
                </a:solidFill>
                <a:latin typeface="Calibri" pitchFamily="34" charset="0"/>
                <a:ea typeface="Calibri" pitchFamily="34" charset="-122"/>
                <a:cs typeface="Calibri" pitchFamily="34" charset="-120"/>
              </a:rPr>
              <a:t>un’architettura</a:t>
            </a:r>
            <a:r>
              <a:rPr lang="en-US" sz="1100" dirty="0">
                <a:solidFill>
                  <a:srgbClr val="1E2430"/>
                </a:solidFill>
                <a:latin typeface="Calibri" pitchFamily="34" charset="0"/>
                <a:ea typeface="Calibri" pitchFamily="34" charset="-122"/>
                <a:cs typeface="Calibri" pitchFamily="34" charset="-120"/>
              </a:rPr>
              <a:t> </a:t>
            </a:r>
            <a:r>
              <a:rPr lang="en-US" sz="1100" dirty="0" err="1">
                <a:solidFill>
                  <a:srgbClr val="1E2430"/>
                </a:solidFill>
                <a:latin typeface="Calibri" pitchFamily="34" charset="0"/>
                <a:ea typeface="Calibri" pitchFamily="34" charset="-122"/>
                <a:cs typeface="Calibri" pitchFamily="34" charset="-120"/>
              </a:rPr>
              <a:t>volutamente</a:t>
            </a:r>
            <a:r>
              <a:rPr lang="en-US" sz="1100" dirty="0">
                <a:solidFill>
                  <a:srgbClr val="1E2430"/>
                </a:solidFill>
                <a:latin typeface="Calibri" pitchFamily="34" charset="0"/>
                <a:ea typeface="Calibri" pitchFamily="34" charset="-122"/>
                <a:cs typeface="Calibri" pitchFamily="34" charset="-120"/>
              </a:rPr>
              <a:t> semplice, </a:t>
            </a:r>
            <a:r>
              <a:rPr lang="en-US" sz="1100" dirty="0" err="1">
                <a:solidFill>
                  <a:srgbClr val="1E2430"/>
                </a:solidFill>
                <a:latin typeface="Calibri" pitchFamily="34" charset="0"/>
                <a:ea typeface="Calibri" pitchFamily="34" charset="-122"/>
                <a:cs typeface="Calibri" pitchFamily="34" charset="-120"/>
              </a:rPr>
              <a:t>protocollo</a:t>
            </a:r>
            <a:r>
              <a:rPr lang="en-US" sz="1100" dirty="0">
                <a:solidFill>
                  <a:srgbClr val="1E2430"/>
                </a:solidFill>
                <a:latin typeface="Calibri" pitchFamily="34" charset="0"/>
                <a:ea typeface="Calibri" pitchFamily="34" charset="-122"/>
                <a:cs typeface="Calibri" pitchFamily="34" charset="-120"/>
              </a:rPr>
              <a:t> </a:t>
            </a:r>
            <a:r>
              <a:rPr lang="en-US" sz="1100" dirty="0" err="1">
                <a:solidFill>
                  <a:srgbClr val="1E2430"/>
                </a:solidFill>
                <a:latin typeface="Calibri" pitchFamily="34" charset="0"/>
                <a:ea typeface="Calibri" pitchFamily="34" charset="-122"/>
                <a:cs typeface="Calibri" pitchFamily="34" charset="-120"/>
              </a:rPr>
              <a:t>testuale</a:t>
            </a:r>
            <a:r>
              <a:rPr lang="en-US" sz="1100" dirty="0">
                <a:solidFill>
                  <a:srgbClr val="1E2430"/>
                </a:solidFill>
                <a:latin typeface="Calibri" pitchFamily="34" charset="0"/>
                <a:ea typeface="Calibri" pitchFamily="34" charset="-122"/>
                <a:cs typeface="Calibri" pitchFamily="34" charset="-120"/>
              </a:rPr>
              <a:t> </a:t>
            </a:r>
            <a:r>
              <a:rPr lang="en-US" sz="1100" dirty="0" err="1">
                <a:solidFill>
                  <a:srgbClr val="1E2430"/>
                </a:solidFill>
                <a:latin typeface="Calibri" pitchFamily="34" charset="0"/>
                <a:ea typeface="Calibri" pitchFamily="34" charset="-122"/>
                <a:cs typeface="Calibri" pitchFamily="34" charset="-120"/>
              </a:rPr>
              <a:t>su</a:t>
            </a:r>
            <a:r>
              <a:rPr lang="en-US" sz="1100" dirty="0">
                <a:solidFill>
                  <a:srgbClr val="1E2430"/>
                </a:solidFill>
                <a:latin typeface="Calibri" pitchFamily="34" charset="0"/>
                <a:ea typeface="Calibri" pitchFamily="34" charset="-122"/>
                <a:cs typeface="Calibri" pitchFamily="34" charset="-120"/>
              </a:rPr>
              <a:t> TCP, un commando per </a:t>
            </a:r>
            <a:r>
              <a:rPr lang="en-US" sz="1100" dirty="0" err="1">
                <a:solidFill>
                  <a:srgbClr val="1E2430"/>
                </a:solidFill>
                <a:latin typeface="Calibri" pitchFamily="34" charset="0"/>
                <a:ea typeface="Calibri" pitchFamily="34" charset="-122"/>
                <a:cs typeface="Calibri" pitchFamily="34" charset="-120"/>
              </a:rPr>
              <a:t>riga</a:t>
            </a:r>
            <a:r>
              <a:rPr lang="en-US" sz="1100" dirty="0">
                <a:solidFill>
                  <a:srgbClr val="1E2430"/>
                </a:solidFill>
                <a:latin typeface="Calibri" pitchFamily="34" charset="0"/>
                <a:ea typeface="Calibri" pitchFamily="34" charset="-122"/>
                <a:cs typeface="Calibri" pitchFamily="34" charset="-120"/>
              </a:rPr>
              <a:t> e </a:t>
            </a:r>
            <a:r>
              <a:rPr lang="en-US" sz="1100" dirty="0" err="1">
                <a:solidFill>
                  <a:srgbClr val="1E2430"/>
                </a:solidFill>
                <a:latin typeface="Calibri" pitchFamily="34" charset="0"/>
                <a:ea typeface="Calibri" pitchFamily="34" charset="-122"/>
                <a:cs typeface="Calibri" pitchFamily="34" charset="-120"/>
              </a:rPr>
              <a:t>risposte</a:t>
            </a:r>
            <a:r>
              <a:rPr lang="en-US" sz="1100" dirty="0">
                <a:solidFill>
                  <a:srgbClr val="1E2430"/>
                </a:solidFill>
                <a:latin typeface="Calibri" pitchFamily="34" charset="0"/>
                <a:ea typeface="Calibri" pitchFamily="34" charset="-122"/>
                <a:cs typeface="Calibri" pitchFamily="34" charset="-120"/>
              </a:rPr>
              <a:t> come Ok, err o not found.</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IMPLEMENTAZIONE</a:t>
            </a:r>
            <a:endParaRPr lang="en-US" sz="1200" dirty="0"/>
          </a:p>
        </p:txBody>
      </p:sp>
      <p:sp>
        <p:nvSpPr>
          <p:cNvPr id="3" name="Text 1"/>
          <p:cNvSpPr/>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Dispatch idempotente: il cuore del server</a:t>
            </a:r>
            <a:endParaRPr lang="en-US" sz="3000" dirty="0"/>
          </a:p>
        </p:txBody>
      </p:sp>
      <p:grpSp>
        <p:nvGrpSpPr>
          <p:cNvPr id="25" name="Gruppo 24">
            <a:extLst>
              <a:ext uri="{FF2B5EF4-FFF2-40B4-BE49-F238E27FC236}">
                <a16:creationId xmlns:a16="http://schemas.microsoft.com/office/drawing/2014/main" id="{3A1A2A96-E1CD-1477-B696-B8DD4CF4E661}"/>
              </a:ext>
            </a:extLst>
          </p:cNvPr>
          <p:cNvGrpSpPr/>
          <p:nvPr/>
        </p:nvGrpSpPr>
        <p:grpSpPr>
          <a:xfrm>
            <a:off x="601343" y="2604821"/>
            <a:ext cx="5120640" cy="3538728"/>
            <a:chOff x="548640" y="2129333"/>
            <a:chExt cx="5120640" cy="3538728"/>
          </a:xfrm>
        </p:grpSpPr>
        <p:sp>
          <p:nvSpPr>
            <p:cNvPr id="4" name="Shape 2"/>
            <p:cNvSpPr/>
            <p:nvPr/>
          </p:nvSpPr>
          <p:spPr>
            <a:xfrm>
              <a:off x="548640" y="2147621"/>
              <a:ext cx="457200" cy="457200"/>
            </a:xfrm>
            <a:prstGeom prst="ellipse">
              <a:avLst/>
            </a:prstGeom>
            <a:solidFill>
              <a:srgbClr val="065A82"/>
            </a:solidFill>
            <a:ln/>
          </p:spPr>
          <p:txBody>
            <a:bodyPr/>
            <a:lstStyle/>
            <a:p>
              <a:endParaRPr lang="it-IT"/>
            </a:p>
          </p:txBody>
        </p:sp>
        <p:sp>
          <p:nvSpPr>
            <p:cNvPr id="5" name="Text 3"/>
            <p:cNvSpPr/>
            <p:nvPr/>
          </p:nvSpPr>
          <p:spPr>
            <a:xfrm>
              <a:off x="548640" y="2147621"/>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88720" y="2129333"/>
              <a:ext cx="4480560" cy="292608"/>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Parsing del request_id</a:t>
              </a:r>
              <a:endParaRPr lang="en-US" sz="1350" dirty="0"/>
            </a:p>
          </p:txBody>
        </p:sp>
        <p:sp>
          <p:nvSpPr>
            <p:cNvPr id="7" name="Text 5"/>
            <p:cNvSpPr/>
            <p:nvPr/>
          </p:nvSpPr>
          <p:spPr>
            <a:xfrm>
              <a:off x="1188720" y="2531669"/>
              <a:ext cx="4480560" cy="365760"/>
            </a:xfrm>
            <a:prstGeom prst="rect">
              <a:avLst/>
            </a:prstGeom>
            <a:noFill/>
            <a:ln/>
          </p:spPr>
          <p:txBody>
            <a:bodyPr wrap="square" lIns="0" tIns="0" rIns="0" bIns="0" rtlCol="0" anchor="ctr"/>
            <a:lstStyle/>
            <a:p>
              <a:pPr marL="0" indent="0" algn="just">
                <a:buNone/>
              </a:pPr>
              <a:r>
                <a:rPr lang="en-US" sz="1050" dirty="0">
                  <a:solidFill>
                    <a:srgbClr val="5B6B79"/>
                  </a:solidFill>
                  <a:latin typeface="Calibri" pitchFamily="34" charset="0"/>
                  <a:ea typeface="Calibri" pitchFamily="34" charset="-122"/>
                  <a:cs typeface="Calibri" pitchFamily="34" charset="-120"/>
                </a:rPr>
                <a:t>_</a:t>
              </a:r>
              <a:r>
                <a:rPr lang="en-US" sz="1050" dirty="0" err="1">
                  <a:solidFill>
                    <a:srgbClr val="5B6B79"/>
                  </a:solidFill>
                  <a:latin typeface="Calibri" pitchFamily="34" charset="0"/>
                  <a:ea typeface="Calibri" pitchFamily="34" charset="-122"/>
                  <a:cs typeface="Calibri" pitchFamily="34" charset="-120"/>
                </a:rPr>
                <a:t>parse_request_id</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prende</a:t>
              </a:r>
              <a:r>
                <a:rPr lang="en-US" sz="1050" dirty="0">
                  <a:solidFill>
                    <a:srgbClr val="5B6B79"/>
                  </a:solidFill>
                  <a:latin typeface="Calibri" pitchFamily="34" charset="0"/>
                  <a:ea typeface="Calibri" pitchFamily="34" charset="-122"/>
                  <a:cs typeface="Calibri" pitchFamily="34" charset="-120"/>
                </a:rPr>
                <a:t> la </a:t>
              </a:r>
              <a:r>
                <a:rPr lang="en-US" sz="1050" dirty="0" err="1">
                  <a:solidFill>
                    <a:srgbClr val="5B6B79"/>
                  </a:solidFill>
                  <a:latin typeface="Calibri" pitchFamily="34" charset="0"/>
                  <a:ea typeface="Calibri" pitchFamily="34" charset="-122"/>
                  <a:cs typeface="Calibri" pitchFamily="34" charset="-120"/>
                </a:rPr>
                <a:t>stringa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client_id:seq</a:t>
              </a:r>
              <a:r>
                <a:rPr lang="en-US" sz="1050" dirty="0">
                  <a:solidFill>
                    <a:srgbClr val="5B6B79"/>
                  </a:solidFill>
                  <a:latin typeface="Calibri" pitchFamily="34" charset="0"/>
                  <a:ea typeface="Calibri" pitchFamily="34" charset="-122"/>
                  <a:cs typeface="Calibri" pitchFamily="34" charset="-120"/>
                </a:rPr>
                <a:t> e </a:t>
              </a:r>
              <a:r>
                <a:rPr lang="en-US" sz="1050" dirty="0" err="1">
                  <a:solidFill>
                    <a:srgbClr val="5B6B79"/>
                  </a:solidFill>
                  <a:latin typeface="Calibri" pitchFamily="34" charset="0"/>
                  <a:ea typeface="Calibri" pitchFamily="34" charset="-122"/>
                  <a:cs typeface="Calibri" pitchFamily="34" charset="-120"/>
                </a:rPr>
                <a:t>verifica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che</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sia</a:t>
              </a:r>
              <a:r>
                <a:rPr lang="en-US" sz="1050" dirty="0">
                  <a:solidFill>
                    <a:srgbClr val="5B6B79"/>
                  </a:solidFill>
                  <a:latin typeface="Calibri" pitchFamily="34" charset="0"/>
                  <a:ea typeface="Calibri" pitchFamily="34" charset="-122"/>
                  <a:cs typeface="Calibri" pitchFamily="34" charset="-120"/>
                </a:rPr>
                <a:t> ben </a:t>
              </a:r>
              <a:r>
                <a:rPr lang="en-US" sz="1050" dirty="0" err="1">
                  <a:solidFill>
                    <a:srgbClr val="5B6B79"/>
                  </a:solidFill>
                  <a:latin typeface="Calibri" pitchFamily="34" charset="0"/>
                  <a:ea typeface="Calibri" pitchFamily="34" charset="-122"/>
                  <a:cs typeface="Calibri" pitchFamily="34" charset="-120"/>
                </a:rPr>
                <a:t>formata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quidi</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che</a:t>
              </a:r>
              <a:r>
                <a:rPr lang="en-US" sz="1050" dirty="0">
                  <a:solidFill>
                    <a:srgbClr val="5B6B79"/>
                  </a:solidFill>
                  <a:latin typeface="Calibri" pitchFamily="34" charset="0"/>
                  <a:ea typeface="Calibri" pitchFamily="34" charset="-122"/>
                  <a:cs typeface="Calibri" pitchFamily="34" charset="-120"/>
                </a:rPr>
                <a:t> ci </a:t>
              </a:r>
              <a:r>
                <a:rPr lang="en-US" sz="1050" dirty="0" err="1">
                  <a:solidFill>
                    <a:srgbClr val="5B6B79"/>
                  </a:solidFill>
                  <a:latin typeface="Calibri" pitchFamily="34" charset="0"/>
                  <a:ea typeface="Calibri" pitchFamily="34" charset="-122"/>
                  <a:cs typeface="Calibri" pitchFamily="34" charset="-120"/>
                </a:rPr>
                <a:t>sia</a:t>
              </a:r>
              <a:r>
                <a:rPr lang="en-US" sz="1050" dirty="0">
                  <a:solidFill>
                    <a:srgbClr val="5B6B79"/>
                  </a:solidFill>
                  <a:latin typeface="Calibri" pitchFamily="34" charset="0"/>
                  <a:ea typeface="Calibri" pitchFamily="34" charset="-122"/>
                  <a:cs typeface="Calibri" pitchFamily="34" charset="-120"/>
                </a:rPr>
                <a:t> il </a:t>
              </a:r>
              <a:r>
                <a:rPr lang="en-US" sz="1050" dirty="0" err="1">
                  <a:solidFill>
                    <a:srgbClr val="5B6B79"/>
                  </a:solidFill>
                  <a:latin typeface="Calibri" pitchFamily="34" charset="0"/>
                  <a:ea typeface="Calibri" pitchFamily="34" charset="-122"/>
                  <a:cs typeface="Calibri" pitchFamily="34" charset="-120"/>
                </a:rPr>
                <a:t>separatore</a:t>
              </a:r>
              <a:r>
                <a:rPr lang="en-US" sz="1050" dirty="0">
                  <a:solidFill>
                    <a:srgbClr val="5B6B79"/>
                  </a:solidFill>
                  <a:latin typeface="Calibri" pitchFamily="34" charset="0"/>
                  <a:ea typeface="Calibri" pitchFamily="34" charset="-122"/>
                  <a:cs typeface="Calibri" pitchFamily="34" charset="-120"/>
                </a:rPr>
                <a:t> e </a:t>
              </a:r>
              <a:r>
                <a:rPr lang="en-US" sz="1050" dirty="0" err="1">
                  <a:solidFill>
                    <a:srgbClr val="5B6B79"/>
                  </a:solidFill>
                  <a:latin typeface="Calibri" pitchFamily="34" charset="0"/>
                  <a:ea typeface="Calibri" pitchFamily="34" charset="-122"/>
                  <a:cs typeface="Calibri" pitchFamily="34" charset="-120"/>
                </a:rPr>
                <a:t>che</a:t>
              </a:r>
              <a:r>
                <a:rPr lang="en-US" sz="1050" dirty="0">
                  <a:solidFill>
                    <a:srgbClr val="5B6B79"/>
                  </a:solidFill>
                  <a:latin typeface="Calibri" pitchFamily="34" charset="0"/>
                  <a:ea typeface="Calibri" pitchFamily="34" charset="-122"/>
                  <a:cs typeface="Calibri" pitchFamily="34" charset="-120"/>
                </a:rPr>
                <a:t> il </a:t>
              </a:r>
              <a:r>
                <a:rPr lang="en-US" sz="1050" dirty="0" err="1">
                  <a:solidFill>
                    <a:srgbClr val="5B6B79"/>
                  </a:solidFill>
                  <a:latin typeface="Calibri" pitchFamily="34" charset="0"/>
                  <a:ea typeface="Calibri" pitchFamily="34" charset="-122"/>
                  <a:cs typeface="Calibri" pitchFamily="34" charset="-120"/>
                </a:rPr>
                <a:t>client_id</a:t>
              </a:r>
              <a:r>
                <a:rPr lang="en-US" sz="1050" dirty="0">
                  <a:solidFill>
                    <a:srgbClr val="5B6B79"/>
                  </a:solidFill>
                  <a:latin typeface="Calibri" pitchFamily="34" charset="0"/>
                  <a:ea typeface="Calibri" pitchFamily="34" charset="-122"/>
                  <a:cs typeface="Calibri" pitchFamily="34" charset="-120"/>
                </a:rPr>
                <a:t> non </a:t>
              </a:r>
              <a:r>
                <a:rPr lang="en-US" sz="1050" dirty="0" err="1">
                  <a:solidFill>
                    <a:srgbClr val="5B6B79"/>
                  </a:solidFill>
                  <a:latin typeface="Calibri" pitchFamily="34" charset="0"/>
                  <a:ea typeface="Calibri" pitchFamily="34" charset="-122"/>
                  <a:cs typeface="Calibri" pitchFamily="34" charset="-120"/>
                </a:rPr>
                <a:t>sia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vuoto</a:t>
              </a:r>
              <a:r>
                <a:rPr lang="en-US" sz="1050" dirty="0">
                  <a:solidFill>
                    <a:srgbClr val="5B6B79"/>
                  </a:solidFill>
                  <a:latin typeface="Calibri" pitchFamily="34" charset="0"/>
                  <a:ea typeface="Calibri" pitchFamily="34" charset="-122"/>
                  <a:cs typeface="Calibri" pitchFamily="34" charset="-120"/>
                </a:rPr>
                <a:t> con </a:t>
              </a:r>
              <a:r>
                <a:rPr lang="en-US" sz="1050" dirty="0" err="1">
                  <a:solidFill>
                    <a:srgbClr val="5B6B79"/>
                  </a:solidFill>
                  <a:latin typeface="Calibri" pitchFamily="34" charset="0"/>
                  <a:ea typeface="Calibri" pitchFamily="34" charset="-122"/>
                  <a:cs typeface="Calibri" pitchFamily="34" charset="-120"/>
                </a:rPr>
                <a:t>parte</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numerica</a:t>
              </a:r>
              <a:r>
                <a:rPr lang="en-US" sz="1050" dirty="0">
                  <a:solidFill>
                    <a:srgbClr val="5B6B79"/>
                  </a:solidFill>
                  <a:latin typeface="Calibri" pitchFamily="34" charset="0"/>
                  <a:ea typeface="Calibri" pitchFamily="34" charset="-122"/>
                  <a:cs typeface="Calibri" pitchFamily="34" charset="-120"/>
                </a:rPr>
                <a:t> con </a:t>
              </a:r>
              <a:r>
                <a:rPr lang="en-US" sz="1050" dirty="0" err="1">
                  <a:solidFill>
                    <a:srgbClr val="5B6B79"/>
                  </a:solidFill>
                  <a:latin typeface="Calibri" pitchFamily="34" charset="0"/>
                  <a:ea typeface="Calibri" pitchFamily="34" charset="-122"/>
                  <a:cs typeface="Calibri" pitchFamily="34" charset="-120"/>
                </a:rPr>
                <a:t>numero</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intero</a:t>
              </a:r>
              <a:r>
                <a:rPr lang="en-US" sz="1050" dirty="0">
                  <a:solidFill>
                    <a:srgbClr val="5B6B79"/>
                  </a:solidFill>
                  <a:latin typeface="Calibri" pitchFamily="34" charset="0"/>
                  <a:ea typeface="Calibri" pitchFamily="34" charset="-122"/>
                  <a:cs typeface="Calibri" pitchFamily="34" charset="-120"/>
                </a:rPr>
                <a:t> non </a:t>
              </a:r>
              <a:r>
                <a:rPr lang="en-US" sz="1050" dirty="0" err="1">
                  <a:solidFill>
                    <a:srgbClr val="5B6B79"/>
                  </a:solidFill>
                  <a:latin typeface="Calibri" pitchFamily="34" charset="0"/>
                  <a:ea typeface="Calibri" pitchFamily="34" charset="-122"/>
                  <a:cs typeface="Calibri" pitchFamily="34" charset="-120"/>
                </a:rPr>
                <a:t>negativo</a:t>
              </a:r>
              <a:r>
                <a:rPr lang="en-US" sz="1050" dirty="0">
                  <a:solidFill>
                    <a:srgbClr val="5B6B79"/>
                  </a:solidFill>
                  <a:latin typeface="Calibri" pitchFamily="34" charset="0"/>
                  <a:ea typeface="Calibri" pitchFamily="34" charset="-122"/>
                  <a:cs typeface="Calibri" pitchFamily="34" charset="-120"/>
                </a:rPr>
                <a:t>.  Se </a:t>
              </a:r>
              <a:r>
                <a:rPr lang="en-US" sz="1050" dirty="0" err="1">
                  <a:solidFill>
                    <a:srgbClr val="5B6B79"/>
                  </a:solidFill>
                  <a:latin typeface="Calibri" pitchFamily="34" charset="0"/>
                  <a:ea typeface="Calibri" pitchFamily="34" charset="-122"/>
                  <a:cs typeface="Calibri" pitchFamily="34" charset="-120"/>
                </a:rPr>
                <a:t>qualcosa</a:t>
              </a:r>
              <a:r>
                <a:rPr lang="en-US" sz="1050" dirty="0">
                  <a:solidFill>
                    <a:srgbClr val="5B6B79"/>
                  </a:solidFill>
                  <a:latin typeface="Calibri" pitchFamily="34" charset="0"/>
                  <a:ea typeface="Calibri" pitchFamily="34" charset="-122"/>
                  <a:cs typeface="Calibri" pitchFamily="34" charset="-120"/>
                </a:rPr>
                <a:t> non </a:t>
              </a:r>
              <a:r>
                <a:rPr lang="en-US" sz="1050" dirty="0" err="1">
                  <a:solidFill>
                    <a:srgbClr val="5B6B79"/>
                  </a:solidFill>
                  <a:latin typeface="Calibri" pitchFamily="34" charset="0"/>
                  <a:ea typeface="Calibri" pitchFamily="34" charset="-122"/>
                  <a:cs typeface="Calibri" pitchFamily="34" charset="-120"/>
                </a:rPr>
                <a:t>torna</a:t>
              </a:r>
              <a:r>
                <a:rPr lang="en-US" sz="1050" dirty="0">
                  <a:solidFill>
                    <a:srgbClr val="5B6B79"/>
                  </a:solidFill>
                  <a:latin typeface="Calibri" pitchFamily="34" charset="0"/>
                  <a:ea typeface="Calibri" pitchFamily="34" charset="-122"/>
                  <a:cs typeface="Calibri" pitchFamily="34" charset="-120"/>
                </a:rPr>
                <a:t> il server </a:t>
              </a:r>
              <a:r>
                <a:rPr lang="en-US" sz="1050" dirty="0" err="1">
                  <a:solidFill>
                    <a:srgbClr val="5B6B79"/>
                  </a:solidFill>
                  <a:latin typeface="Calibri" pitchFamily="34" charset="0"/>
                  <a:ea typeface="Calibri" pitchFamily="34" charset="-122"/>
                  <a:cs typeface="Calibri" pitchFamily="34" charset="-120"/>
                </a:rPr>
                <a:t>risponde</a:t>
              </a:r>
              <a:r>
                <a:rPr lang="en-US" sz="1050" dirty="0">
                  <a:solidFill>
                    <a:srgbClr val="5B6B79"/>
                  </a:solidFill>
                  <a:latin typeface="Calibri" pitchFamily="34" charset="0"/>
                  <a:ea typeface="Calibri" pitchFamily="34" charset="-122"/>
                  <a:cs typeface="Calibri" pitchFamily="34" charset="-120"/>
                </a:rPr>
                <a:t> con ERR </a:t>
              </a:r>
              <a:r>
                <a:rPr lang="en-US" sz="1050" dirty="0" err="1">
                  <a:solidFill>
                    <a:srgbClr val="5B6B79"/>
                  </a:solidFill>
                  <a:latin typeface="Calibri" pitchFamily="34" charset="0"/>
                  <a:ea typeface="Calibri" pitchFamily="34" charset="-122"/>
                  <a:cs typeface="Calibri" pitchFamily="34" charset="-120"/>
                </a:rPr>
                <a:t>invalid_request_id</a:t>
              </a:r>
              <a:r>
                <a:rPr lang="en-US" sz="1050" dirty="0">
                  <a:solidFill>
                    <a:srgbClr val="5B6B79"/>
                  </a:solidFill>
                  <a:latin typeface="Calibri" pitchFamily="34" charset="0"/>
                  <a:ea typeface="Calibri" pitchFamily="34" charset="-122"/>
                  <a:cs typeface="Calibri" pitchFamily="34" charset="-120"/>
                </a:rPr>
                <a:t>.</a:t>
              </a:r>
              <a:endParaRPr lang="en-US" sz="1050" dirty="0"/>
            </a:p>
          </p:txBody>
        </p:sp>
        <p:sp>
          <p:nvSpPr>
            <p:cNvPr id="8" name="Shape 6"/>
            <p:cNvSpPr/>
            <p:nvPr/>
          </p:nvSpPr>
          <p:spPr>
            <a:xfrm>
              <a:off x="777240" y="2604821"/>
              <a:ext cx="0" cy="502920"/>
            </a:xfrm>
            <a:prstGeom prst="line">
              <a:avLst/>
            </a:prstGeom>
            <a:noFill/>
            <a:ln w="15875">
              <a:solidFill>
                <a:srgbClr val="D7E3E8"/>
              </a:solidFill>
              <a:prstDash val="solid"/>
            </a:ln>
          </p:spPr>
          <p:txBody>
            <a:bodyPr/>
            <a:lstStyle/>
            <a:p>
              <a:endParaRPr lang="it-IT"/>
            </a:p>
          </p:txBody>
        </p:sp>
        <p:sp>
          <p:nvSpPr>
            <p:cNvPr id="9" name="Shape 7"/>
            <p:cNvSpPr/>
            <p:nvPr/>
          </p:nvSpPr>
          <p:spPr>
            <a:xfrm>
              <a:off x="548640" y="3107741"/>
              <a:ext cx="457200" cy="457200"/>
            </a:xfrm>
            <a:prstGeom prst="ellipse">
              <a:avLst/>
            </a:prstGeom>
            <a:solidFill>
              <a:srgbClr val="065A82"/>
            </a:solidFill>
            <a:ln/>
          </p:spPr>
          <p:txBody>
            <a:bodyPr/>
            <a:lstStyle/>
            <a:p>
              <a:endParaRPr lang="it-IT"/>
            </a:p>
          </p:txBody>
        </p:sp>
        <p:sp>
          <p:nvSpPr>
            <p:cNvPr id="10" name="Text 8"/>
            <p:cNvSpPr/>
            <p:nvPr/>
          </p:nvSpPr>
          <p:spPr>
            <a:xfrm>
              <a:off x="548640" y="3107741"/>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188720" y="3089453"/>
              <a:ext cx="4480560" cy="292608"/>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Check dedup (sotto lock)</a:t>
              </a:r>
              <a:endParaRPr lang="en-US" sz="1350" dirty="0"/>
            </a:p>
          </p:txBody>
        </p:sp>
        <p:sp>
          <p:nvSpPr>
            <p:cNvPr id="12" name="Text 10"/>
            <p:cNvSpPr/>
            <p:nvPr/>
          </p:nvSpPr>
          <p:spPr>
            <a:xfrm>
              <a:off x="1188720" y="3382061"/>
              <a:ext cx="4480560" cy="365760"/>
            </a:xfrm>
            <a:prstGeom prst="rect">
              <a:avLst/>
            </a:prstGeom>
            <a:noFill/>
            <a:ln/>
          </p:spPr>
          <p:txBody>
            <a:bodyPr wrap="square" lIns="0" tIns="0" rIns="0" bIns="0" rtlCol="0" anchor="ctr"/>
            <a:lstStyle/>
            <a:p>
              <a:pPr marL="0" indent="0" algn="just">
                <a:buNone/>
              </a:pPr>
              <a:r>
                <a:rPr lang="en-US" sz="1050" dirty="0">
                  <a:solidFill>
                    <a:srgbClr val="5B6B79"/>
                  </a:solidFill>
                  <a:latin typeface="Calibri" pitchFamily="34" charset="0"/>
                  <a:ea typeface="Calibri" pitchFamily="34" charset="-122"/>
                  <a:cs typeface="Calibri" pitchFamily="34" charset="-120"/>
                </a:rPr>
                <a:t>Tutto </a:t>
              </a:r>
              <a:r>
                <a:rPr lang="en-US" sz="1050" dirty="0" err="1">
                  <a:solidFill>
                    <a:srgbClr val="5B6B79"/>
                  </a:solidFill>
                  <a:latin typeface="Calibri" pitchFamily="34" charset="0"/>
                  <a:ea typeface="Calibri" pitchFamily="34" charset="-122"/>
                  <a:cs typeface="Calibri" pitchFamily="34" charset="-120"/>
                </a:rPr>
                <a:t>avviene</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nel</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blocco</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self._lock</a:t>
              </a:r>
              <a:r>
                <a:rPr lang="en-US" sz="1050" dirty="0">
                  <a:solidFill>
                    <a:srgbClr val="5B6B79"/>
                  </a:solidFill>
                  <a:latin typeface="Calibri" pitchFamily="34" charset="0"/>
                  <a:ea typeface="Calibri" pitchFamily="34" charset="-122"/>
                  <a:cs typeface="Calibri" pitchFamily="34" charset="-120"/>
                </a:rPr>
                <a:t> e </a:t>
              </a:r>
              <a:r>
                <a:rPr lang="en-US" sz="1050" dirty="0" err="1">
                  <a:solidFill>
                    <a:srgbClr val="5B6B79"/>
                  </a:solidFill>
                  <a:latin typeface="Calibri" pitchFamily="34" charset="0"/>
                  <a:ea typeface="Calibri" pitchFamily="34" charset="-122"/>
                  <a:cs typeface="Calibri" pitchFamily="34" charset="-120"/>
                </a:rPr>
                <a:t>si</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controlla</a:t>
              </a:r>
              <a:r>
                <a:rPr lang="en-US" sz="1050" dirty="0">
                  <a:solidFill>
                    <a:srgbClr val="5B6B79"/>
                  </a:solidFill>
                  <a:latin typeface="Calibri" pitchFamily="34" charset="0"/>
                  <a:ea typeface="Calibri" pitchFamily="34" charset="-122"/>
                  <a:cs typeface="Calibri" pitchFamily="34" charset="-120"/>
                </a:rPr>
                <a:t> la </a:t>
              </a:r>
              <a:r>
                <a:rPr lang="en-US" sz="1050" dirty="0" err="1">
                  <a:solidFill>
                    <a:srgbClr val="5B6B79"/>
                  </a:solidFill>
                  <a:latin typeface="Calibri" pitchFamily="34" charset="0"/>
                  <a:ea typeface="Calibri" pitchFamily="34" charset="-122"/>
                  <a:cs typeface="Calibri" pitchFamily="34" charset="-120"/>
                </a:rPr>
                <a:t>deduplicazione</a:t>
              </a:r>
              <a:r>
                <a:rPr lang="en-US" sz="1050" dirty="0">
                  <a:solidFill>
                    <a:srgbClr val="5B6B79"/>
                  </a:solidFill>
                  <a:latin typeface="Calibri" pitchFamily="34" charset="0"/>
                  <a:ea typeface="Calibri" pitchFamily="34" charset="-122"/>
                  <a:cs typeface="Calibri" pitchFamily="34" charset="-120"/>
                </a:rPr>
                <a:t> con _</a:t>
              </a:r>
              <a:r>
                <a:rPr lang="en-US" sz="1050" dirty="0" err="1">
                  <a:solidFill>
                    <a:srgbClr val="5B6B79"/>
                  </a:solidFill>
                  <a:latin typeface="Calibri" pitchFamily="34" charset="0"/>
                  <a:ea typeface="Calibri" pitchFamily="34" charset="-122"/>
                  <a:cs typeface="Calibri" pitchFamily="34" charset="-120"/>
                </a:rPr>
                <a:t>check_dedup</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controllo</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che</a:t>
              </a:r>
              <a:r>
                <a:rPr lang="en-US" sz="1050" dirty="0">
                  <a:solidFill>
                    <a:srgbClr val="5B6B79"/>
                  </a:solidFill>
                  <a:latin typeface="Calibri" pitchFamily="34" charset="0"/>
                  <a:ea typeface="Calibri" pitchFamily="34" charset="-122"/>
                  <a:cs typeface="Calibri" pitchFamily="34" charset="-120"/>
                </a:rPr>
                <a:t> distingue 3 </a:t>
              </a:r>
              <a:r>
                <a:rPr lang="en-US" sz="1050" dirty="0" err="1">
                  <a:solidFill>
                    <a:srgbClr val="5B6B79"/>
                  </a:solidFill>
                  <a:latin typeface="Calibri" pitchFamily="34" charset="0"/>
                  <a:ea typeface="Calibri" pitchFamily="34" charset="-122"/>
                  <a:cs typeface="Calibri" pitchFamily="34" charset="-120"/>
                </a:rPr>
                <a:t>esiti</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diversi</a:t>
              </a:r>
              <a:r>
                <a:rPr lang="en-US" sz="1050" dirty="0">
                  <a:solidFill>
                    <a:srgbClr val="5B6B79"/>
                  </a:solidFill>
                  <a:latin typeface="Calibri" pitchFamily="34" charset="0"/>
                  <a:ea typeface="Calibri" pitchFamily="34" charset="-122"/>
                  <a:cs typeface="Calibri" pitchFamily="34" charset="-120"/>
                </a:rPr>
                <a:t>: replay / expired / nuovo</a:t>
              </a:r>
              <a:endParaRPr lang="en-US" sz="1050" dirty="0"/>
            </a:p>
          </p:txBody>
        </p:sp>
        <p:sp>
          <p:nvSpPr>
            <p:cNvPr id="13" name="Shape 11"/>
            <p:cNvSpPr/>
            <p:nvPr/>
          </p:nvSpPr>
          <p:spPr>
            <a:xfrm>
              <a:off x="777240" y="3564941"/>
              <a:ext cx="0" cy="502920"/>
            </a:xfrm>
            <a:prstGeom prst="line">
              <a:avLst/>
            </a:prstGeom>
            <a:noFill/>
            <a:ln w="15875">
              <a:solidFill>
                <a:srgbClr val="D7E3E8"/>
              </a:solidFill>
              <a:prstDash val="solid"/>
            </a:ln>
          </p:spPr>
          <p:txBody>
            <a:bodyPr/>
            <a:lstStyle/>
            <a:p>
              <a:endParaRPr lang="it-IT"/>
            </a:p>
          </p:txBody>
        </p:sp>
        <p:sp>
          <p:nvSpPr>
            <p:cNvPr id="14" name="Shape 12"/>
            <p:cNvSpPr/>
            <p:nvPr/>
          </p:nvSpPr>
          <p:spPr>
            <a:xfrm>
              <a:off x="548640" y="4067861"/>
              <a:ext cx="457200" cy="457200"/>
            </a:xfrm>
            <a:prstGeom prst="ellipse">
              <a:avLst/>
            </a:prstGeom>
            <a:solidFill>
              <a:srgbClr val="065A82"/>
            </a:solidFill>
            <a:ln/>
          </p:spPr>
          <p:txBody>
            <a:bodyPr/>
            <a:lstStyle/>
            <a:p>
              <a:endParaRPr lang="it-IT"/>
            </a:p>
          </p:txBody>
        </p:sp>
        <p:sp>
          <p:nvSpPr>
            <p:cNvPr id="15" name="Text 13"/>
            <p:cNvSpPr/>
            <p:nvPr/>
          </p:nvSpPr>
          <p:spPr>
            <a:xfrm>
              <a:off x="548640" y="4067861"/>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188720" y="4049573"/>
              <a:ext cx="4480560" cy="292608"/>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Esecuzione (se nuovo)</a:t>
              </a:r>
              <a:endParaRPr lang="en-US" sz="1350" dirty="0"/>
            </a:p>
          </p:txBody>
        </p:sp>
        <p:sp>
          <p:nvSpPr>
            <p:cNvPr id="17" name="Text 15"/>
            <p:cNvSpPr/>
            <p:nvPr/>
          </p:nvSpPr>
          <p:spPr>
            <a:xfrm>
              <a:off x="1188720" y="4342181"/>
              <a:ext cx="4480560" cy="365760"/>
            </a:xfrm>
            <a:prstGeom prst="rect">
              <a:avLst/>
            </a:prstGeom>
            <a:noFill/>
            <a:ln/>
          </p:spPr>
          <p:txBody>
            <a:bodyPr wrap="square" lIns="0" tIns="0" rIns="0" bIns="0" rtlCol="0" anchor="ctr"/>
            <a:lstStyle/>
            <a:p>
              <a:pPr marL="0" indent="0" algn="just">
                <a:buNone/>
              </a:pPr>
              <a:r>
                <a:rPr lang="en-US" sz="1050" dirty="0">
                  <a:solidFill>
                    <a:srgbClr val="5B6B79"/>
                  </a:solidFill>
                  <a:latin typeface="Calibri" pitchFamily="34" charset="0"/>
                  <a:ea typeface="Calibri" pitchFamily="34" charset="-122"/>
                  <a:cs typeface="Calibri" pitchFamily="34" charset="-120"/>
                </a:rPr>
                <a:t>Esecuzione vera e propria solo se la </a:t>
              </a:r>
              <a:r>
                <a:rPr lang="en-US" sz="1050" dirty="0" err="1">
                  <a:solidFill>
                    <a:srgbClr val="5B6B79"/>
                  </a:solidFill>
                  <a:latin typeface="Calibri" pitchFamily="34" charset="0"/>
                  <a:ea typeface="Calibri" pitchFamily="34" charset="-122"/>
                  <a:cs typeface="Calibri" pitchFamily="34" charset="-120"/>
                </a:rPr>
                <a:t>richiesta</a:t>
              </a:r>
              <a:r>
                <a:rPr lang="en-US" sz="1050" dirty="0">
                  <a:solidFill>
                    <a:srgbClr val="5B6B79"/>
                  </a:solidFill>
                  <a:latin typeface="Calibri" pitchFamily="34" charset="0"/>
                  <a:ea typeface="Calibri" pitchFamily="34" charset="-122"/>
                  <a:cs typeface="Calibri" pitchFamily="34" charset="-120"/>
                </a:rPr>
                <a:t> è </a:t>
              </a:r>
              <a:r>
                <a:rPr lang="en-US" sz="1050" dirty="0" err="1">
                  <a:solidFill>
                    <a:srgbClr val="5B6B79"/>
                  </a:solidFill>
                  <a:latin typeface="Calibri" pitchFamily="34" charset="0"/>
                  <a:ea typeface="Calibri" pitchFamily="34" charset="-122"/>
                  <a:cs typeface="Calibri" pitchFamily="34" charset="-120"/>
                </a:rPr>
                <a:t>nuova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viene</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invocata</a:t>
              </a:r>
              <a:r>
                <a:rPr lang="en-US" sz="1050" dirty="0">
                  <a:solidFill>
                    <a:srgbClr val="5B6B79"/>
                  </a:solidFill>
                  <a:latin typeface="Calibri" pitchFamily="34" charset="0"/>
                  <a:ea typeface="Calibri" pitchFamily="34" charset="-122"/>
                  <a:cs typeface="Calibri" pitchFamily="34" charset="-120"/>
                </a:rPr>
                <a:t> la </a:t>
              </a:r>
              <a:r>
                <a:rPr lang="en-US" sz="1050" dirty="0" err="1">
                  <a:solidFill>
                    <a:srgbClr val="5B6B79"/>
                  </a:solidFill>
                  <a:latin typeface="Calibri" pitchFamily="34" charset="0"/>
                  <a:ea typeface="Calibri" pitchFamily="34" charset="-122"/>
                  <a:cs typeface="Calibri" pitchFamily="34" charset="-120"/>
                </a:rPr>
                <a:t>funzion</a:t>
              </a:r>
              <a:r>
                <a:rPr lang="en-US" sz="1050" dirty="0">
                  <a:solidFill>
                    <a:srgbClr val="5B6B79"/>
                  </a:solidFill>
                  <a:latin typeface="Calibri" pitchFamily="34" charset="0"/>
                  <a:ea typeface="Calibri" pitchFamily="34" charset="-122"/>
                  <a:cs typeface="Calibri" pitchFamily="34" charset="-120"/>
                </a:rPr>
                <a:t>, come la lambda specifica del comando (SET/CAS/DELETE) e </a:t>
              </a:r>
              <a:r>
                <a:rPr lang="en-US" sz="1050" dirty="0" err="1">
                  <a:solidFill>
                    <a:srgbClr val="5B6B79"/>
                  </a:solidFill>
                  <a:latin typeface="Calibri" pitchFamily="34" charset="0"/>
                  <a:ea typeface="Calibri" pitchFamily="34" charset="-122"/>
                  <a:cs typeface="Calibri" pitchFamily="34" charset="-120"/>
                </a:rPr>
                <a:t>questa</a:t>
              </a:r>
              <a:r>
                <a:rPr lang="en-US" sz="1050" dirty="0">
                  <a:solidFill>
                    <a:srgbClr val="5B6B79"/>
                  </a:solidFill>
                  <a:latin typeface="Calibri" pitchFamily="34" charset="0"/>
                  <a:ea typeface="Calibri" pitchFamily="34" charset="-122"/>
                  <a:cs typeface="Calibri" pitchFamily="34" charset="-120"/>
                </a:rPr>
                <a:t> produce </a:t>
              </a:r>
              <a:r>
                <a:rPr lang="en-US" sz="1050" dirty="0" err="1">
                  <a:solidFill>
                    <a:srgbClr val="5B6B79"/>
                  </a:solidFill>
                  <a:latin typeface="Calibri" pitchFamily="34" charset="0"/>
                  <a:ea typeface="Calibri" pitchFamily="34" charset="-122"/>
                  <a:cs typeface="Calibri" pitchFamily="34" charset="-120"/>
                </a:rPr>
                <a:t>risposta</a:t>
              </a:r>
              <a:r>
                <a:rPr lang="en-US" sz="1050" dirty="0">
                  <a:solidFill>
                    <a:srgbClr val="5B6B79"/>
                  </a:solidFill>
                  <a:latin typeface="Calibri" pitchFamily="34" charset="0"/>
                  <a:ea typeface="Calibri" pitchFamily="34" charset="-122"/>
                  <a:cs typeface="Calibri" pitchFamily="34" charset="-120"/>
                </a:rPr>
                <a:t>.</a:t>
              </a:r>
              <a:endParaRPr lang="en-US" sz="1050" dirty="0"/>
            </a:p>
          </p:txBody>
        </p:sp>
        <p:sp>
          <p:nvSpPr>
            <p:cNvPr id="18" name="Shape 16"/>
            <p:cNvSpPr/>
            <p:nvPr/>
          </p:nvSpPr>
          <p:spPr>
            <a:xfrm>
              <a:off x="777240" y="4525061"/>
              <a:ext cx="0" cy="502920"/>
            </a:xfrm>
            <a:prstGeom prst="line">
              <a:avLst/>
            </a:prstGeom>
            <a:noFill/>
            <a:ln w="15875">
              <a:solidFill>
                <a:srgbClr val="D7E3E8"/>
              </a:solidFill>
              <a:prstDash val="solid"/>
            </a:ln>
          </p:spPr>
          <p:txBody>
            <a:bodyPr/>
            <a:lstStyle/>
            <a:p>
              <a:endParaRPr lang="it-IT"/>
            </a:p>
          </p:txBody>
        </p:sp>
        <p:sp>
          <p:nvSpPr>
            <p:cNvPr id="19" name="Shape 17"/>
            <p:cNvSpPr/>
            <p:nvPr/>
          </p:nvSpPr>
          <p:spPr>
            <a:xfrm>
              <a:off x="548640" y="5027981"/>
              <a:ext cx="457200" cy="457200"/>
            </a:xfrm>
            <a:prstGeom prst="ellipse">
              <a:avLst/>
            </a:prstGeom>
            <a:solidFill>
              <a:srgbClr val="065A82"/>
            </a:solidFill>
            <a:ln/>
          </p:spPr>
          <p:txBody>
            <a:bodyPr/>
            <a:lstStyle/>
            <a:p>
              <a:endParaRPr lang="it-IT"/>
            </a:p>
          </p:txBody>
        </p:sp>
        <p:sp>
          <p:nvSpPr>
            <p:cNvPr id="20" name="Text 18"/>
            <p:cNvSpPr/>
            <p:nvPr/>
          </p:nvSpPr>
          <p:spPr>
            <a:xfrm>
              <a:off x="548640" y="5027981"/>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188720" y="5009693"/>
              <a:ext cx="4480560" cy="292608"/>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Salvataggio + GC</a:t>
              </a:r>
              <a:endParaRPr lang="en-US" sz="1350" dirty="0"/>
            </a:p>
          </p:txBody>
        </p:sp>
        <p:sp>
          <p:nvSpPr>
            <p:cNvPr id="22" name="Text 20"/>
            <p:cNvSpPr/>
            <p:nvPr/>
          </p:nvSpPr>
          <p:spPr>
            <a:xfrm>
              <a:off x="1188720" y="5302301"/>
              <a:ext cx="4480560" cy="365760"/>
            </a:xfrm>
            <a:prstGeom prst="rect">
              <a:avLst/>
            </a:prstGeom>
            <a:noFill/>
            <a:ln/>
          </p:spPr>
          <p:txBody>
            <a:bodyPr wrap="square" lIns="0" tIns="0" rIns="0" bIns="0" rtlCol="0" anchor="ctr"/>
            <a:lstStyle/>
            <a:p>
              <a:pPr marL="0" indent="0" algn="just">
                <a:buNone/>
              </a:pPr>
              <a:r>
                <a:rPr lang="en-US" sz="1050" dirty="0">
                  <a:solidFill>
                    <a:srgbClr val="5B6B79"/>
                  </a:solidFill>
                  <a:latin typeface="Calibri" pitchFamily="34" charset="0"/>
                  <a:ea typeface="Calibri" pitchFamily="34" charset="-122"/>
                  <a:cs typeface="Calibri" pitchFamily="34" charset="-120"/>
                </a:rPr>
                <a:t>Si </a:t>
              </a:r>
              <a:r>
                <a:rPr lang="en-US" sz="1050" dirty="0" err="1">
                  <a:solidFill>
                    <a:srgbClr val="5B6B79"/>
                  </a:solidFill>
                  <a:latin typeface="Calibri" pitchFamily="34" charset="0"/>
                  <a:ea typeface="Calibri" pitchFamily="34" charset="-122"/>
                  <a:cs typeface="Calibri" pitchFamily="34" charset="-120"/>
                </a:rPr>
                <a:t>tratta</a:t>
              </a:r>
              <a:r>
                <a:rPr lang="en-US" sz="1050" dirty="0">
                  <a:solidFill>
                    <a:srgbClr val="5B6B79"/>
                  </a:solidFill>
                  <a:latin typeface="Calibri" pitchFamily="34" charset="0"/>
                  <a:ea typeface="Calibri" pitchFamily="34" charset="-122"/>
                  <a:cs typeface="Calibri" pitchFamily="34" charset="-120"/>
                </a:rPr>
                <a:t> del </a:t>
              </a:r>
              <a:r>
                <a:rPr lang="en-US" sz="1050" dirty="0" err="1">
                  <a:solidFill>
                    <a:srgbClr val="5B6B79"/>
                  </a:solidFill>
                  <a:latin typeface="Calibri" pitchFamily="34" charset="0"/>
                  <a:ea typeface="Calibri" pitchFamily="34" charset="-122"/>
                  <a:cs typeface="Calibri" pitchFamily="34" charset="-120"/>
                </a:rPr>
                <a:t>salvataggio</a:t>
              </a:r>
              <a:r>
                <a:rPr lang="en-US" sz="1050" dirty="0">
                  <a:solidFill>
                    <a:srgbClr val="5B6B79"/>
                  </a:solidFill>
                  <a:latin typeface="Calibri" pitchFamily="34" charset="0"/>
                  <a:ea typeface="Calibri" pitchFamily="34" charset="-122"/>
                  <a:cs typeface="Calibri" pitchFamily="34" charset="-120"/>
                </a:rPr>
                <a:t> _</a:t>
              </a:r>
              <a:r>
                <a:rPr lang="en-US" sz="1050" dirty="0" err="1">
                  <a:solidFill>
                    <a:srgbClr val="5B6B79"/>
                  </a:solidFill>
                  <a:latin typeface="Calibri" pitchFamily="34" charset="0"/>
                  <a:ea typeface="Calibri" pitchFamily="34" charset="-122"/>
                  <a:cs typeface="Calibri" pitchFamily="34" charset="-120"/>
                </a:rPr>
                <a:t>save_and_gc</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che</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salva</a:t>
              </a:r>
              <a:r>
                <a:rPr lang="en-US" sz="1050" dirty="0">
                  <a:solidFill>
                    <a:srgbClr val="5B6B79"/>
                  </a:solidFill>
                  <a:latin typeface="Calibri" pitchFamily="34" charset="0"/>
                  <a:ea typeface="Calibri" pitchFamily="34" charset="-122"/>
                  <a:cs typeface="Calibri" pitchFamily="34" charset="-120"/>
                </a:rPr>
                <a:t> la </a:t>
              </a:r>
              <a:r>
                <a:rPr lang="en-US" sz="1050" dirty="0" err="1">
                  <a:solidFill>
                    <a:srgbClr val="5B6B79"/>
                  </a:solidFill>
                  <a:latin typeface="Calibri" pitchFamily="34" charset="0"/>
                  <a:ea typeface="Calibri" pitchFamily="34" charset="-122"/>
                  <a:cs typeface="Calibri" pitchFamily="34" charset="-120"/>
                </a:rPr>
                <a:t>risposta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nella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request_table</a:t>
              </a:r>
              <a:r>
                <a:rPr lang="en-US" sz="1050" dirty="0">
                  <a:solidFill>
                    <a:srgbClr val="5B6B79"/>
                  </a:solidFill>
                  <a:latin typeface="Calibri" pitchFamily="34" charset="0"/>
                  <a:ea typeface="Calibri" pitchFamily="34" charset="-122"/>
                  <a:cs typeface="Calibri" pitchFamily="34" charset="-120"/>
                </a:rPr>
                <a:t> e </a:t>
              </a:r>
              <a:r>
                <a:rPr lang="en-US" sz="1050" dirty="0" err="1">
                  <a:solidFill>
                    <a:srgbClr val="5B6B79"/>
                  </a:solidFill>
                  <a:latin typeface="Calibri" pitchFamily="34" charset="0"/>
                  <a:ea typeface="Calibri" pitchFamily="34" charset="-122"/>
                  <a:cs typeface="Calibri" pitchFamily="34" charset="-120"/>
                </a:rPr>
                <a:t>nella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stessa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chiamata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viene</a:t>
              </a:r>
              <a:r>
                <a:rPr lang="en-US" sz="1050" dirty="0">
                  <a:solidFill>
                    <a:srgbClr val="5B6B79"/>
                  </a:solidFill>
                  <a:latin typeface="Calibri" pitchFamily="34" charset="0"/>
                  <a:ea typeface="Calibri" pitchFamily="34" charset="-122"/>
                  <a:cs typeface="Calibri" pitchFamily="34" charset="-120"/>
                </a:rPr>
                <a:t> applicate la </a:t>
              </a:r>
              <a:r>
                <a:rPr lang="en-US" sz="1050" dirty="0" err="1">
                  <a:solidFill>
                    <a:srgbClr val="5B6B79"/>
                  </a:solidFill>
                  <a:latin typeface="Calibri" pitchFamily="34" charset="0"/>
                  <a:ea typeface="Calibri" pitchFamily="34" charset="-122"/>
                  <a:cs typeface="Calibri" pitchFamily="34" charset="-120"/>
                </a:rPr>
                <a:t>pulizia</a:t>
              </a:r>
              <a:r>
                <a:rPr lang="en-US" sz="1050" dirty="0">
                  <a:solidFill>
                    <a:srgbClr val="5B6B79"/>
                  </a:solidFill>
                  <a:latin typeface="Calibri" pitchFamily="34" charset="0"/>
                  <a:ea typeface="Calibri" pitchFamily="34" charset="-122"/>
                  <a:cs typeface="Calibri" pitchFamily="34" charset="-120"/>
                </a:rPr>
                <a:t> a </a:t>
              </a:r>
              <a:r>
                <a:rPr lang="en-US" sz="1050" dirty="0" err="1">
                  <a:solidFill>
                    <a:srgbClr val="5B6B79"/>
                  </a:solidFill>
                  <a:latin typeface="Calibri" pitchFamily="34" charset="0"/>
                  <a:ea typeface="Calibri" pitchFamily="34" charset="-122"/>
                  <a:cs typeface="Calibri" pitchFamily="34" charset="-120"/>
                </a:rPr>
                <a:t>finestra</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scorrevole</a:t>
              </a:r>
              <a:r>
                <a:rPr lang="en-US" sz="1050" dirty="0">
                  <a:solidFill>
                    <a:srgbClr val="5B6B79"/>
                  </a:solidFill>
                  <a:latin typeface="Calibri" pitchFamily="34" charset="0"/>
                  <a:ea typeface="Calibri" pitchFamily="34" charset="-122"/>
                  <a:cs typeface="Calibri" pitchFamily="34" charset="-120"/>
                </a:rPr>
                <a:t>, </a:t>
              </a:r>
              <a:r>
                <a:rPr lang="en-US" sz="1050" dirty="0" err="1">
                  <a:solidFill>
                    <a:srgbClr val="5B6B79"/>
                  </a:solidFill>
                  <a:latin typeface="Calibri" pitchFamily="34" charset="0"/>
                  <a:ea typeface="Calibri" pitchFamily="34" charset="-122"/>
                  <a:cs typeface="Calibri" pitchFamily="34" charset="-120"/>
                </a:rPr>
                <a:t>ovvero</a:t>
              </a:r>
              <a:r>
                <a:rPr lang="en-US" sz="1050" dirty="0">
                  <a:solidFill>
                    <a:srgbClr val="5B6B79"/>
                  </a:solidFill>
                  <a:latin typeface="Calibri" pitchFamily="34" charset="0"/>
                  <a:ea typeface="Calibri" pitchFamily="34" charset="-122"/>
                  <a:cs typeface="Calibri" pitchFamily="34" charset="-120"/>
                </a:rPr>
                <a:t> la sliding window</a:t>
              </a:r>
              <a:endParaRPr lang="en-US" sz="1050" dirty="0"/>
            </a:p>
          </p:txBody>
        </p:sp>
      </p:grpSp>
      <p:sp>
        <p:nvSpPr>
          <p:cNvPr id="23" name="Shape 21"/>
          <p:cNvSpPr/>
          <p:nvPr/>
        </p:nvSpPr>
        <p:spPr>
          <a:xfrm>
            <a:off x="6126480" y="1417320"/>
            <a:ext cx="5486400" cy="4892040"/>
          </a:xfrm>
          <a:prstGeom prst="roundRect">
            <a:avLst>
              <a:gd name="adj" fmla="val 1495"/>
            </a:avLst>
          </a:prstGeom>
          <a:solidFill>
            <a:srgbClr val="1E2430"/>
          </a:solidFill>
          <a:ln/>
          <a:effectLst>
            <a:outerShdw blurRad="101600" dist="38100" dir="5400000" algn="bl" rotWithShape="0">
              <a:srgbClr val="000000">
                <a:alpha val="18000"/>
              </a:srgbClr>
            </a:outerShdw>
          </a:effectLst>
        </p:spPr>
        <p:txBody>
          <a:bodyPr/>
          <a:lstStyle/>
          <a:p>
            <a:endParaRPr lang="it-IT"/>
          </a:p>
        </p:txBody>
      </p:sp>
      <p:sp>
        <p:nvSpPr>
          <p:cNvPr id="24" name="Text 22"/>
          <p:cNvSpPr/>
          <p:nvPr/>
        </p:nvSpPr>
        <p:spPr>
          <a:xfrm>
            <a:off x="6382512" y="1618488"/>
            <a:ext cx="4974336" cy="4526280"/>
          </a:xfrm>
          <a:prstGeom prst="rect">
            <a:avLst/>
          </a:prstGeom>
          <a:noFill/>
          <a:ln/>
        </p:spPr>
        <p:txBody>
          <a:bodyPr wrap="square" lIns="0" tIns="0" rIns="0" bIns="0" rtlCol="0" anchor="t"/>
          <a:lstStyle/>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def _dispatch_idempotent(self, request_id, fn):</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parsed = self._parse_request_id(request_id)</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if parsed is None:</a:t>
            </a:r>
            <a:endParaRPr lang="en-US" sz="1200" dirty="0"/>
          </a:p>
          <a:p>
            <a:pPr marL="0" indent="0">
              <a:lnSpc>
                <a:spcPct val="118000"/>
              </a:lnSpc>
              <a:buNone/>
            </a:pPr>
            <a:r>
              <a:rPr lang="en-US" sz="1200" dirty="0">
                <a:solidFill>
                  <a:srgbClr val="7FD1C9"/>
                </a:solidFill>
                <a:latin typeface="Courier New" pitchFamily="34" charset="0"/>
                <a:ea typeface="Courier New" pitchFamily="34" charset="-122"/>
                <a:cs typeface="Courier New" pitchFamily="34" charset="-120"/>
              </a:rPr>
              <a:t>        return "ERR invalid_request_id", False</a:t>
            </a:r>
          </a:p>
          <a:p>
            <a:pPr marL="0" indent="0">
              <a:lnSpc>
                <a:spcPct val="118000"/>
              </a:lnSpc>
              <a:buNone/>
            </a:pP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client_id, seq = parsed</a:t>
            </a:r>
            <a:endParaRPr lang="en-US" sz="1200" dirty="0"/>
          </a:p>
          <a:p>
            <a:pPr marL="0" indent="0">
              <a:lnSpc>
                <a:spcPct val="118000"/>
              </a:lnSpc>
              <a:buNone/>
            </a:pPr>
            <a:endParaRPr lang="en-US" sz="1200" dirty="0"/>
          </a:p>
          <a:p>
            <a:pPr marL="0" indent="0">
              <a:lnSpc>
                <a:spcPct val="118000"/>
              </a:lnSpc>
              <a:buNone/>
            </a:pPr>
            <a:r>
              <a:rPr lang="en-US" sz="1200" dirty="0">
                <a:solidFill>
                  <a:srgbClr val="7FD1C9"/>
                </a:solidFill>
                <a:latin typeface="Courier New" pitchFamily="34" charset="0"/>
                <a:ea typeface="Courier New" pitchFamily="34" charset="-122"/>
                <a:cs typeface="Courier New" pitchFamily="34" charset="-120"/>
              </a:rPr>
              <a:t>    with self._lock:</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cached = self._check_dedup(client_id, seq)</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if cached is not None:</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a:t>
            </a:r>
            <a:r>
              <a:rPr lang="it-IT" sz="1100" dirty="0">
                <a:solidFill>
                  <a:schemeClr val="bg1"/>
                </a:solidFill>
                <a:latin typeface="Courier New" panose="02070309020205020404" pitchFamily="49" charset="0"/>
                <a:cs typeface="Courier New" panose="02070309020205020404" pitchFamily="49" charset="0"/>
              </a:rPr>
              <a:t>log(</a:t>
            </a:r>
            <a:r>
              <a:rPr lang="it-IT" sz="1100" dirty="0" err="1">
                <a:solidFill>
                  <a:schemeClr val="bg1"/>
                </a:solidFill>
                <a:latin typeface="Courier New" panose="02070309020205020404" pitchFamily="49" charset="0"/>
                <a:cs typeface="Courier New" panose="02070309020205020404" pitchFamily="49" charset="0"/>
              </a:rPr>
              <a:t>f"dedup</a:t>
            </a:r>
            <a:r>
              <a:rPr lang="it-IT" sz="1100" dirty="0">
                <a:solidFill>
                  <a:schemeClr val="bg1"/>
                </a:solidFill>
                <a:latin typeface="Courier New" panose="02070309020205020404" pitchFamily="49" charset="0"/>
                <a:cs typeface="Courier New" panose="02070309020205020404" pitchFamily="49" charset="0"/>
              </a:rPr>
              <a:t> hit {</a:t>
            </a:r>
            <a:r>
              <a:rPr lang="it-IT" sz="1100" dirty="0" err="1">
                <a:solidFill>
                  <a:schemeClr val="bg1"/>
                </a:solidFill>
                <a:latin typeface="Courier New" panose="02070309020205020404" pitchFamily="49" charset="0"/>
                <a:cs typeface="Courier New" panose="02070309020205020404" pitchFamily="49" charset="0"/>
              </a:rPr>
              <a:t>request_id</a:t>
            </a:r>
            <a:r>
              <a:rPr lang="it-IT" sz="1100" dirty="0">
                <a:solidFill>
                  <a:schemeClr val="bg1"/>
                </a:solidFill>
                <a:latin typeface="Courier New" panose="02070309020205020404" pitchFamily="49" charset="0"/>
                <a:cs typeface="Courier New" panose="02070309020205020404" pitchFamily="49" charset="0"/>
              </a:rPr>
              <a:t>} -&gt; {</a:t>
            </a:r>
            <a:r>
              <a:rPr lang="it-IT" sz="1100" dirty="0" err="1">
                <a:solidFill>
                  <a:schemeClr val="bg1"/>
                </a:solidFill>
                <a:latin typeface="Courier New" panose="02070309020205020404" pitchFamily="49" charset="0"/>
                <a:cs typeface="Courier New" panose="02070309020205020404" pitchFamily="49" charset="0"/>
              </a:rPr>
              <a:t>cached</a:t>
            </a:r>
            <a:r>
              <a:rPr lang="it-IT" sz="1100" dirty="0">
                <a:solidFill>
                  <a:schemeClr val="bg1"/>
                </a:solidFill>
                <a:latin typeface="Courier New" panose="02070309020205020404" pitchFamily="49" charset="0"/>
                <a:cs typeface="Courier New" panose="02070309020205020404" pitchFamily="49" charset="0"/>
              </a:rPr>
              <a:t>}")</a:t>
            </a:r>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r>
              <a:rPr lang="en-US" sz="1200" dirty="0">
                <a:solidFill>
                  <a:schemeClr val="bg1"/>
                </a:solidFill>
                <a:latin typeface="Courier New" pitchFamily="34" charset="0"/>
                <a:ea typeface="Courier New" pitchFamily="34" charset="-122"/>
                <a:cs typeface="Courier New" pitchFamily="34" charset="-120"/>
              </a:rPr>
              <a:t>            return cached, False </a:t>
            </a:r>
            <a:endParaRPr lang="en-US" sz="1200" dirty="0">
              <a:solidFill>
                <a:schemeClr val="bg1"/>
              </a:solidFill>
            </a:endParaRPr>
          </a:p>
          <a:p>
            <a:pPr marL="0" indent="0">
              <a:lnSpc>
                <a:spcPct val="118000"/>
              </a:lnSpc>
              <a:buNone/>
            </a:pPr>
            <a:endParaRPr lang="en-US" sz="1200" dirty="0"/>
          </a:p>
          <a:p>
            <a:pPr marL="0" indent="0">
              <a:lnSpc>
                <a:spcPct val="118000"/>
              </a:lnSpc>
              <a:buNone/>
            </a:pPr>
            <a:r>
              <a:rPr lang="en-US" sz="1200" dirty="0">
                <a:solidFill>
                  <a:srgbClr val="8A97A6"/>
                </a:solidFill>
                <a:latin typeface="Courier New" pitchFamily="34" charset="0"/>
                <a:ea typeface="Courier New" pitchFamily="34" charset="-122"/>
                <a:cs typeface="Courier New" pitchFamily="34" charset="-120"/>
              </a:rPr>
              <a:t>        response = fn()           # esecuzione reale</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self._save_and_gc(client_id, seq, response)</a:t>
            </a:r>
            <a:endParaRPr lang="en-US" sz="1200" dirty="0"/>
          </a:p>
          <a:p>
            <a:pPr marL="0" indent="0">
              <a:lnSpc>
                <a:spcPct val="118000"/>
              </a:lnSpc>
              <a:buNone/>
            </a:pP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return response, False</a:t>
            </a:r>
            <a:endParaRPr lang="en-US" sz="1200" dirty="0"/>
          </a:p>
        </p:txBody>
      </p:sp>
      <p:sp>
        <p:nvSpPr>
          <p:cNvPr id="26" name="Text 24"/>
          <p:cNvSpPr/>
          <p:nvPr/>
        </p:nvSpPr>
        <p:spPr>
          <a:xfrm>
            <a:off x="11521440" y="6510528"/>
            <a:ext cx="457200" cy="274320"/>
          </a:xfrm>
          <a:prstGeom prst="rect">
            <a:avLst/>
          </a:prstGeom>
          <a:noFill/>
          <a:ln/>
        </p:spPr>
        <p:txBody>
          <a:bodyPr wrap="square" lIns="0" tIns="0" rIns="0" bIns="0" rtlCol="0" anchor="ctr"/>
          <a:lstStyle/>
          <a:p>
            <a:pPr marL="0" indent="0" algn="r">
              <a:buNone/>
            </a:pPr>
            <a:endParaRPr lang="en-US" sz="1000" dirty="0"/>
          </a:p>
        </p:txBody>
      </p:sp>
      <p:sp>
        <p:nvSpPr>
          <p:cNvPr id="28" name="CasellaDiTesto 27">
            <a:extLst>
              <a:ext uri="{FF2B5EF4-FFF2-40B4-BE49-F238E27FC236}">
                <a16:creationId xmlns:a16="http://schemas.microsoft.com/office/drawing/2014/main" id="{4D1F90AE-9887-21DD-FAFF-628627684866}"/>
              </a:ext>
            </a:extLst>
          </p:cNvPr>
          <p:cNvSpPr txBox="1"/>
          <p:nvPr/>
        </p:nvSpPr>
        <p:spPr>
          <a:xfrm>
            <a:off x="418463" y="1245245"/>
            <a:ext cx="5486400" cy="1169551"/>
          </a:xfrm>
          <a:prstGeom prst="rect">
            <a:avLst/>
          </a:prstGeom>
          <a:noFill/>
        </p:spPr>
        <p:txBody>
          <a:bodyPr wrap="square">
            <a:spAutoFit/>
          </a:bodyPr>
          <a:lstStyle/>
          <a:p>
            <a:pPr algn="just"/>
            <a:r>
              <a:rPr lang="it-IT" sz="1400" b="0" i="0" dirty="0">
                <a:latin typeface="Calibri"/>
              </a:rPr>
              <a:t>Fattorizza la logica comune a tutti i comandi mutanti, cambia solo la funzione specifica che viene eseguita alla fine.</a:t>
            </a:r>
          </a:p>
          <a:p>
            <a:pPr algn="just"/>
            <a:r>
              <a:rPr lang="it-IT" sz="1400" b="0" i="0" dirty="0">
                <a:latin typeface="Calibri"/>
              </a:rPr>
              <a:t>Invece di duplicare la logica di </a:t>
            </a:r>
            <a:r>
              <a:rPr lang="it-IT" sz="1400" b="0" i="0" dirty="0" err="1">
                <a:latin typeface="Calibri"/>
              </a:rPr>
              <a:t>dedup</a:t>
            </a:r>
            <a:r>
              <a:rPr lang="it-IT" sz="1400" b="0" i="0" dirty="0">
                <a:latin typeface="Calibri"/>
              </a:rPr>
              <a:t>  in 3 </a:t>
            </a:r>
            <a:r>
              <a:rPr lang="it-IT" sz="1400" b="0" i="0" dirty="0" err="1">
                <a:latin typeface="Calibri"/>
              </a:rPr>
              <a:t>handler</a:t>
            </a:r>
            <a:r>
              <a:rPr lang="it-IT" sz="1400" b="0" i="0" dirty="0">
                <a:latin typeface="Calibri"/>
              </a:rPr>
              <a:t> diversi, ognuno dei comandi chiama _</a:t>
            </a:r>
            <a:r>
              <a:rPr lang="it-IT" sz="1400" b="0" i="0" dirty="0" err="1">
                <a:latin typeface="Calibri"/>
              </a:rPr>
              <a:t>dispatch_idempotent</a:t>
            </a:r>
            <a:r>
              <a:rPr lang="it-IT" sz="1400" b="0" i="0" dirty="0">
                <a:latin typeface="Calibri"/>
              </a:rPr>
              <a:t> passando come </a:t>
            </a:r>
            <a:r>
              <a:rPr lang="it-IT" sz="1400" b="0" i="0" dirty="0" err="1">
                <a:latin typeface="Calibri"/>
              </a:rPr>
              <a:t>paramentro</a:t>
            </a:r>
            <a:r>
              <a:rPr lang="it-IT" sz="1400" b="0" i="0" dirty="0">
                <a:latin typeface="Calibri"/>
              </a:rPr>
              <a:t> </a:t>
            </a:r>
            <a:r>
              <a:rPr lang="it-IT" sz="1400" b="0" i="0" dirty="0" err="1">
                <a:latin typeface="Calibri"/>
              </a:rPr>
              <a:t>fn</a:t>
            </a:r>
            <a:r>
              <a:rPr lang="it-IT" sz="1400" b="0" i="0" dirty="0">
                <a:latin typeface="Calibri"/>
              </a:rPr>
              <a:t> che rappresenta l’operazione specifica da eseguire.</a:t>
            </a: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IMPLEMENTAZIONE</a:t>
            </a:r>
            <a:endParaRPr lang="en-US" sz="1200" dirty="0"/>
          </a:p>
        </p:txBody>
      </p:sp>
      <p:sp>
        <p:nvSpPr>
          <p:cNvPr id="3" name="Text 1"/>
          <p:cNvSpPr/>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Lock globale e garbage collection</a:t>
            </a:r>
            <a:endParaRPr lang="en-US" sz="3000" dirty="0"/>
          </a:p>
        </p:txBody>
      </p:sp>
      <p:sp>
        <p:nvSpPr>
          <p:cNvPr id="4" name="Shape 2"/>
          <p:cNvSpPr/>
          <p:nvPr/>
        </p:nvSpPr>
        <p:spPr>
          <a:xfrm>
            <a:off x="548640" y="1463040"/>
            <a:ext cx="3566160" cy="1444752"/>
          </a:xfrm>
          <a:prstGeom prst="roundRect">
            <a:avLst>
              <a:gd name="adj" fmla="val 4000"/>
            </a:avLst>
          </a:prstGeom>
          <a:solidFill>
            <a:srgbClr val="F3F7F9"/>
          </a:solidFill>
          <a:ln/>
        </p:spPr>
        <p:txBody>
          <a:bodyPr/>
          <a:lstStyle/>
          <a:p>
            <a:endParaRPr lang="it-IT"/>
          </a:p>
        </p:txBody>
      </p:sp>
      <p:sp>
        <p:nvSpPr>
          <p:cNvPr id="6" name="Text 4"/>
          <p:cNvSpPr/>
          <p:nvPr/>
        </p:nvSpPr>
        <p:spPr>
          <a:xfrm>
            <a:off x="777240" y="1691640"/>
            <a:ext cx="502920" cy="502920"/>
          </a:xfrm>
          <a:prstGeom prst="rect">
            <a:avLst/>
          </a:prstGeom>
          <a:noFill/>
          <a:ln/>
        </p:spPr>
        <p:txBody>
          <a:bodyPr wrap="square" lIns="0" tIns="0" rIns="0" bIns="0" rtlCol="0" anchor="ctr"/>
          <a:lstStyle/>
          <a:p>
            <a:pPr marL="0" indent="0" algn="ctr">
              <a:buNone/>
            </a:pPr>
            <a:endParaRPr lang="en-US" sz="1800" dirty="0"/>
          </a:p>
        </p:txBody>
      </p:sp>
      <p:sp>
        <p:nvSpPr>
          <p:cNvPr id="7" name="Text 5"/>
          <p:cNvSpPr/>
          <p:nvPr/>
        </p:nvSpPr>
        <p:spPr>
          <a:xfrm>
            <a:off x="696217" y="1581912"/>
            <a:ext cx="3108960" cy="32004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Lock globale</a:t>
            </a:r>
            <a:endParaRPr lang="en-US" sz="1350" dirty="0"/>
          </a:p>
        </p:txBody>
      </p:sp>
      <p:sp>
        <p:nvSpPr>
          <p:cNvPr id="8" name="Text 6"/>
          <p:cNvSpPr/>
          <p:nvPr/>
        </p:nvSpPr>
        <p:spPr>
          <a:xfrm>
            <a:off x="696217" y="1961388"/>
            <a:ext cx="3108960" cy="594360"/>
          </a:xfrm>
          <a:prstGeom prst="rect">
            <a:avLst/>
          </a:prstGeom>
          <a:noFill/>
          <a:ln/>
        </p:spPr>
        <p:txBody>
          <a:bodyPr wrap="square" lIns="0" tIns="0" rIns="0" bIns="0" rtlCol="0" anchor="ctr"/>
          <a:lstStyle/>
          <a:p>
            <a:pPr marL="0" indent="0" algn="just">
              <a:lnSpc>
                <a:spcPct val="115000"/>
              </a:lnSpc>
              <a:buNone/>
            </a:pPr>
            <a:r>
              <a:rPr lang="en-US" sz="1080" dirty="0">
                <a:solidFill>
                  <a:srgbClr val="1E2430"/>
                </a:solidFill>
                <a:latin typeface="Calibri" pitchFamily="34" charset="0"/>
                <a:ea typeface="Calibri" pitchFamily="34" charset="-122"/>
                <a:cs typeface="Calibri" pitchFamily="34" charset="-120"/>
              </a:rPr>
              <a:t>Un solo threading.Lock protegge store e request_table: correttezza semplice, nessun rischio di deadlock per </a:t>
            </a:r>
            <a:r>
              <a:rPr lang="en-US" sz="1080" dirty="0" err="1">
                <a:solidFill>
                  <a:srgbClr val="1E2430"/>
                </a:solidFill>
                <a:latin typeface="Calibri" pitchFamily="34" charset="0"/>
                <a:ea typeface="Calibri" pitchFamily="34" charset="-122"/>
                <a:cs typeface="Calibri" pitchFamily="34" charset="-120"/>
              </a:rPr>
              <a:t>ordine</a:t>
            </a:r>
            <a:r>
              <a:rPr lang="en-US" sz="1080" dirty="0">
                <a:solidFill>
                  <a:srgbClr val="1E2430"/>
                </a:solidFill>
                <a:latin typeface="Calibri" pitchFamily="34" charset="0"/>
                <a:ea typeface="Calibri" pitchFamily="34" charset="-122"/>
                <a:cs typeface="Calibri" pitchFamily="34" charset="-120"/>
              </a:rPr>
              <a:t> di </a:t>
            </a:r>
            <a:r>
              <a:rPr lang="en-US" sz="1080" dirty="0" err="1">
                <a:solidFill>
                  <a:srgbClr val="1E2430"/>
                </a:solidFill>
                <a:latin typeface="Calibri" pitchFamily="34" charset="0"/>
                <a:ea typeface="Calibri" pitchFamily="34" charset="-122"/>
                <a:cs typeface="Calibri" pitchFamily="34" charset="-120"/>
              </a:rPr>
              <a:t>acquisizione</a:t>
            </a:r>
            <a:r>
              <a:rPr lang="en-US" sz="1080" dirty="0">
                <a:solidFill>
                  <a:srgbClr val="1E2430"/>
                </a:solidFill>
                <a:latin typeface="Calibri" pitchFamily="34" charset="0"/>
                <a:ea typeface="Calibri" pitchFamily="34" charset="-122"/>
                <a:cs typeface="Calibri" pitchFamily="34" charset="-120"/>
              </a:rPr>
              <a:t> e ogni </a:t>
            </a:r>
            <a:r>
              <a:rPr lang="en-US" sz="1080" dirty="0" err="1">
                <a:solidFill>
                  <a:srgbClr val="1E2430"/>
                </a:solidFill>
                <a:latin typeface="Calibri" pitchFamily="34" charset="0"/>
                <a:ea typeface="Calibri" pitchFamily="34" charset="-122"/>
                <a:cs typeface="Calibri" pitchFamily="34" charset="-120"/>
              </a:rPr>
              <a:t>operazione</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mutante</a:t>
            </a:r>
            <a:r>
              <a:rPr lang="en-US" sz="1080" dirty="0">
                <a:solidFill>
                  <a:srgbClr val="1E2430"/>
                </a:solidFill>
                <a:latin typeface="Calibri" pitchFamily="34" charset="0"/>
                <a:ea typeface="Calibri" pitchFamily="34" charset="-122"/>
                <a:cs typeface="Calibri" pitchFamily="34" charset="-120"/>
              </a:rPr>
              <a:t> è </a:t>
            </a:r>
            <a:r>
              <a:rPr lang="en-US" sz="1080" dirty="0" err="1">
                <a:solidFill>
                  <a:srgbClr val="1E2430"/>
                </a:solidFill>
                <a:latin typeface="Calibri" pitchFamily="34" charset="0"/>
                <a:ea typeface="Calibri" pitchFamily="34" charset="-122"/>
                <a:cs typeface="Calibri" pitchFamily="34" charset="-120"/>
              </a:rPr>
              <a:t>serializzata</a:t>
            </a:r>
            <a:r>
              <a:rPr lang="en-US" sz="1080" dirty="0">
                <a:solidFill>
                  <a:srgbClr val="1E2430"/>
                </a:solidFill>
                <a:latin typeface="Calibri" pitchFamily="34" charset="0"/>
                <a:ea typeface="Calibri" pitchFamily="34" charset="-122"/>
                <a:cs typeface="Calibri" pitchFamily="34" charset="-120"/>
              </a:rPr>
              <a:t> rispetto alle </a:t>
            </a:r>
            <a:r>
              <a:rPr lang="en-US" sz="1080" dirty="0" err="1">
                <a:solidFill>
                  <a:srgbClr val="1E2430"/>
                </a:solidFill>
                <a:latin typeface="Calibri" pitchFamily="34" charset="0"/>
                <a:ea typeface="Calibri" pitchFamily="34" charset="-122"/>
                <a:cs typeface="Calibri" pitchFamily="34" charset="-120"/>
              </a:rPr>
              <a:t>altre</a:t>
            </a:r>
            <a:r>
              <a:rPr lang="en-US" sz="1080" dirty="0">
                <a:solidFill>
                  <a:srgbClr val="1E2430"/>
                </a:solidFill>
                <a:latin typeface="Calibri" pitchFamily="34" charset="0"/>
                <a:ea typeface="Calibri" pitchFamily="34" charset="-122"/>
                <a:cs typeface="Calibri" pitchFamily="34" charset="-120"/>
              </a:rPr>
              <a:t>, a scapito del throughput.</a:t>
            </a:r>
            <a:endParaRPr lang="en-US" sz="1080" dirty="0"/>
          </a:p>
        </p:txBody>
      </p:sp>
      <p:sp>
        <p:nvSpPr>
          <p:cNvPr id="9" name="Shape 7"/>
          <p:cNvSpPr/>
          <p:nvPr/>
        </p:nvSpPr>
        <p:spPr>
          <a:xfrm>
            <a:off x="4297680" y="1463040"/>
            <a:ext cx="3566160" cy="1444752"/>
          </a:xfrm>
          <a:prstGeom prst="roundRect">
            <a:avLst>
              <a:gd name="adj" fmla="val 4000"/>
            </a:avLst>
          </a:prstGeom>
          <a:solidFill>
            <a:srgbClr val="F3F7F9"/>
          </a:solidFill>
          <a:ln/>
        </p:spPr>
        <p:txBody>
          <a:bodyPr/>
          <a:lstStyle/>
          <a:p>
            <a:endParaRPr lang="it-IT"/>
          </a:p>
        </p:txBody>
      </p:sp>
      <p:sp>
        <p:nvSpPr>
          <p:cNvPr id="11" name="Text 9"/>
          <p:cNvSpPr/>
          <p:nvPr/>
        </p:nvSpPr>
        <p:spPr>
          <a:xfrm>
            <a:off x="4526280" y="1691640"/>
            <a:ext cx="502920" cy="502920"/>
          </a:xfrm>
          <a:prstGeom prst="rect">
            <a:avLst/>
          </a:prstGeom>
          <a:noFill/>
          <a:ln/>
        </p:spPr>
        <p:txBody>
          <a:bodyPr wrap="square" lIns="0" tIns="0" rIns="0" bIns="0" rtlCol="0" anchor="ctr"/>
          <a:lstStyle/>
          <a:p>
            <a:pPr marL="0" indent="0" algn="ctr">
              <a:buNone/>
            </a:pPr>
            <a:endParaRPr lang="en-US" sz="1800" dirty="0"/>
          </a:p>
        </p:txBody>
      </p:sp>
      <p:sp>
        <p:nvSpPr>
          <p:cNvPr id="12" name="Text 10"/>
          <p:cNvSpPr/>
          <p:nvPr/>
        </p:nvSpPr>
        <p:spPr>
          <a:xfrm>
            <a:off x="4480560" y="1499616"/>
            <a:ext cx="3108960" cy="32004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GC a sliding window</a:t>
            </a:r>
            <a:endParaRPr lang="en-US" sz="1350" dirty="0"/>
          </a:p>
        </p:txBody>
      </p:sp>
      <p:sp>
        <p:nvSpPr>
          <p:cNvPr id="13" name="Text 11"/>
          <p:cNvSpPr/>
          <p:nvPr/>
        </p:nvSpPr>
        <p:spPr>
          <a:xfrm>
            <a:off x="4526280" y="2066544"/>
            <a:ext cx="3108960" cy="594360"/>
          </a:xfrm>
          <a:prstGeom prst="rect">
            <a:avLst/>
          </a:prstGeom>
          <a:noFill/>
          <a:ln/>
        </p:spPr>
        <p:txBody>
          <a:bodyPr wrap="square" lIns="0" tIns="0" rIns="0" bIns="0" rtlCol="0" anchor="ctr"/>
          <a:lstStyle/>
          <a:p>
            <a:pPr marL="0" indent="0">
              <a:lnSpc>
                <a:spcPct val="115000"/>
              </a:lnSpc>
              <a:buNone/>
            </a:pPr>
            <a:r>
              <a:rPr lang="en-US" sz="1080" dirty="0" err="1">
                <a:solidFill>
                  <a:srgbClr val="1E2430"/>
                </a:solidFill>
                <a:latin typeface="Calibri" pitchFamily="34" charset="0"/>
                <a:ea typeface="Calibri" pitchFamily="34" charset="-122"/>
                <a:cs typeface="Calibri" pitchFamily="34" charset="-120"/>
              </a:rPr>
              <a:t>Rigurda</a:t>
            </a:r>
            <a:r>
              <a:rPr lang="en-US" sz="1080" dirty="0">
                <a:solidFill>
                  <a:srgbClr val="1E2430"/>
                </a:solidFill>
                <a:latin typeface="Calibri" pitchFamily="34" charset="0"/>
                <a:ea typeface="Calibri" pitchFamily="34" charset="-122"/>
                <a:cs typeface="Calibri" pitchFamily="34" charset="-120"/>
              </a:rPr>
              <a:t> la GC della </a:t>
            </a:r>
            <a:r>
              <a:rPr lang="en-US" sz="1080" dirty="0" err="1">
                <a:solidFill>
                  <a:srgbClr val="1E2430"/>
                </a:solidFill>
                <a:latin typeface="Calibri" pitchFamily="34" charset="0"/>
                <a:ea typeface="Calibri" pitchFamily="34" charset="-122"/>
                <a:cs typeface="Calibri" pitchFamily="34" charset="-120"/>
              </a:rPr>
              <a:t>request_table</a:t>
            </a:r>
            <a:r>
              <a:rPr lang="en-US" sz="1080" dirty="0">
                <a:solidFill>
                  <a:srgbClr val="1E2430"/>
                </a:solidFill>
                <a:latin typeface="Calibri" pitchFamily="34" charset="0"/>
                <a:ea typeface="Calibri" pitchFamily="34" charset="-122"/>
                <a:cs typeface="Calibri" pitchFamily="34" charset="-120"/>
              </a:rPr>
              <a:t>, non </a:t>
            </a:r>
            <a:r>
              <a:rPr lang="en-US" sz="1080" dirty="0" err="1">
                <a:solidFill>
                  <a:srgbClr val="1E2430"/>
                </a:solidFill>
                <a:latin typeface="Calibri" pitchFamily="34" charset="0"/>
                <a:ea typeface="Calibri" pitchFamily="34" charset="-122"/>
                <a:cs typeface="Calibri" pitchFamily="34" charset="-120"/>
              </a:rPr>
              <a:t>abbiamo</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una</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pulizia</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periodica</a:t>
            </a:r>
            <a:r>
              <a:rPr lang="en-US" sz="1080" dirty="0">
                <a:solidFill>
                  <a:srgbClr val="1E2430"/>
                </a:solidFill>
                <a:latin typeface="Calibri" pitchFamily="34" charset="0"/>
                <a:ea typeface="Calibri" pitchFamily="34" charset="-122"/>
                <a:cs typeface="Calibri" pitchFamily="34" charset="-120"/>
              </a:rPr>
              <a:t> ma la GC è </a:t>
            </a:r>
            <a:r>
              <a:rPr lang="en-US" sz="1080" dirty="0" err="1">
                <a:solidFill>
                  <a:srgbClr val="1E2430"/>
                </a:solidFill>
                <a:latin typeface="Calibri" pitchFamily="34" charset="0"/>
                <a:ea typeface="Calibri" pitchFamily="34" charset="-122"/>
                <a:cs typeface="Calibri" pitchFamily="34" charset="-120"/>
              </a:rPr>
              <a:t>dentro</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save_and_gc</a:t>
            </a:r>
            <a:r>
              <a:rPr lang="en-US" sz="1080" dirty="0">
                <a:solidFill>
                  <a:srgbClr val="1E2430"/>
                </a:solidFill>
                <a:latin typeface="Calibri" pitchFamily="34" charset="0"/>
                <a:ea typeface="Calibri" pitchFamily="34" charset="-122"/>
                <a:cs typeface="Calibri" pitchFamily="34" charset="-120"/>
              </a:rPr>
              <a:t>. Il </a:t>
            </a:r>
            <a:r>
              <a:rPr lang="en-US" sz="1080" dirty="0" err="1">
                <a:solidFill>
                  <a:srgbClr val="1E2430"/>
                </a:solidFill>
                <a:latin typeface="Calibri" pitchFamily="34" charset="0"/>
                <a:ea typeface="Calibri" pitchFamily="34" charset="-122"/>
                <a:cs typeface="Calibri" pitchFamily="34" charset="-120"/>
              </a:rPr>
              <a:t>meccanismo</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si</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basa</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su</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una</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finestra</a:t>
            </a:r>
            <a:r>
              <a:rPr lang="en-US" sz="1080" dirty="0">
                <a:solidFill>
                  <a:srgbClr val="1E2430"/>
                </a:solidFill>
                <a:latin typeface="Calibri" pitchFamily="34" charset="0"/>
                <a:ea typeface="Calibri" pitchFamily="34" charset="-122"/>
                <a:cs typeface="Calibri" pitchFamily="34" charset="-120"/>
              </a:rPr>
              <a:t> </a:t>
            </a:r>
            <a:r>
              <a:rPr lang="en-US" sz="1080" dirty="0" err="1">
                <a:solidFill>
                  <a:srgbClr val="1E2430"/>
                </a:solidFill>
                <a:latin typeface="Calibri" pitchFamily="34" charset="0"/>
                <a:ea typeface="Calibri" pitchFamily="34" charset="-122"/>
                <a:cs typeface="Calibri" pitchFamily="34" charset="-120"/>
              </a:rPr>
              <a:t>scorrevole</a:t>
            </a:r>
            <a:r>
              <a:rPr lang="en-US" sz="1080" dirty="0">
                <a:solidFill>
                  <a:srgbClr val="1E2430"/>
                </a:solidFill>
                <a:latin typeface="Calibri" pitchFamily="34" charset="0"/>
                <a:ea typeface="Calibri" pitchFamily="34" charset="-122"/>
                <a:cs typeface="Calibri" pitchFamily="34" charset="-120"/>
              </a:rPr>
              <a:t>:</a:t>
            </a:r>
          </a:p>
          <a:p>
            <a:pPr marL="0" indent="0">
              <a:lnSpc>
                <a:spcPct val="115000"/>
              </a:lnSpc>
              <a:buNone/>
            </a:pPr>
            <a:r>
              <a:rPr lang="en-US" sz="1080" dirty="0">
                <a:solidFill>
                  <a:srgbClr val="1E2430"/>
                </a:solidFill>
                <a:latin typeface="Calibri" pitchFamily="34" charset="0"/>
                <a:ea typeface="Calibri" pitchFamily="34" charset="-122"/>
                <a:cs typeface="Calibri" pitchFamily="34" charset="-120"/>
              </a:rPr>
              <a:t>AX_WINDOW=100 entry per client, le più vecchie vengono rimosse durante l'inserimento, senza thread dedicato.</a:t>
            </a:r>
            <a:endParaRPr lang="en-US" sz="1080" dirty="0"/>
          </a:p>
        </p:txBody>
      </p:sp>
      <p:sp>
        <p:nvSpPr>
          <p:cNvPr id="14" name="Shape 12"/>
          <p:cNvSpPr/>
          <p:nvPr/>
        </p:nvSpPr>
        <p:spPr>
          <a:xfrm>
            <a:off x="8046720" y="1463040"/>
            <a:ext cx="3566160" cy="1444752"/>
          </a:xfrm>
          <a:prstGeom prst="roundRect">
            <a:avLst>
              <a:gd name="adj" fmla="val 4000"/>
            </a:avLst>
          </a:prstGeom>
          <a:solidFill>
            <a:srgbClr val="F3F7F9"/>
          </a:solidFill>
          <a:ln/>
        </p:spPr>
        <p:txBody>
          <a:bodyPr/>
          <a:lstStyle/>
          <a:p>
            <a:endParaRPr lang="it-IT"/>
          </a:p>
        </p:txBody>
      </p:sp>
      <p:sp>
        <p:nvSpPr>
          <p:cNvPr id="16" name="Text 14"/>
          <p:cNvSpPr/>
          <p:nvPr/>
        </p:nvSpPr>
        <p:spPr>
          <a:xfrm>
            <a:off x="8275320" y="1691640"/>
            <a:ext cx="502920" cy="502920"/>
          </a:xfrm>
          <a:prstGeom prst="rect">
            <a:avLst/>
          </a:prstGeom>
          <a:noFill/>
          <a:ln/>
        </p:spPr>
        <p:txBody>
          <a:bodyPr wrap="square" lIns="0" tIns="0" rIns="0" bIns="0" rtlCol="0" anchor="ctr"/>
          <a:lstStyle/>
          <a:p>
            <a:pPr marL="0" indent="0" algn="ctr">
              <a:buNone/>
            </a:pPr>
            <a:endParaRPr lang="en-US" sz="1800" dirty="0"/>
          </a:p>
        </p:txBody>
      </p:sp>
      <p:sp>
        <p:nvSpPr>
          <p:cNvPr id="17" name="Text 15"/>
          <p:cNvSpPr/>
          <p:nvPr/>
        </p:nvSpPr>
        <p:spPr>
          <a:xfrm>
            <a:off x="8229600" y="1562119"/>
            <a:ext cx="3108960" cy="32004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Multi-thread e ACK</a:t>
            </a:r>
            <a:endParaRPr lang="en-US" sz="1350" dirty="0"/>
          </a:p>
        </p:txBody>
      </p:sp>
      <p:sp>
        <p:nvSpPr>
          <p:cNvPr id="18" name="Text 16"/>
          <p:cNvSpPr/>
          <p:nvPr/>
        </p:nvSpPr>
        <p:spPr>
          <a:xfrm>
            <a:off x="8229600" y="1992639"/>
            <a:ext cx="3108960" cy="594360"/>
          </a:xfrm>
          <a:prstGeom prst="rect">
            <a:avLst/>
          </a:prstGeom>
          <a:noFill/>
          <a:ln/>
        </p:spPr>
        <p:txBody>
          <a:bodyPr wrap="square" lIns="0" tIns="0" rIns="0" bIns="0" rtlCol="0" anchor="ctr"/>
          <a:lstStyle/>
          <a:p>
            <a:pPr marL="0" indent="0">
              <a:lnSpc>
                <a:spcPct val="115000"/>
              </a:lnSpc>
              <a:buNone/>
            </a:pPr>
            <a:r>
              <a:rPr lang="en-US" sz="1080" dirty="0">
                <a:solidFill>
                  <a:srgbClr val="1E2430"/>
                </a:solidFill>
                <a:latin typeface="Calibri" pitchFamily="34" charset="0"/>
                <a:ea typeface="Calibri" pitchFamily="34" charset="-122"/>
                <a:cs typeface="Calibri" pitchFamily="34" charset="-120"/>
              </a:rPr>
              <a:t>Un thread daemon per connessione. Il comando ACK permette la pulizia immediata delle entry con seq ≤ ack.</a:t>
            </a:r>
            <a:endParaRPr lang="en-US" sz="1080" dirty="0"/>
          </a:p>
        </p:txBody>
      </p:sp>
      <p:sp>
        <p:nvSpPr>
          <p:cNvPr id="19" name="Shape 17"/>
          <p:cNvSpPr/>
          <p:nvPr/>
        </p:nvSpPr>
        <p:spPr>
          <a:xfrm>
            <a:off x="548640" y="3035808"/>
            <a:ext cx="11064240" cy="3822192"/>
          </a:xfrm>
          <a:prstGeom prst="roundRect">
            <a:avLst>
              <a:gd name="adj" fmla="val 2623"/>
            </a:avLst>
          </a:prstGeom>
          <a:solidFill>
            <a:srgbClr val="1E2430"/>
          </a:solidFill>
          <a:ln/>
          <a:effectLst>
            <a:outerShdw blurRad="101600" dist="38100" dir="5400000" algn="bl" rotWithShape="0">
              <a:srgbClr val="000000">
                <a:alpha val="18000"/>
              </a:srgbClr>
            </a:outerShdw>
          </a:effectLst>
        </p:spPr>
        <p:txBody>
          <a:bodyPr/>
          <a:lstStyle/>
          <a:p>
            <a:endParaRPr lang="it-IT"/>
          </a:p>
        </p:txBody>
      </p:sp>
      <p:sp>
        <p:nvSpPr>
          <p:cNvPr id="20" name="Text 18"/>
          <p:cNvSpPr/>
          <p:nvPr/>
        </p:nvSpPr>
        <p:spPr>
          <a:xfrm>
            <a:off x="667512" y="3158384"/>
            <a:ext cx="10552176" cy="2423160"/>
          </a:xfrm>
          <a:prstGeom prst="rect">
            <a:avLst/>
          </a:prstGeom>
          <a:noFill/>
          <a:ln/>
        </p:spPr>
        <p:txBody>
          <a:bodyPr wrap="square" lIns="0" tIns="0" rIns="0" bIns="0" rtlCol="0" anchor="t"/>
          <a:lstStyle/>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def _save_and_gc(self, client_id, seq, response):</a:t>
            </a:r>
          </a:p>
          <a:p>
            <a:pPr marL="0" indent="0">
              <a:lnSpc>
                <a:spcPct val="118000"/>
              </a:lnSpc>
              <a:buNone/>
            </a:pPr>
            <a:r>
              <a:rPr lang="en-US" sz="1200" dirty="0">
                <a:solidFill>
                  <a:srgbClr val="E8EEF2"/>
                </a:solidFill>
                <a:latin typeface="Courier New" pitchFamily="34" charset="0"/>
                <a:cs typeface="Courier New" pitchFamily="34" charset="-120"/>
              </a:rPr>
              <a:t>    if </a:t>
            </a:r>
            <a:r>
              <a:rPr lang="en-US" sz="1200" dirty="0" err="1">
                <a:solidFill>
                  <a:srgbClr val="E8EEF2"/>
                </a:solidFill>
                <a:latin typeface="Courier New" pitchFamily="34" charset="0"/>
                <a:cs typeface="Courier New" pitchFamily="34" charset="-120"/>
              </a:rPr>
              <a:t>client_id</a:t>
            </a:r>
            <a:r>
              <a:rPr lang="en-US" sz="1200" dirty="0">
                <a:solidFill>
                  <a:srgbClr val="E8EEF2"/>
                </a:solidFill>
                <a:latin typeface="Courier New" pitchFamily="34" charset="0"/>
                <a:cs typeface="Courier New" pitchFamily="34" charset="-120"/>
              </a:rPr>
              <a:t> not in self._</a:t>
            </a:r>
            <a:r>
              <a:rPr lang="en-US" sz="1200" dirty="0" err="1">
                <a:solidFill>
                  <a:srgbClr val="E8EEF2"/>
                </a:solidFill>
                <a:latin typeface="Courier New" pitchFamily="34" charset="0"/>
                <a:cs typeface="Courier New" pitchFamily="34" charset="-120"/>
              </a:rPr>
              <a:t>request_table</a:t>
            </a:r>
            <a:r>
              <a:rPr lang="en-US" sz="1200" dirty="0">
                <a:solidFill>
                  <a:srgbClr val="E8EEF2"/>
                </a:solidFill>
                <a:latin typeface="Courier New" pitchFamily="34" charset="0"/>
                <a:cs typeface="Courier New" pitchFamily="34" charset="-120"/>
              </a:rPr>
              <a:t>:</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self._</a:t>
            </a:r>
            <a:r>
              <a:rPr lang="en-US" sz="1200" dirty="0" err="1">
                <a:solidFill>
                  <a:srgbClr val="E8EEF2"/>
                </a:solidFill>
                <a:latin typeface="Courier New" pitchFamily="34" charset="0"/>
                <a:ea typeface="Courier New" pitchFamily="34" charset="-122"/>
                <a:cs typeface="Courier New" pitchFamily="34" charset="-120"/>
              </a:rPr>
              <a:t>request_table</a:t>
            </a:r>
            <a:r>
              <a:rPr lang="en-US" sz="1200" dirty="0">
                <a:solidFill>
                  <a:srgbClr val="E8EEF2"/>
                </a:solidFill>
                <a:latin typeface="Courier New" pitchFamily="34" charset="0"/>
                <a:ea typeface="Courier New" pitchFamily="34" charset="-122"/>
                <a:cs typeface="Courier New" pitchFamily="34" charset="-120"/>
              </a:rPr>
              <a:t>. [</a:t>
            </a:r>
            <a:r>
              <a:rPr lang="en-US" sz="1200" dirty="0" err="1">
                <a:solidFill>
                  <a:srgbClr val="E8EEF2"/>
                </a:solidFill>
                <a:latin typeface="Courier New" pitchFamily="34" charset="0"/>
                <a:ea typeface="Courier New" pitchFamily="34" charset="-122"/>
                <a:cs typeface="Courier New" pitchFamily="34" charset="-120"/>
              </a:rPr>
              <a:t>client_id</a:t>
            </a:r>
            <a:r>
              <a:rPr lang="en-US" sz="1200" dirty="0">
                <a:solidFill>
                  <a:srgbClr val="E8EEF2"/>
                </a:solidFill>
                <a:latin typeface="Courier New" pitchFamily="34" charset="0"/>
                <a:ea typeface="Courier New" pitchFamily="34" charset="-122"/>
                <a:cs typeface="Courier New" pitchFamily="34" charset="-120"/>
              </a:rPr>
              <a:t>]= {}</a:t>
            </a:r>
          </a:p>
          <a:p>
            <a:pPr marL="0" indent="0">
              <a:lnSpc>
                <a:spcPct val="118000"/>
              </a:lnSpc>
              <a:buNone/>
            </a:pPr>
            <a:r>
              <a:rPr lang="en-US" sz="1200" dirty="0">
                <a:solidFill>
                  <a:srgbClr val="E8EEF2"/>
                </a:solidFill>
                <a:latin typeface="Courier New" pitchFamily="34" charset="0"/>
                <a:cs typeface="Courier New" pitchFamily="34" charset="-120"/>
              </a:rPr>
              <a:t>    </a:t>
            </a:r>
          </a:p>
          <a:p>
            <a:pPr marL="0" indent="0">
              <a:lnSpc>
                <a:spcPct val="118000"/>
              </a:lnSpc>
              <a:buNone/>
            </a:pPr>
            <a:r>
              <a:rPr lang="en-US" sz="1200" dirty="0">
                <a:solidFill>
                  <a:srgbClr val="E8EEF2"/>
                </a:solidFill>
                <a:latin typeface="Courier New" pitchFamily="34" charset="0"/>
                <a:cs typeface="Courier New" pitchFamily="34" charset="-120"/>
              </a:rPr>
              <a:t>    self._</a:t>
            </a:r>
            <a:r>
              <a:rPr lang="en-US" sz="1200" dirty="0" err="1">
                <a:solidFill>
                  <a:srgbClr val="E8EEF2"/>
                </a:solidFill>
                <a:latin typeface="Courier New" pitchFamily="34" charset="0"/>
                <a:cs typeface="Courier New" pitchFamily="34" charset="-120"/>
              </a:rPr>
              <a:t>request_table</a:t>
            </a:r>
            <a:r>
              <a:rPr lang="en-US" sz="1200" dirty="0">
                <a:solidFill>
                  <a:srgbClr val="E8EEF2"/>
                </a:solidFill>
                <a:latin typeface="Courier New" pitchFamily="34" charset="0"/>
                <a:cs typeface="Courier New" pitchFamily="34" charset="-120"/>
              </a:rPr>
              <a:t>[</a:t>
            </a:r>
            <a:r>
              <a:rPr lang="en-US" sz="1200" dirty="0" err="1">
                <a:solidFill>
                  <a:srgbClr val="E8EEF2"/>
                </a:solidFill>
                <a:latin typeface="Courier New" pitchFamily="34" charset="0"/>
                <a:cs typeface="Courier New" pitchFamily="34" charset="-120"/>
              </a:rPr>
              <a:t>client_id</a:t>
            </a:r>
            <a:r>
              <a:rPr lang="en-US" sz="1200" dirty="0">
                <a:solidFill>
                  <a:srgbClr val="E8EEF2"/>
                </a:solidFill>
                <a:latin typeface="Courier New" pitchFamily="34" charset="0"/>
                <a:cs typeface="Courier New" pitchFamily="34" charset="-120"/>
              </a:rPr>
              <a:t>][]=response</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table = self._request_table[client_id]</a:t>
            </a:r>
            <a:endParaRPr lang="en-US" sz="1200" dirty="0"/>
          </a:p>
          <a:p>
            <a:pPr marL="0" indent="0">
              <a:lnSpc>
                <a:spcPct val="118000"/>
              </a:lnSpc>
              <a:buNone/>
            </a:pPr>
            <a:endParaRPr lang="en-US" sz="1200" dirty="0"/>
          </a:p>
          <a:p>
            <a:pPr marL="0" indent="0">
              <a:lnSpc>
                <a:spcPct val="118000"/>
              </a:lnSpc>
              <a:buNone/>
            </a:pPr>
            <a:r>
              <a:rPr lang="en-US" sz="1200" dirty="0">
                <a:solidFill>
                  <a:srgbClr val="7FD1C9"/>
                </a:solidFill>
                <a:latin typeface="Courier New" pitchFamily="34" charset="0"/>
                <a:ea typeface="Courier New" pitchFamily="34" charset="-122"/>
                <a:cs typeface="Courier New" pitchFamily="34" charset="-120"/>
              </a:rPr>
              <a:t>    if len(table) &gt; self._max_window:</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sorted_seqs = sorted(table.keys())</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to_remove = len(table) - self._max_window</a:t>
            </a:r>
            <a:endParaRPr lang="en-US" sz="1200" dirty="0"/>
          </a:p>
          <a:p>
            <a:pPr marL="0" indent="0">
              <a:lnSpc>
                <a:spcPct val="118000"/>
              </a:lnSpc>
              <a:buNone/>
            </a:pPr>
            <a:r>
              <a:rPr lang="en-US" sz="1200" dirty="0">
                <a:solidFill>
                  <a:schemeClr val="bg1"/>
                </a:solidFill>
                <a:latin typeface="Courier New" pitchFamily="34" charset="0"/>
                <a:ea typeface="Courier New" pitchFamily="34" charset="-122"/>
                <a:cs typeface="Courier New" pitchFamily="34" charset="-120"/>
              </a:rPr>
              <a:t>        for s in sorted_seqs[:to_remove]:      # rimuove le più vecchie</a:t>
            </a:r>
            <a:endParaRPr lang="en-US" sz="1200" dirty="0">
              <a:solidFill>
                <a:schemeClr val="bg1"/>
              </a:solidFill>
            </a:endParaRPr>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del table[s]</a:t>
            </a:r>
          </a:p>
          <a:p>
            <a:pPr marL="0" indent="0">
              <a:lnSpc>
                <a:spcPct val="118000"/>
              </a:lnSpc>
              <a:buNone/>
            </a:pP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new_ack = sorted_seqs[to_remove - 1]</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if new_ack &gt; self._client_ack.get(client_id, -1):</a:t>
            </a:r>
            <a:endParaRPr lang="en-US" sz="1200" dirty="0"/>
          </a:p>
          <a:p>
            <a:pPr marL="0" indent="0">
              <a:lnSpc>
                <a:spcPct val="118000"/>
              </a:lnSpc>
              <a:buNone/>
            </a:pPr>
            <a:r>
              <a:rPr lang="en-US" sz="1200" dirty="0">
                <a:solidFill>
                  <a:srgbClr val="E8EEF2"/>
                </a:solidFill>
                <a:latin typeface="Courier New" pitchFamily="34" charset="0"/>
                <a:ea typeface="Courier New" pitchFamily="34" charset="-122"/>
                <a:cs typeface="Courier New" pitchFamily="34" charset="-120"/>
              </a:rPr>
              <a:t>            self._client_ack[client_id] = new_ack</a:t>
            </a:r>
            <a:endParaRPr lang="en-US" sz="1200" dirty="0"/>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IMPLEMENTAZIONE</a:t>
            </a:r>
            <a:endParaRPr lang="en-US" sz="1200" dirty="0"/>
          </a:p>
        </p:txBody>
      </p:sp>
      <p:sp>
        <p:nvSpPr>
          <p:cNvPr id="3" name="Text 1"/>
          <p:cNvSpPr/>
          <p:nvPr/>
        </p:nvSpPr>
        <p:spPr>
          <a:xfrm>
            <a:off x="548640" y="475488"/>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Il client: IdempotentClient</a:t>
            </a:r>
            <a:endParaRPr lang="en-US" sz="3000" dirty="0"/>
          </a:p>
        </p:txBody>
      </p:sp>
      <p:sp>
        <p:nvSpPr>
          <p:cNvPr id="4" name="Text 2"/>
          <p:cNvSpPr/>
          <p:nvPr/>
        </p:nvSpPr>
        <p:spPr>
          <a:xfrm>
            <a:off x="557225" y="1059894"/>
            <a:ext cx="5753987" cy="4600126"/>
          </a:xfrm>
          <a:prstGeom prst="rect">
            <a:avLst/>
          </a:prstGeom>
          <a:noFill/>
          <a:ln/>
        </p:spPr>
        <p:txBody>
          <a:bodyPr wrap="square" lIns="0" tIns="0" rIns="0" bIns="0" rtlCol="0" anchor="ctr"/>
          <a:lstStyle/>
          <a:p>
            <a:pPr>
              <a:lnSpc>
                <a:spcPct val="125000"/>
              </a:lnSpc>
              <a:spcAft>
                <a:spcPts val="800"/>
              </a:spcAft>
              <a:buSzPct val="100000"/>
            </a:pPr>
            <a:r>
              <a:rPr lang="en-US" sz="1300" dirty="0">
                <a:solidFill>
                  <a:srgbClr val="1E2430"/>
                </a:solidFill>
                <a:latin typeface="Calibri" pitchFamily="34" charset="0"/>
                <a:ea typeface="Calibri" pitchFamily="34" charset="-122"/>
                <a:cs typeface="Calibri" pitchFamily="34" charset="-120"/>
              </a:rPr>
              <a:t>Il </a:t>
            </a:r>
            <a:r>
              <a:rPr lang="en-US" sz="1300" dirty="0" err="1">
                <a:solidFill>
                  <a:srgbClr val="1E2430"/>
                </a:solidFill>
                <a:latin typeface="Calibri" pitchFamily="34" charset="0"/>
                <a:ea typeface="Calibri" pitchFamily="34" charset="-122"/>
                <a:cs typeface="Calibri" pitchFamily="34" charset="-120"/>
              </a:rPr>
              <a:t>suo</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compito</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principale</a:t>
            </a:r>
            <a:r>
              <a:rPr lang="en-US" sz="1300" dirty="0">
                <a:solidFill>
                  <a:srgbClr val="1E2430"/>
                </a:solidFill>
                <a:latin typeface="Calibri" pitchFamily="34" charset="0"/>
                <a:ea typeface="Calibri" pitchFamily="34" charset="-122"/>
                <a:cs typeface="Calibri" pitchFamily="34" charset="-120"/>
              </a:rPr>
              <a:t> è </a:t>
            </a:r>
            <a:r>
              <a:rPr lang="en-US" sz="1300" dirty="0" err="1">
                <a:solidFill>
                  <a:srgbClr val="1E2430"/>
                </a:solidFill>
                <a:latin typeface="Calibri" pitchFamily="34" charset="0"/>
                <a:ea typeface="Calibri" pitchFamily="34" charset="-122"/>
                <a:cs typeface="Calibri" pitchFamily="34" charset="-120"/>
              </a:rPr>
              <a:t>nascondere</a:t>
            </a:r>
            <a:r>
              <a:rPr lang="en-US" sz="1300" dirty="0">
                <a:solidFill>
                  <a:srgbClr val="1E2430"/>
                </a:solidFill>
                <a:latin typeface="Calibri" pitchFamily="34" charset="0"/>
                <a:ea typeface="Calibri" pitchFamily="34" charset="-122"/>
                <a:cs typeface="Calibri" pitchFamily="34" charset="-120"/>
              </a:rPr>
              <a:t> al </a:t>
            </a:r>
            <a:r>
              <a:rPr lang="en-US" sz="1300" dirty="0" err="1">
                <a:solidFill>
                  <a:srgbClr val="1E2430"/>
                </a:solidFill>
                <a:latin typeface="Calibri" pitchFamily="34" charset="0"/>
                <a:ea typeface="Calibri" pitchFamily="34" charset="-122"/>
                <a:cs typeface="Calibri" pitchFamily="34" charset="-120"/>
              </a:rPr>
              <a:t>chiamante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tutta</a:t>
            </a:r>
            <a:r>
              <a:rPr lang="en-US" sz="1300" dirty="0">
                <a:solidFill>
                  <a:srgbClr val="1E2430"/>
                </a:solidFill>
                <a:latin typeface="Calibri" pitchFamily="34" charset="0"/>
                <a:ea typeface="Calibri" pitchFamily="34" charset="-122"/>
                <a:cs typeface="Calibri" pitchFamily="34" charset="-120"/>
              </a:rPr>
              <a:t> la </a:t>
            </a:r>
            <a:r>
              <a:rPr lang="en-US" sz="1300" dirty="0" err="1">
                <a:solidFill>
                  <a:srgbClr val="1E2430"/>
                </a:solidFill>
                <a:latin typeface="Calibri" pitchFamily="34" charset="0"/>
                <a:ea typeface="Calibri" pitchFamily="34" charset="-122"/>
                <a:cs typeface="Calibri" pitchFamily="34" charset="-120"/>
              </a:rPr>
              <a:t>complessità</a:t>
            </a:r>
            <a:r>
              <a:rPr lang="en-US" sz="1300" dirty="0">
                <a:solidFill>
                  <a:srgbClr val="1E2430"/>
                </a:solidFill>
                <a:latin typeface="Calibri" pitchFamily="34" charset="0"/>
                <a:ea typeface="Calibri" pitchFamily="34" charset="-122"/>
                <a:cs typeface="Calibri" pitchFamily="34" charset="-120"/>
              </a:rPr>
              <a:t> della </a:t>
            </a:r>
            <a:r>
              <a:rPr lang="en-US" sz="1300" dirty="0" err="1">
                <a:solidFill>
                  <a:srgbClr val="1E2430"/>
                </a:solidFill>
                <a:latin typeface="Calibri" pitchFamily="34" charset="0"/>
                <a:ea typeface="Calibri" pitchFamily="34" charset="-122"/>
                <a:cs typeface="Calibri" pitchFamily="34" charset="-120"/>
              </a:rPr>
              <a:t>generazione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dei</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request_id</a:t>
            </a:r>
            <a:r>
              <a:rPr lang="en-US" sz="1300" dirty="0">
                <a:solidFill>
                  <a:srgbClr val="1E2430"/>
                </a:solidFill>
                <a:latin typeface="Calibri" pitchFamily="34" charset="0"/>
                <a:ea typeface="Calibri" pitchFamily="34" charset="-122"/>
                <a:cs typeface="Calibri" pitchFamily="34" charset="-120"/>
              </a:rPr>
              <a:t> e della </a:t>
            </a:r>
            <a:r>
              <a:rPr lang="en-US" sz="1300" dirty="0" err="1">
                <a:solidFill>
                  <a:srgbClr val="1E2430"/>
                </a:solidFill>
                <a:latin typeface="Calibri" pitchFamily="34" charset="0"/>
                <a:ea typeface="Calibri" pitchFamily="34" charset="-122"/>
                <a:cs typeface="Calibri" pitchFamily="34" charset="-120"/>
              </a:rPr>
              <a:t>gestione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dei</a:t>
            </a:r>
            <a:r>
              <a:rPr lang="en-US" sz="1300" dirty="0">
                <a:solidFill>
                  <a:srgbClr val="1E2430"/>
                </a:solidFill>
                <a:latin typeface="Calibri" pitchFamily="34" charset="0"/>
                <a:ea typeface="Calibri" pitchFamily="34" charset="-122"/>
                <a:cs typeface="Calibri" pitchFamily="34" charset="-120"/>
              </a:rPr>
              <a:t> retry.</a:t>
            </a:r>
          </a:p>
          <a:p>
            <a:pPr marL="342900" indent="-342900" algn="just">
              <a:lnSpc>
                <a:spcPct val="125000"/>
              </a:lnSpc>
              <a:spcAft>
                <a:spcPts val="800"/>
              </a:spcAft>
              <a:buSzPct val="100000"/>
              <a:buChar char="•"/>
            </a:pPr>
            <a:r>
              <a:rPr lang="en-US" sz="1300" dirty="0" err="1">
                <a:solidFill>
                  <a:srgbClr val="1E2430"/>
                </a:solidFill>
                <a:latin typeface="Calibri" pitchFamily="34" charset="0"/>
                <a:ea typeface="Calibri" pitchFamily="34" charset="-122"/>
                <a:cs typeface="Calibri" pitchFamily="34" charset="-120"/>
              </a:rPr>
              <a:t>Contatore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interno</a:t>
            </a:r>
            <a:r>
              <a:rPr lang="en-US" sz="1300" dirty="0">
                <a:solidFill>
                  <a:srgbClr val="1E2430"/>
                </a:solidFill>
                <a:latin typeface="Calibri" pitchFamily="34" charset="0"/>
                <a:ea typeface="Calibri" pitchFamily="34" charset="-122"/>
                <a:cs typeface="Calibri" pitchFamily="34" charset="-120"/>
              </a:rPr>
              <a:t> </a:t>
            </a:r>
            <a:r>
              <a:rPr lang="en-US" sz="1300" b="1" dirty="0">
                <a:solidFill>
                  <a:srgbClr val="1E2430"/>
                </a:solidFill>
                <a:latin typeface="Calibri" pitchFamily="34" charset="0"/>
                <a:ea typeface="Calibri" pitchFamily="34" charset="-122"/>
                <a:cs typeface="Calibri" pitchFamily="34" charset="-120"/>
              </a:rPr>
              <a:t>_seq </a:t>
            </a:r>
            <a:r>
              <a:rPr lang="en-US" sz="1300" dirty="0">
                <a:solidFill>
                  <a:srgbClr val="1E2430"/>
                </a:solidFill>
                <a:latin typeface="Calibri" pitchFamily="34" charset="0"/>
                <a:ea typeface="Calibri" pitchFamily="34" charset="-122"/>
                <a:cs typeface="Calibri" pitchFamily="34" charset="-120"/>
              </a:rPr>
              <a:t>monotono crescente per generare i </a:t>
            </a:r>
            <a:r>
              <a:rPr lang="en-US" sz="1300" dirty="0" err="1">
                <a:solidFill>
                  <a:srgbClr val="1E2430"/>
                </a:solidFill>
                <a:latin typeface="Calibri" pitchFamily="34" charset="0"/>
                <a:ea typeface="Calibri" pitchFamily="34" charset="-122"/>
                <a:cs typeface="Calibri" pitchFamily="34" charset="-120"/>
              </a:rPr>
              <a:t>request_id</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che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parte</a:t>
            </a:r>
            <a:r>
              <a:rPr lang="en-US" sz="1300" dirty="0">
                <a:solidFill>
                  <a:srgbClr val="1E2430"/>
                </a:solidFill>
                <a:latin typeface="Calibri" pitchFamily="34" charset="0"/>
                <a:ea typeface="Calibri" pitchFamily="34" charset="-122"/>
                <a:cs typeface="Calibri" pitchFamily="34" charset="-120"/>
              </a:rPr>
              <a:t> da 0 e non </a:t>
            </a:r>
            <a:r>
              <a:rPr lang="en-US" sz="1300" dirty="0" err="1">
                <a:solidFill>
                  <a:srgbClr val="1E2430"/>
                </a:solidFill>
                <a:latin typeface="Calibri" pitchFamily="34" charset="0"/>
                <a:ea typeface="Calibri" pitchFamily="34" charset="-122"/>
                <a:cs typeface="Calibri" pitchFamily="34" charset="-120"/>
              </a:rPr>
              <a:t>viene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mai</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decrementato</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anche</a:t>
            </a:r>
            <a:r>
              <a:rPr lang="en-US" sz="1300" dirty="0">
                <a:solidFill>
                  <a:srgbClr val="1E2430"/>
                </a:solidFill>
                <a:latin typeface="Calibri" pitchFamily="34" charset="0"/>
                <a:ea typeface="Calibri" pitchFamily="34" charset="-122"/>
                <a:cs typeface="Calibri" pitchFamily="34" charset="-120"/>
              </a:rPr>
              <a:t> se un </a:t>
            </a:r>
            <a:r>
              <a:rPr lang="en-US" sz="1300" dirty="0" err="1">
                <a:solidFill>
                  <a:srgbClr val="1E2430"/>
                </a:solidFill>
                <a:latin typeface="Calibri" pitchFamily="34" charset="0"/>
                <a:ea typeface="Calibri" pitchFamily="34" charset="-122"/>
                <a:cs typeface="Calibri" pitchFamily="34" charset="-120"/>
              </a:rPr>
              <a:t>tentativo</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fallisce</a:t>
            </a:r>
            <a:r>
              <a:rPr lang="en-US" sz="1300" dirty="0">
                <a:solidFill>
                  <a:srgbClr val="1E2430"/>
                </a:solidFill>
                <a:latin typeface="Calibri" pitchFamily="34" charset="0"/>
                <a:ea typeface="Calibri" pitchFamily="34" charset="-122"/>
                <a:cs typeface="Calibri" pitchFamily="34" charset="-120"/>
              </a:rPr>
              <a:t>. Ogni volta </a:t>
            </a:r>
            <a:r>
              <a:rPr lang="en-US" sz="1300" dirty="0" err="1">
                <a:solidFill>
                  <a:srgbClr val="1E2430"/>
                </a:solidFill>
                <a:latin typeface="Calibri" pitchFamily="34" charset="0"/>
                <a:ea typeface="Calibri" pitchFamily="34" charset="-122"/>
                <a:cs typeface="Calibri" pitchFamily="34" charset="-120"/>
              </a:rPr>
              <a:t>che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si</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chiama</a:t>
            </a:r>
            <a:r>
              <a:rPr lang="en-US" sz="1300" dirty="0">
                <a:solidFill>
                  <a:srgbClr val="1E2430"/>
                </a:solidFill>
                <a:latin typeface="Calibri" pitchFamily="34" charset="0"/>
                <a:ea typeface="Calibri" pitchFamily="34" charset="-122"/>
                <a:cs typeface="Calibri" pitchFamily="34" charset="-120"/>
              </a:rPr>
              <a:t>, il client </a:t>
            </a:r>
            <a:r>
              <a:rPr lang="en-US" sz="1300" dirty="0" err="1">
                <a:solidFill>
                  <a:srgbClr val="1E2430"/>
                </a:solidFill>
                <a:latin typeface="Calibri" pitchFamily="34" charset="0"/>
                <a:ea typeface="Calibri" pitchFamily="34" charset="-122"/>
                <a:cs typeface="Calibri" pitchFamily="34" charset="-120"/>
              </a:rPr>
              <a:t>compone</a:t>
            </a:r>
            <a:r>
              <a:rPr lang="en-US" sz="1300" dirty="0">
                <a:solidFill>
                  <a:srgbClr val="1E2430"/>
                </a:solidFill>
                <a:latin typeface="Calibri" pitchFamily="34" charset="0"/>
                <a:ea typeface="Calibri" pitchFamily="34" charset="-122"/>
                <a:cs typeface="Calibri" pitchFamily="34" charset="-120"/>
              </a:rPr>
              <a:t> la </a:t>
            </a:r>
            <a:r>
              <a:rPr lang="en-US" sz="1300" dirty="0" err="1">
                <a:solidFill>
                  <a:srgbClr val="1E2430"/>
                </a:solidFill>
                <a:latin typeface="Calibri" pitchFamily="34" charset="0"/>
                <a:ea typeface="Calibri" pitchFamily="34" charset="-122"/>
                <a:cs typeface="Calibri" pitchFamily="34" charset="-120"/>
              </a:rPr>
              <a:t>stringa</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client_id:seq</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usando</a:t>
            </a:r>
            <a:r>
              <a:rPr lang="en-US" sz="1300" dirty="0">
                <a:solidFill>
                  <a:srgbClr val="1E2430"/>
                </a:solidFill>
                <a:latin typeface="Calibri" pitchFamily="34" charset="0"/>
                <a:ea typeface="Calibri" pitchFamily="34" charset="-122"/>
                <a:cs typeface="Calibri" pitchFamily="34" charset="-120"/>
              </a:rPr>
              <a:t> il </a:t>
            </a:r>
            <a:r>
              <a:rPr lang="en-US" sz="1300" dirty="0" err="1">
                <a:solidFill>
                  <a:srgbClr val="1E2430"/>
                </a:solidFill>
                <a:latin typeface="Calibri" pitchFamily="34" charset="0"/>
                <a:ea typeface="Calibri" pitchFamily="34" charset="-122"/>
                <a:cs typeface="Calibri" pitchFamily="34" charset="-120"/>
              </a:rPr>
              <a:t>valore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corrente</a:t>
            </a:r>
            <a:r>
              <a:rPr lang="en-US" sz="1300" dirty="0">
                <a:solidFill>
                  <a:srgbClr val="1E2430"/>
                </a:solidFill>
                <a:latin typeface="Calibri" pitchFamily="34" charset="0"/>
                <a:ea typeface="Calibri" pitchFamily="34" charset="-122"/>
                <a:cs typeface="Calibri" pitchFamily="34" charset="-120"/>
              </a:rPr>
              <a:t> del </a:t>
            </a:r>
            <a:r>
              <a:rPr lang="en-US" sz="1300" dirty="0" err="1">
                <a:solidFill>
                  <a:srgbClr val="1E2430"/>
                </a:solidFill>
                <a:latin typeface="Calibri" pitchFamily="34" charset="0"/>
                <a:ea typeface="Calibri" pitchFamily="34" charset="-122"/>
                <a:cs typeface="Calibri" pitchFamily="34" charset="-120"/>
              </a:rPr>
              <a:t>contatore</a:t>
            </a:r>
            <a:r>
              <a:rPr lang="en-US" sz="1300" dirty="0">
                <a:solidFill>
                  <a:srgbClr val="1E2430"/>
                </a:solidFill>
                <a:latin typeface="Calibri" pitchFamily="34" charset="0"/>
                <a:ea typeface="Calibri" pitchFamily="34" charset="-122"/>
                <a:cs typeface="Calibri" pitchFamily="34" charset="-120"/>
              </a:rPr>
              <a:t> e solo dopo </a:t>
            </a:r>
            <a:r>
              <a:rPr lang="en-US" sz="1300" dirty="0" err="1">
                <a:solidFill>
                  <a:srgbClr val="1E2430"/>
                </a:solidFill>
                <a:latin typeface="Calibri" pitchFamily="34" charset="0"/>
                <a:ea typeface="Calibri" pitchFamily="34" charset="-122"/>
                <a:cs typeface="Calibri" pitchFamily="34" charset="-120"/>
              </a:rPr>
              <a:t>averla</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generata</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incrementa</a:t>
            </a:r>
            <a:r>
              <a:rPr lang="en-US" sz="1300" dirty="0">
                <a:solidFill>
                  <a:srgbClr val="1E2430"/>
                </a:solidFill>
                <a:latin typeface="Calibri" pitchFamily="34" charset="0"/>
                <a:ea typeface="Calibri" pitchFamily="34" charset="-122"/>
                <a:cs typeface="Calibri" pitchFamily="34" charset="-120"/>
              </a:rPr>
              <a:t> il </a:t>
            </a:r>
            <a:r>
              <a:rPr lang="en-US" sz="1300" dirty="0" err="1">
                <a:solidFill>
                  <a:srgbClr val="1E2430"/>
                </a:solidFill>
                <a:latin typeface="Calibri" pitchFamily="34" charset="0"/>
                <a:ea typeface="Calibri" pitchFamily="34" charset="-122"/>
                <a:cs typeface="Calibri" pitchFamily="34" charset="-120"/>
              </a:rPr>
              <a:t>contatore</a:t>
            </a:r>
            <a:r>
              <a:rPr lang="en-US" sz="1300" dirty="0">
                <a:solidFill>
                  <a:srgbClr val="1E2430"/>
                </a:solidFill>
                <a:latin typeface="Calibri" pitchFamily="34" charset="0"/>
                <a:ea typeface="Calibri" pitchFamily="34" charset="-122"/>
                <a:cs typeface="Calibri" pitchFamily="34" charset="-120"/>
              </a:rPr>
              <a:t> per la </a:t>
            </a:r>
            <a:r>
              <a:rPr lang="en-US" sz="1300" dirty="0" err="1">
                <a:solidFill>
                  <a:srgbClr val="1E2430"/>
                </a:solidFill>
                <a:latin typeface="Calibri" pitchFamily="34" charset="0"/>
                <a:ea typeface="Calibri" pitchFamily="34" charset="-122"/>
                <a:cs typeface="Calibri" pitchFamily="34" charset="-120"/>
              </a:rPr>
              <a:t>prossima</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chiamata</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Questo</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garantisce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che</a:t>
            </a:r>
            <a:r>
              <a:rPr lang="en-US" sz="1300" dirty="0">
                <a:solidFill>
                  <a:srgbClr val="1E2430"/>
                </a:solidFill>
                <a:latin typeface="Calibri" pitchFamily="34" charset="0"/>
                <a:ea typeface="Calibri" pitchFamily="34" charset="-122"/>
                <a:cs typeface="Calibri" pitchFamily="34" charset="-120"/>
              </a:rPr>
              <a:t> ogni </a:t>
            </a:r>
            <a:r>
              <a:rPr lang="en-US" sz="1300" dirty="0" err="1">
                <a:solidFill>
                  <a:srgbClr val="1E2430"/>
                </a:solidFill>
                <a:latin typeface="Calibri" pitchFamily="34" charset="0"/>
                <a:ea typeface="Calibri" pitchFamily="34" charset="-122"/>
                <a:cs typeface="Calibri" pitchFamily="34" charset="-120"/>
              </a:rPr>
              <a:t>operazione</a:t>
            </a:r>
            <a:r>
              <a:rPr lang="en-US" sz="1300" dirty="0">
                <a:solidFill>
                  <a:srgbClr val="1E2430"/>
                </a:solidFill>
                <a:latin typeface="Calibri" pitchFamily="34" charset="0"/>
                <a:ea typeface="Calibri" pitchFamily="34" charset="-122"/>
                <a:cs typeface="Calibri" pitchFamily="34" charset="-120"/>
              </a:rPr>
              <a:t> mutative </a:t>
            </a:r>
            <a:r>
              <a:rPr lang="en-US" sz="1300" dirty="0" err="1">
                <a:solidFill>
                  <a:srgbClr val="1E2430"/>
                </a:solidFill>
                <a:latin typeface="Calibri" pitchFamily="34" charset="0"/>
                <a:ea typeface="Calibri" pitchFamily="34" charset="-122"/>
                <a:cs typeface="Calibri" pitchFamily="34" charset="-120"/>
              </a:rPr>
              <a:t>nuova</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riceva</a:t>
            </a:r>
            <a:r>
              <a:rPr lang="en-US" sz="1300" dirty="0">
                <a:solidFill>
                  <a:srgbClr val="1E2430"/>
                </a:solidFill>
                <a:latin typeface="Calibri" pitchFamily="34" charset="0"/>
                <a:ea typeface="Calibri" pitchFamily="34" charset="-122"/>
                <a:cs typeface="Calibri" pitchFamily="34" charset="-120"/>
              </a:rPr>
              <a:t> un </a:t>
            </a:r>
            <a:r>
              <a:rPr lang="en-US" sz="1300" dirty="0" err="1">
                <a:solidFill>
                  <a:srgbClr val="1E2430"/>
                </a:solidFill>
                <a:latin typeface="Calibri" pitchFamily="34" charset="0"/>
                <a:ea typeface="Calibri" pitchFamily="34" charset="-122"/>
                <a:cs typeface="Calibri" pitchFamily="34" charset="-120"/>
              </a:rPr>
              <a:t>request_id</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diverso</a:t>
            </a:r>
            <a:r>
              <a:rPr lang="en-US" sz="1300" dirty="0">
                <a:solidFill>
                  <a:srgbClr val="1E2430"/>
                </a:solidFill>
                <a:latin typeface="Calibri" pitchFamily="34" charset="0"/>
                <a:ea typeface="Calibri" pitchFamily="34" charset="-122"/>
                <a:cs typeface="Calibri" pitchFamily="34" charset="-120"/>
              </a:rPr>
              <a:t>.</a:t>
            </a:r>
            <a:endParaRPr lang="en-US" sz="1300" dirty="0"/>
          </a:p>
          <a:p>
            <a:pPr marL="342900" indent="-342900" algn="just">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Si </a:t>
            </a:r>
            <a:r>
              <a:rPr lang="en-US" sz="1300" dirty="0" err="1">
                <a:solidFill>
                  <a:srgbClr val="1E2430"/>
                </a:solidFill>
                <a:latin typeface="Calibri" pitchFamily="34" charset="0"/>
                <a:ea typeface="Calibri" pitchFamily="34" charset="-122"/>
                <a:cs typeface="Calibri" pitchFamily="34" charset="-120"/>
              </a:rPr>
              <a:t>appoggiano</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così</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i</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tre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metodi</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pubblici</a:t>
            </a:r>
            <a:r>
              <a:rPr lang="en-US" sz="1300" dirty="0">
                <a:solidFill>
                  <a:srgbClr val="1E2430"/>
                </a:solidFill>
                <a:latin typeface="Calibri" pitchFamily="34" charset="0"/>
                <a:ea typeface="Calibri" pitchFamily="34" charset="-122"/>
                <a:cs typeface="Calibri" pitchFamily="34" charset="-120"/>
              </a:rPr>
              <a:t> per le </a:t>
            </a:r>
            <a:r>
              <a:rPr lang="en-US" sz="1300" dirty="0" err="1">
                <a:solidFill>
                  <a:srgbClr val="1E2430"/>
                </a:solidFill>
                <a:latin typeface="Calibri" pitchFamily="34" charset="0"/>
                <a:ea typeface="Calibri" pitchFamily="34" charset="-122"/>
                <a:cs typeface="Calibri" pitchFamily="34" charset="-120"/>
              </a:rPr>
              <a:t>operazioni</a:t>
            </a:r>
            <a:r>
              <a:rPr lang="en-US" sz="1300" dirty="0">
                <a:solidFill>
                  <a:srgbClr val="1E2430"/>
                </a:solidFill>
                <a:latin typeface="Calibri" pitchFamily="34" charset="0"/>
                <a:ea typeface="Calibri" pitchFamily="34" charset="-122"/>
                <a:cs typeface="Calibri" pitchFamily="34" charset="-120"/>
              </a:rPr>
              <a:t> mutative: </a:t>
            </a:r>
            <a:r>
              <a:rPr lang="en-US" sz="1300" dirty="0" err="1">
                <a:solidFill>
                  <a:srgbClr val="1E2430"/>
                </a:solidFill>
                <a:latin typeface="Calibri" pitchFamily="34" charset="0"/>
                <a:ea typeface="Calibri" pitchFamily="34" charset="-122"/>
                <a:cs typeface="Calibri" pitchFamily="34" charset="-120"/>
              </a:rPr>
              <a:t>set_req</a:t>
            </a:r>
            <a:r>
              <a:rPr lang="en-US" sz="1300" dirty="0">
                <a:solidFill>
                  <a:srgbClr val="1E2430"/>
                </a:solidFill>
                <a:latin typeface="Calibri" pitchFamily="34" charset="0"/>
                <a:ea typeface="Calibri" pitchFamily="34" charset="-122"/>
                <a:cs typeface="Calibri" pitchFamily="34" charset="-120"/>
              </a:rPr>
              <a:t>() / cas_req() / delete_req() con retry automatico e backoff lineare</a:t>
            </a:r>
            <a:endParaRPr lang="en-US" sz="1300" dirty="0"/>
          </a:p>
          <a:p>
            <a:pPr marL="342900" indent="-342900">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Riconnessione automatica dopo timeout (_reconnect), senza cambiare </a:t>
            </a:r>
            <a:r>
              <a:rPr lang="en-US" sz="1300" dirty="0" err="1">
                <a:solidFill>
                  <a:srgbClr val="1E2430"/>
                </a:solidFill>
                <a:latin typeface="Calibri" pitchFamily="34" charset="0"/>
                <a:ea typeface="Calibri" pitchFamily="34" charset="-122"/>
                <a:cs typeface="Calibri" pitchFamily="34" charset="-120"/>
              </a:rPr>
              <a:t>request_id</a:t>
            </a:r>
            <a:r>
              <a:rPr lang="en-US" sz="1300" dirty="0">
                <a:solidFill>
                  <a:srgbClr val="1E2430"/>
                </a:solidFill>
                <a:latin typeface="Calibri" pitchFamily="34" charset="0"/>
                <a:ea typeface="Calibri" pitchFamily="34" charset="-122"/>
                <a:cs typeface="Calibri" pitchFamily="34" charset="-120"/>
              </a:rPr>
              <a:t> e </a:t>
            </a:r>
            <a:r>
              <a:rPr lang="en-US" sz="1300" dirty="0" err="1">
                <a:solidFill>
                  <a:srgbClr val="1E2430"/>
                </a:solidFill>
                <a:latin typeface="Calibri" pitchFamily="34" charset="0"/>
                <a:ea typeface="Calibri" pitchFamily="34" charset="-122"/>
                <a:cs typeface="Calibri" pitchFamily="34" charset="-120"/>
              </a:rPr>
              <a:t>quindi</a:t>
            </a:r>
            <a:r>
              <a:rPr lang="en-US" sz="1300" dirty="0">
                <a:solidFill>
                  <a:srgbClr val="1E2430"/>
                </a:solidFill>
                <a:latin typeface="Calibri" pitchFamily="34" charset="0"/>
                <a:ea typeface="Calibri" pitchFamily="34" charset="-122"/>
                <a:cs typeface="Calibri" pitchFamily="34" charset="-120"/>
              </a:rPr>
              <a:t> non </a:t>
            </a:r>
            <a:r>
              <a:rPr lang="en-US" sz="1300" dirty="0" err="1">
                <a:solidFill>
                  <a:srgbClr val="1E2430"/>
                </a:solidFill>
                <a:latin typeface="Calibri" pitchFamily="34" charset="0"/>
                <a:ea typeface="Calibri" pitchFamily="34" charset="-122"/>
                <a:cs typeface="Calibri" pitchFamily="34" charset="-120"/>
              </a:rPr>
              <a:t>riprova</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sullo</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stesso</a:t>
            </a:r>
            <a:r>
              <a:rPr lang="en-US" sz="1300" dirty="0">
                <a:solidFill>
                  <a:srgbClr val="1E2430"/>
                </a:solidFill>
                <a:latin typeface="Calibri" pitchFamily="34" charset="0"/>
                <a:ea typeface="Calibri" pitchFamily="34" charset="-122"/>
                <a:cs typeface="Calibri" pitchFamily="34" charset="-120"/>
              </a:rPr>
              <a:t> socket. Reconnect </a:t>
            </a:r>
            <a:r>
              <a:rPr lang="en-US" sz="1300" dirty="0" err="1">
                <a:solidFill>
                  <a:srgbClr val="1E2430"/>
                </a:solidFill>
                <a:latin typeface="Calibri" pitchFamily="34" charset="0"/>
                <a:ea typeface="Calibri" pitchFamily="34" charset="-122"/>
                <a:cs typeface="Calibri" pitchFamily="34" charset="-120"/>
              </a:rPr>
              <a:t>chiude</a:t>
            </a:r>
            <a:r>
              <a:rPr lang="en-US" sz="1300" dirty="0">
                <a:solidFill>
                  <a:srgbClr val="1E2430"/>
                </a:solidFill>
                <a:latin typeface="Calibri" pitchFamily="34" charset="0"/>
                <a:ea typeface="Calibri" pitchFamily="34" charset="-122"/>
                <a:cs typeface="Calibri" pitchFamily="34" charset="-120"/>
              </a:rPr>
              <a:t> la </a:t>
            </a:r>
            <a:r>
              <a:rPr lang="en-US" sz="1300" dirty="0" err="1">
                <a:solidFill>
                  <a:srgbClr val="1E2430"/>
                </a:solidFill>
                <a:latin typeface="Calibri" pitchFamily="34" charset="0"/>
                <a:ea typeface="Calibri" pitchFamily="34" charset="-122"/>
                <a:cs typeface="Calibri" pitchFamily="34" charset="-120"/>
              </a:rPr>
              <a:t>connessione</a:t>
            </a:r>
            <a:r>
              <a:rPr lang="en-US" sz="1300" dirty="0">
                <a:solidFill>
                  <a:srgbClr val="1E2430"/>
                </a:solidFill>
                <a:latin typeface="Calibri" pitchFamily="34" charset="0"/>
                <a:ea typeface="Calibri" pitchFamily="34" charset="-122"/>
                <a:cs typeface="Calibri" pitchFamily="34" charset="-120"/>
              </a:rPr>
              <a:t> TCP e ne </a:t>
            </a:r>
            <a:r>
              <a:rPr lang="en-US" sz="1300" dirty="0" err="1">
                <a:solidFill>
                  <a:srgbClr val="1E2430"/>
                </a:solidFill>
                <a:latin typeface="Calibri" pitchFamily="34" charset="0"/>
                <a:ea typeface="Calibri" pitchFamily="34" charset="-122"/>
                <a:cs typeface="Calibri" pitchFamily="34" charset="-120"/>
              </a:rPr>
              <a:t>apre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una</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nuova</a:t>
            </a:r>
            <a:r>
              <a:rPr lang="en-US" sz="1300" dirty="0">
                <a:solidFill>
                  <a:srgbClr val="1E2430"/>
                </a:solidFill>
                <a:latin typeface="Calibri" pitchFamily="34" charset="0"/>
                <a:ea typeface="Calibri" pitchFamily="34" charset="-122"/>
                <a:cs typeface="Calibri" pitchFamily="34" charset="-120"/>
              </a:rPr>
              <a:t>. </a:t>
            </a:r>
            <a:endParaRPr lang="en-US" sz="1300" dirty="0"/>
          </a:p>
          <a:p>
            <a:pPr marL="342900" indent="-342900">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Context manager (with) per apertura/chiusura della </a:t>
            </a:r>
            <a:r>
              <a:rPr lang="en-US" sz="1300" dirty="0" err="1">
                <a:solidFill>
                  <a:srgbClr val="1E2430"/>
                </a:solidFill>
                <a:latin typeface="Calibri" pitchFamily="34" charset="0"/>
                <a:ea typeface="Calibri" pitchFamily="34" charset="-122"/>
                <a:cs typeface="Calibri" pitchFamily="34" charset="-120"/>
              </a:rPr>
              <a:t>connessione</a:t>
            </a:r>
            <a:r>
              <a:rPr lang="en-US" sz="1300" dirty="0">
                <a:solidFill>
                  <a:srgbClr val="1E2430"/>
                </a:solidFill>
                <a:latin typeface="Calibri" pitchFamily="34" charset="0"/>
                <a:ea typeface="Calibri" pitchFamily="34" charset="-122"/>
                <a:cs typeface="Calibri" pitchFamily="34" charset="-120"/>
              </a:rPr>
              <a:t> in maniera </a:t>
            </a:r>
            <a:r>
              <a:rPr lang="en-US" sz="1300" dirty="0" err="1">
                <a:solidFill>
                  <a:srgbClr val="1E2430"/>
                </a:solidFill>
                <a:latin typeface="Calibri" pitchFamily="34" charset="0"/>
                <a:ea typeface="Calibri" pitchFamily="34" charset="-122"/>
                <a:cs typeface="Calibri" pitchFamily="34" charset="-120"/>
              </a:rPr>
              <a:t>automatica</a:t>
            </a:r>
            <a:r>
              <a:rPr lang="en-US" sz="1300" dirty="0">
                <a:solidFill>
                  <a:srgbClr val="1E2430"/>
                </a:solidFill>
                <a:latin typeface="Calibri" pitchFamily="34" charset="0"/>
                <a:ea typeface="Calibri" pitchFamily="34" charset="-122"/>
                <a:cs typeface="Calibri" pitchFamily="34" charset="-120"/>
              </a:rPr>
              <a:t> ed </a:t>
            </a:r>
            <a:r>
              <a:rPr lang="en-US" sz="1300" dirty="0" err="1">
                <a:solidFill>
                  <a:srgbClr val="1E2430"/>
                </a:solidFill>
                <a:latin typeface="Calibri" pitchFamily="34" charset="0"/>
                <a:ea typeface="Calibri" pitchFamily="34" charset="-122"/>
                <a:cs typeface="Calibri" pitchFamily="34" charset="-120"/>
              </a:rPr>
              <a:t>espone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anche</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una</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modalità</a:t>
            </a:r>
            <a:r>
              <a:rPr lang="en-US" sz="1300" dirty="0">
                <a:solidFill>
                  <a:srgbClr val="1E2430"/>
                </a:solidFill>
                <a:latin typeface="Calibri" pitchFamily="34" charset="0"/>
                <a:ea typeface="Calibri" pitchFamily="34" charset="-122"/>
                <a:cs typeface="Calibri" pitchFamily="34" charset="-120"/>
              </a:rPr>
              <a:t> </a:t>
            </a:r>
            <a:r>
              <a:rPr lang="en-US" sz="1300" dirty="0" err="1">
                <a:solidFill>
                  <a:srgbClr val="1E2430"/>
                </a:solidFill>
                <a:latin typeface="Calibri" pitchFamily="34" charset="0"/>
                <a:ea typeface="Calibri" pitchFamily="34" charset="-122"/>
                <a:cs typeface="Calibri" pitchFamily="34" charset="-120"/>
              </a:rPr>
              <a:t>interattiva</a:t>
            </a:r>
            <a:r>
              <a:rPr lang="en-US" sz="1300" dirty="0">
                <a:solidFill>
                  <a:srgbClr val="1E2430"/>
                </a:solidFill>
                <a:latin typeface="Calibri" pitchFamily="34" charset="0"/>
                <a:ea typeface="Calibri" pitchFamily="34" charset="-122"/>
                <a:cs typeface="Calibri" pitchFamily="34" charset="-120"/>
              </a:rPr>
              <a:t> da </a:t>
            </a:r>
            <a:r>
              <a:rPr lang="en-US" sz="1300" dirty="0" err="1">
                <a:solidFill>
                  <a:srgbClr val="1E2430"/>
                </a:solidFill>
                <a:latin typeface="Calibri" pitchFamily="34" charset="0"/>
                <a:ea typeface="Calibri" pitchFamily="34" charset="-122"/>
                <a:cs typeface="Calibri" pitchFamily="34" charset="-120"/>
              </a:rPr>
              <a:t>terminale</a:t>
            </a:r>
            <a:r>
              <a:rPr lang="en-US" sz="1300" dirty="0">
                <a:solidFill>
                  <a:srgbClr val="1E2430"/>
                </a:solidFill>
                <a:latin typeface="Calibri" pitchFamily="34" charset="0"/>
                <a:ea typeface="Calibri" pitchFamily="34" charset="-122"/>
                <a:cs typeface="Calibri" pitchFamily="34" charset="-120"/>
              </a:rPr>
              <a:t>              </a:t>
            </a:r>
            <a:r>
              <a:rPr lang="en-US" sz="1300" dirty="0">
                <a:solidFill>
                  <a:srgbClr val="1E2430"/>
                </a:solidFill>
                <a:latin typeface="Calibri" pitchFamily="34" charset="0"/>
                <a:ea typeface="Calibri" pitchFamily="34" charset="-122"/>
                <a:cs typeface="Calibri" pitchFamily="34" charset="-120"/>
                <a:sym typeface="Wingdings" panose="05000000000000000000" pitchFamily="2" charset="2"/>
              </a:rPr>
              <a:t></a:t>
            </a:r>
            <a:endParaRPr lang="en-US" sz="1300" dirty="0"/>
          </a:p>
        </p:txBody>
      </p:sp>
      <p:grpSp>
        <p:nvGrpSpPr>
          <p:cNvPr id="10" name="Gruppo 9">
            <a:extLst>
              <a:ext uri="{FF2B5EF4-FFF2-40B4-BE49-F238E27FC236}">
                <a16:creationId xmlns:a16="http://schemas.microsoft.com/office/drawing/2014/main" id="{DE209836-0434-17AC-B12D-654D8337060D}"/>
              </a:ext>
            </a:extLst>
          </p:cNvPr>
          <p:cNvGrpSpPr/>
          <p:nvPr/>
        </p:nvGrpSpPr>
        <p:grpSpPr>
          <a:xfrm>
            <a:off x="6567244" y="4805172"/>
            <a:ext cx="5394960" cy="1234440"/>
            <a:chOff x="548640" y="3657600"/>
            <a:chExt cx="5394960" cy="1234440"/>
          </a:xfrm>
        </p:grpSpPr>
        <p:sp>
          <p:nvSpPr>
            <p:cNvPr id="5" name="Shape 3"/>
            <p:cNvSpPr/>
            <p:nvPr/>
          </p:nvSpPr>
          <p:spPr>
            <a:xfrm>
              <a:off x="548640" y="3657600"/>
              <a:ext cx="5394960" cy="1234440"/>
            </a:xfrm>
            <a:prstGeom prst="roundRect">
              <a:avLst>
                <a:gd name="adj" fmla="val 5926"/>
              </a:avLst>
            </a:prstGeom>
            <a:solidFill>
              <a:srgbClr val="F3F7F9"/>
            </a:solidFill>
            <a:ln/>
          </p:spPr>
          <p:txBody>
            <a:bodyPr/>
            <a:lstStyle/>
            <a:p>
              <a:endParaRPr lang="it-IT"/>
            </a:p>
          </p:txBody>
        </p:sp>
        <p:sp>
          <p:nvSpPr>
            <p:cNvPr id="6" name="Text 4"/>
            <p:cNvSpPr/>
            <p:nvPr/>
          </p:nvSpPr>
          <p:spPr>
            <a:xfrm>
              <a:off x="804672" y="3822192"/>
              <a:ext cx="4882896"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Modalità interattiva</a:t>
              </a:r>
              <a:endParaRPr lang="en-US" sz="1100" dirty="0"/>
            </a:p>
          </p:txBody>
        </p:sp>
        <p:sp>
          <p:nvSpPr>
            <p:cNvPr id="7" name="Text 5"/>
            <p:cNvSpPr/>
            <p:nvPr/>
          </p:nvSpPr>
          <p:spPr>
            <a:xfrm>
              <a:off x="804672" y="4187952"/>
              <a:ext cx="4882896" cy="566928"/>
            </a:xfrm>
            <a:prstGeom prst="rect">
              <a:avLst/>
            </a:prstGeom>
            <a:noFill/>
            <a:ln/>
          </p:spPr>
          <p:txBody>
            <a:bodyPr wrap="square" lIns="0" tIns="0" rIns="0" bIns="0" rtlCol="0" anchor="t"/>
            <a:lstStyle/>
            <a:p>
              <a:pPr marL="0" indent="0">
                <a:lnSpc>
                  <a:spcPct val="115000"/>
                </a:lnSpc>
                <a:buNone/>
              </a:pPr>
              <a:r>
                <a:rPr lang="en-US" sz="1250" dirty="0">
                  <a:solidFill>
                    <a:srgbClr val="1E2430"/>
                  </a:solidFill>
                  <a:latin typeface="Calibri" pitchFamily="34" charset="0"/>
                  <a:ea typeface="Calibri" pitchFamily="34" charset="-122"/>
                  <a:cs typeface="Calibri" pitchFamily="34" charset="-120"/>
                </a:rPr>
                <a:t>Prompt kv&gt; da terminale: l'utente digita SET_REQ key value senza specificare il request_id, che viene generato automaticamente dal client.</a:t>
              </a:r>
              <a:endParaRPr lang="en-US" sz="1250" dirty="0"/>
            </a:p>
          </p:txBody>
        </p:sp>
      </p:grpSp>
      <p:grpSp>
        <p:nvGrpSpPr>
          <p:cNvPr id="11" name="Gruppo 10">
            <a:extLst>
              <a:ext uri="{FF2B5EF4-FFF2-40B4-BE49-F238E27FC236}">
                <a16:creationId xmlns:a16="http://schemas.microsoft.com/office/drawing/2014/main" id="{78E0B0BB-DE91-4C4E-2BD3-B5E40187647D}"/>
              </a:ext>
            </a:extLst>
          </p:cNvPr>
          <p:cNvGrpSpPr/>
          <p:nvPr/>
        </p:nvGrpSpPr>
        <p:grpSpPr>
          <a:xfrm>
            <a:off x="6656601" y="1115568"/>
            <a:ext cx="5303520" cy="3429000"/>
            <a:chOff x="6309360" y="1463040"/>
            <a:chExt cx="5303520" cy="3429000"/>
          </a:xfrm>
        </p:grpSpPr>
        <p:sp>
          <p:nvSpPr>
            <p:cNvPr id="8" name="Shape 6"/>
            <p:cNvSpPr/>
            <p:nvPr/>
          </p:nvSpPr>
          <p:spPr>
            <a:xfrm>
              <a:off x="6309360" y="1463040"/>
              <a:ext cx="5303520" cy="3429000"/>
            </a:xfrm>
            <a:prstGeom prst="roundRect">
              <a:avLst>
                <a:gd name="adj" fmla="val 2133"/>
              </a:avLst>
            </a:prstGeom>
            <a:solidFill>
              <a:srgbClr val="1E2430"/>
            </a:solidFill>
            <a:ln/>
            <a:effectLst>
              <a:outerShdw blurRad="101600" dist="38100" dir="5400000" algn="bl" rotWithShape="0">
                <a:srgbClr val="000000">
                  <a:alpha val="18000"/>
                </a:srgbClr>
              </a:outerShdw>
            </a:effectLst>
          </p:spPr>
          <p:txBody>
            <a:bodyPr/>
            <a:lstStyle/>
            <a:p>
              <a:endParaRPr lang="it-IT"/>
            </a:p>
          </p:txBody>
        </p:sp>
        <p:sp>
          <p:nvSpPr>
            <p:cNvPr id="9" name="Text 7"/>
            <p:cNvSpPr/>
            <p:nvPr/>
          </p:nvSpPr>
          <p:spPr>
            <a:xfrm>
              <a:off x="6565392" y="1664208"/>
              <a:ext cx="4791456" cy="3063240"/>
            </a:xfrm>
            <a:prstGeom prst="rect">
              <a:avLst/>
            </a:prstGeom>
            <a:noFill/>
            <a:ln/>
          </p:spPr>
          <p:txBody>
            <a:bodyPr wrap="square" lIns="0" tIns="0" rIns="0" bIns="0" rtlCol="0" anchor="t"/>
            <a:lstStyle/>
            <a:p>
              <a:pPr marL="0" indent="0">
                <a:lnSpc>
                  <a:spcPct val="118000"/>
                </a:lnSpc>
                <a:buNone/>
              </a:pPr>
              <a:r>
                <a:rPr lang="en-US" sz="1250" dirty="0">
                  <a:solidFill>
                    <a:srgbClr val="E8EEF2"/>
                  </a:solidFill>
                  <a:latin typeface="Courier New" pitchFamily="34" charset="0"/>
                  <a:ea typeface="Courier New" pitchFamily="34" charset="-122"/>
                  <a:cs typeface="Courier New" pitchFamily="34" charset="-120"/>
                </a:rPr>
                <a:t>def _next_request_id(self) -&gt; str:</a:t>
              </a:r>
              <a:endParaRPr lang="en-US" sz="1250" dirty="0"/>
            </a:p>
            <a:p>
              <a:pPr marL="0" indent="0">
                <a:lnSpc>
                  <a:spcPct val="118000"/>
                </a:lnSpc>
                <a:buNone/>
              </a:pPr>
              <a:r>
                <a:rPr lang="en-US" sz="1250" dirty="0">
                  <a:solidFill>
                    <a:srgbClr val="7FD1C9"/>
                  </a:solidFill>
                  <a:latin typeface="Courier New" pitchFamily="34" charset="0"/>
                  <a:ea typeface="Courier New" pitchFamily="34" charset="-122"/>
                  <a:cs typeface="Courier New" pitchFamily="34" charset="-120"/>
                </a:rPr>
                <a:t>    rid = f"{self.client_id}:{self._seq}"</a:t>
              </a:r>
              <a:endParaRPr lang="en-US" sz="1250" dirty="0"/>
            </a:p>
            <a:p>
              <a:pPr marL="0" indent="0">
                <a:lnSpc>
                  <a:spcPct val="118000"/>
                </a:lnSpc>
                <a:buNone/>
              </a:pPr>
              <a:r>
                <a:rPr lang="en-US" sz="1250" dirty="0">
                  <a:solidFill>
                    <a:srgbClr val="E8EEF2"/>
                  </a:solidFill>
                  <a:latin typeface="Courier New" pitchFamily="34" charset="0"/>
                  <a:ea typeface="Courier New" pitchFamily="34" charset="-122"/>
                  <a:cs typeface="Courier New" pitchFamily="34" charset="-120"/>
                </a:rPr>
                <a:t>    self._seq += 1</a:t>
              </a:r>
              <a:endParaRPr lang="en-US" sz="1250" dirty="0"/>
            </a:p>
            <a:p>
              <a:pPr marL="0" indent="0">
                <a:lnSpc>
                  <a:spcPct val="118000"/>
                </a:lnSpc>
                <a:buNone/>
              </a:pPr>
              <a:r>
                <a:rPr lang="en-US" sz="1250" dirty="0">
                  <a:solidFill>
                    <a:srgbClr val="E8EEF2"/>
                  </a:solidFill>
                  <a:latin typeface="Courier New" pitchFamily="34" charset="0"/>
                  <a:ea typeface="Courier New" pitchFamily="34" charset="-122"/>
                  <a:cs typeface="Courier New" pitchFamily="34" charset="-120"/>
                </a:rPr>
                <a:t>    return rid</a:t>
              </a:r>
              <a:endParaRPr lang="en-US" sz="1250" dirty="0"/>
            </a:p>
            <a:p>
              <a:pPr marL="0" indent="0">
                <a:lnSpc>
                  <a:spcPct val="118000"/>
                </a:lnSpc>
                <a:buNone/>
              </a:pPr>
              <a:endParaRPr lang="en-US" sz="1250" dirty="0"/>
            </a:p>
            <a:p>
              <a:pPr marL="0" indent="0">
                <a:lnSpc>
                  <a:spcPct val="118000"/>
                </a:lnSpc>
                <a:buNone/>
              </a:pPr>
              <a:r>
                <a:rPr lang="en-US" sz="1250" dirty="0">
                  <a:solidFill>
                    <a:srgbClr val="E8EEF2"/>
                  </a:solidFill>
                  <a:latin typeface="Courier New" pitchFamily="34" charset="0"/>
                  <a:ea typeface="Courier New" pitchFamily="34" charset="-122"/>
                  <a:cs typeface="Courier New" pitchFamily="34" charset="-120"/>
                </a:rPr>
                <a:t>def set_req(self, key, value) -&gt; str:</a:t>
              </a:r>
              <a:endParaRPr lang="en-US" sz="1250" dirty="0"/>
            </a:p>
            <a:p>
              <a:pPr marL="0" indent="0">
                <a:lnSpc>
                  <a:spcPct val="118000"/>
                </a:lnSpc>
                <a:buNone/>
              </a:pPr>
              <a:r>
                <a:rPr lang="en-US" sz="1250" dirty="0">
                  <a:solidFill>
                    <a:srgbClr val="E8EEF2"/>
                  </a:solidFill>
                  <a:latin typeface="Courier New" pitchFamily="34" charset="0"/>
                  <a:ea typeface="Courier New" pitchFamily="34" charset="-122"/>
                  <a:cs typeface="Courier New" pitchFamily="34" charset="-120"/>
                </a:rPr>
                <a:t>    rid = self._next_request_id()</a:t>
              </a:r>
              <a:endParaRPr lang="en-US" sz="1250" dirty="0"/>
            </a:p>
            <a:p>
              <a:pPr marL="0" indent="0">
                <a:lnSpc>
                  <a:spcPct val="118000"/>
                </a:lnSpc>
                <a:buNone/>
              </a:pPr>
              <a:r>
                <a:rPr lang="en-US" sz="1250" dirty="0">
                  <a:solidFill>
                    <a:srgbClr val="E8EEF2"/>
                  </a:solidFill>
                  <a:latin typeface="Courier New" pitchFamily="34" charset="0"/>
                  <a:ea typeface="Courier New" pitchFamily="34" charset="-122"/>
                  <a:cs typeface="Courier New" pitchFamily="34" charset="-120"/>
                </a:rPr>
                <a:t>    return self._send_with_retry(</a:t>
              </a:r>
              <a:endParaRPr lang="en-US" sz="1250" dirty="0"/>
            </a:p>
            <a:p>
              <a:pPr marL="0" indent="0">
                <a:lnSpc>
                  <a:spcPct val="118000"/>
                </a:lnSpc>
                <a:buNone/>
              </a:pPr>
              <a:r>
                <a:rPr lang="en-US" sz="1250" dirty="0">
                  <a:solidFill>
                    <a:srgbClr val="7FD1C9"/>
                  </a:solidFill>
                  <a:latin typeface="Courier New" pitchFamily="34" charset="0"/>
                  <a:ea typeface="Courier New" pitchFamily="34" charset="-122"/>
                  <a:cs typeface="Courier New" pitchFamily="34" charset="-120"/>
                </a:rPr>
                <a:t>        f"SET_REQ {rid} {key} {value}"</a:t>
              </a:r>
              <a:endParaRPr lang="en-US" sz="1250" dirty="0"/>
            </a:p>
            <a:p>
              <a:pPr marL="0" indent="0">
                <a:lnSpc>
                  <a:spcPct val="118000"/>
                </a:lnSpc>
                <a:buNone/>
              </a:pPr>
              <a:r>
                <a:rPr lang="en-US" sz="1250" dirty="0">
                  <a:solidFill>
                    <a:srgbClr val="E8EEF2"/>
                  </a:solidFill>
                  <a:latin typeface="Courier New" pitchFamily="34" charset="0"/>
                  <a:ea typeface="Courier New" pitchFamily="34" charset="-122"/>
                  <a:cs typeface="Courier New" pitchFamily="34" charset="-120"/>
                </a:rPr>
                <a:t>    )</a:t>
              </a:r>
              <a:endParaRPr lang="en-US" sz="1250" dirty="0"/>
            </a:p>
          </p:txBody>
        </p:sp>
      </p:grpSp>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IMPLEMENTAZIONE</a:t>
            </a:r>
            <a:endParaRPr lang="en-US" sz="1200" dirty="0"/>
          </a:p>
        </p:txBody>
      </p:sp>
      <p:sp>
        <p:nvSpPr>
          <p:cNvPr id="3" name="Text 1"/>
          <p:cNvSpPr/>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Client: flusso di retry</a:t>
            </a:r>
            <a:endParaRPr lang="en-US" sz="3000" dirty="0"/>
          </a:p>
        </p:txBody>
      </p:sp>
      <p:sp>
        <p:nvSpPr>
          <p:cNvPr id="4" name="Shape 2"/>
          <p:cNvSpPr/>
          <p:nvPr/>
        </p:nvSpPr>
        <p:spPr>
          <a:xfrm>
            <a:off x="548640" y="1508760"/>
            <a:ext cx="5394960" cy="566928"/>
          </a:xfrm>
          <a:prstGeom prst="roundRect">
            <a:avLst>
              <a:gd name="adj" fmla="val 11290"/>
            </a:avLst>
          </a:prstGeom>
          <a:solidFill>
            <a:srgbClr val="FFFFFF"/>
          </a:solidFill>
          <a:ln w="15875">
            <a:solidFill>
              <a:srgbClr val="1C7293"/>
            </a:solidFill>
            <a:prstDash val="solid"/>
          </a:ln>
        </p:spPr>
        <p:txBody>
          <a:bodyPr/>
          <a:lstStyle/>
          <a:p>
            <a:endParaRPr lang="it-IT"/>
          </a:p>
        </p:txBody>
      </p:sp>
      <p:sp>
        <p:nvSpPr>
          <p:cNvPr id="5" name="Text 3"/>
          <p:cNvSpPr/>
          <p:nvPr/>
        </p:nvSpPr>
        <p:spPr>
          <a:xfrm>
            <a:off x="777240" y="1508760"/>
            <a:ext cx="4937760" cy="566928"/>
          </a:xfrm>
          <a:prstGeom prst="rect">
            <a:avLst/>
          </a:prstGeom>
          <a:noFill/>
          <a:ln/>
        </p:spPr>
        <p:txBody>
          <a:bodyPr wrap="square" lIns="0" tIns="0" rIns="0" bIns="0" rtlCol="0" anchor="ctr"/>
          <a:lstStyle/>
          <a:p>
            <a:pPr marL="0" indent="0">
              <a:buNone/>
            </a:pPr>
            <a:r>
              <a:rPr lang="en-US" sz="1250" dirty="0">
                <a:solidFill>
                  <a:srgbClr val="1E2430"/>
                </a:solidFill>
                <a:latin typeface="Calibri" pitchFamily="34" charset="0"/>
                <a:ea typeface="Calibri" pitchFamily="34" charset="-122"/>
                <a:cs typeface="Calibri" pitchFamily="34" charset="-120"/>
              </a:rPr>
              <a:t>Invia richiesta</a:t>
            </a:r>
            <a:endParaRPr lang="en-US" sz="1250" dirty="0"/>
          </a:p>
        </p:txBody>
      </p:sp>
      <p:sp>
        <p:nvSpPr>
          <p:cNvPr id="6" name="Shape 4"/>
          <p:cNvSpPr/>
          <p:nvPr/>
        </p:nvSpPr>
        <p:spPr>
          <a:xfrm>
            <a:off x="3246120" y="2075688"/>
            <a:ext cx="0" cy="182880"/>
          </a:xfrm>
          <a:prstGeom prst="line">
            <a:avLst/>
          </a:prstGeom>
          <a:noFill/>
          <a:ln w="12700">
            <a:solidFill>
              <a:srgbClr val="5B6B79"/>
            </a:solidFill>
            <a:prstDash val="solid"/>
            <a:tailEnd type="triangle"/>
          </a:ln>
        </p:spPr>
        <p:txBody>
          <a:bodyPr/>
          <a:lstStyle/>
          <a:p>
            <a:endParaRPr lang="it-IT"/>
          </a:p>
        </p:txBody>
      </p:sp>
      <p:sp>
        <p:nvSpPr>
          <p:cNvPr id="7" name="Shape 5"/>
          <p:cNvSpPr/>
          <p:nvPr/>
        </p:nvSpPr>
        <p:spPr>
          <a:xfrm>
            <a:off x="548640" y="2258568"/>
            <a:ext cx="5394960" cy="566928"/>
          </a:xfrm>
          <a:prstGeom prst="roundRect">
            <a:avLst>
              <a:gd name="adj" fmla="val 11290"/>
            </a:avLst>
          </a:prstGeom>
          <a:solidFill>
            <a:srgbClr val="FFFFFF"/>
          </a:solidFill>
          <a:ln w="15875">
            <a:solidFill>
              <a:srgbClr val="1C7293"/>
            </a:solidFill>
            <a:prstDash val="solid"/>
          </a:ln>
        </p:spPr>
        <p:txBody>
          <a:bodyPr/>
          <a:lstStyle/>
          <a:p>
            <a:endParaRPr lang="it-IT"/>
          </a:p>
        </p:txBody>
      </p:sp>
      <p:sp>
        <p:nvSpPr>
          <p:cNvPr id="8" name="Text 6"/>
          <p:cNvSpPr/>
          <p:nvPr/>
        </p:nvSpPr>
        <p:spPr>
          <a:xfrm>
            <a:off x="777240" y="2258568"/>
            <a:ext cx="4937760" cy="566928"/>
          </a:xfrm>
          <a:prstGeom prst="rect">
            <a:avLst/>
          </a:prstGeom>
          <a:noFill/>
          <a:ln/>
        </p:spPr>
        <p:txBody>
          <a:bodyPr wrap="square" lIns="0" tIns="0" rIns="0" bIns="0" rtlCol="0" anchor="ctr"/>
          <a:lstStyle/>
          <a:p>
            <a:pPr marL="0" indent="0">
              <a:buNone/>
            </a:pPr>
            <a:r>
              <a:rPr lang="en-US" sz="1250" dirty="0">
                <a:solidFill>
                  <a:srgbClr val="1E2430"/>
                </a:solidFill>
                <a:latin typeface="Calibri" pitchFamily="34" charset="0"/>
                <a:ea typeface="Calibri" pitchFamily="34" charset="-122"/>
                <a:cs typeface="Calibri" pitchFamily="34" charset="-120"/>
              </a:rPr>
              <a:t>Attende risposta (timeout?)</a:t>
            </a:r>
            <a:endParaRPr lang="en-US" sz="1250" dirty="0"/>
          </a:p>
        </p:txBody>
      </p:sp>
      <p:sp>
        <p:nvSpPr>
          <p:cNvPr id="9" name="Shape 7"/>
          <p:cNvSpPr/>
          <p:nvPr/>
        </p:nvSpPr>
        <p:spPr>
          <a:xfrm>
            <a:off x="3246120" y="2825496"/>
            <a:ext cx="0" cy="182880"/>
          </a:xfrm>
          <a:prstGeom prst="line">
            <a:avLst/>
          </a:prstGeom>
          <a:noFill/>
          <a:ln w="12700">
            <a:solidFill>
              <a:srgbClr val="5B6B79"/>
            </a:solidFill>
            <a:prstDash val="solid"/>
            <a:tailEnd type="triangle"/>
          </a:ln>
        </p:spPr>
        <p:txBody>
          <a:bodyPr/>
          <a:lstStyle/>
          <a:p>
            <a:endParaRPr lang="it-IT"/>
          </a:p>
        </p:txBody>
      </p:sp>
      <p:sp>
        <p:nvSpPr>
          <p:cNvPr id="10" name="Shape 8"/>
          <p:cNvSpPr/>
          <p:nvPr/>
        </p:nvSpPr>
        <p:spPr>
          <a:xfrm>
            <a:off x="548640" y="3008376"/>
            <a:ext cx="5394960" cy="566928"/>
          </a:xfrm>
          <a:prstGeom prst="roundRect">
            <a:avLst>
              <a:gd name="adj" fmla="val 11290"/>
            </a:avLst>
          </a:prstGeom>
          <a:solidFill>
            <a:srgbClr val="FBF3E7"/>
          </a:solidFill>
          <a:ln w="15875">
            <a:solidFill>
              <a:srgbClr val="C79A3C"/>
            </a:solidFill>
            <a:prstDash val="solid"/>
          </a:ln>
        </p:spPr>
        <p:txBody>
          <a:bodyPr/>
          <a:lstStyle/>
          <a:p>
            <a:endParaRPr lang="it-IT"/>
          </a:p>
        </p:txBody>
      </p:sp>
      <p:sp>
        <p:nvSpPr>
          <p:cNvPr id="11" name="Text 9"/>
          <p:cNvSpPr/>
          <p:nvPr/>
        </p:nvSpPr>
        <p:spPr>
          <a:xfrm>
            <a:off x="777240" y="3008376"/>
            <a:ext cx="4937760" cy="566928"/>
          </a:xfrm>
          <a:prstGeom prst="rect">
            <a:avLst/>
          </a:prstGeom>
          <a:noFill/>
          <a:ln/>
        </p:spPr>
        <p:txBody>
          <a:bodyPr wrap="square" lIns="0" tIns="0" rIns="0" bIns="0" rtlCol="0" anchor="ctr"/>
          <a:lstStyle/>
          <a:p>
            <a:pPr marL="0" indent="0">
              <a:buNone/>
            </a:pPr>
            <a:r>
              <a:rPr lang="en-US" sz="1250" dirty="0">
                <a:solidFill>
                  <a:srgbClr val="1E2430"/>
                </a:solidFill>
                <a:latin typeface="Calibri" pitchFamily="34" charset="0"/>
                <a:ea typeface="Calibri" pitchFamily="34" charset="-122"/>
                <a:cs typeface="Calibri" pitchFamily="34" charset="-120"/>
              </a:rPr>
              <a:t>Timeout → riconnette</a:t>
            </a:r>
            <a:endParaRPr lang="en-US" sz="1250" dirty="0"/>
          </a:p>
        </p:txBody>
      </p:sp>
      <p:sp>
        <p:nvSpPr>
          <p:cNvPr id="12" name="Shape 10"/>
          <p:cNvSpPr/>
          <p:nvPr/>
        </p:nvSpPr>
        <p:spPr>
          <a:xfrm>
            <a:off x="3246120" y="3575304"/>
            <a:ext cx="0" cy="182880"/>
          </a:xfrm>
          <a:prstGeom prst="line">
            <a:avLst/>
          </a:prstGeom>
          <a:noFill/>
          <a:ln w="12700">
            <a:solidFill>
              <a:srgbClr val="5B6B79"/>
            </a:solidFill>
            <a:prstDash val="solid"/>
            <a:tailEnd type="triangle"/>
          </a:ln>
        </p:spPr>
        <p:txBody>
          <a:bodyPr/>
          <a:lstStyle/>
          <a:p>
            <a:endParaRPr lang="it-IT"/>
          </a:p>
        </p:txBody>
      </p:sp>
      <p:sp>
        <p:nvSpPr>
          <p:cNvPr id="13" name="Shape 11"/>
          <p:cNvSpPr/>
          <p:nvPr/>
        </p:nvSpPr>
        <p:spPr>
          <a:xfrm>
            <a:off x="548640" y="3758184"/>
            <a:ext cx="5394960" cy="566928"/>
          </a:xfrm>
          <a:prstGeom prst="roundRect">
            <a:avLst>
              <a:gd name="adj" fmla="val 11290"/>
            </a:avLst>
          </a:prstGeom>
          <a:solidFill>
            <a:srgbClr val="FFFFFF"/>
          </a:solidFill>
          <a:ln w="15875">
            <a:solidFill>
              <a:srgbClr val="1C7293"/>
            </a:solidFill>
            <a:prstDash val="solid"/>
          </a:ln>
        </p:spPr>
        <p:txBody>
          <a:bodyPr/>
          <a:lstStyle/>
          <a:p>
            <a:endParaRPr lang="it-IT"/>
          </a:p>
        </p:txBody>
      </p:sp>
      <p:sp>
        <p:nvSpPr>
          <p:cNvPr id="14" name="Text 12"/>
          <p:cNvSpPr/>
          <p:nvPr/>
        </p:nvSpPr>
        <p:spPr>
          <a:xfrm>
            <a:off x="777240" y="3758184"/>
            <a:ext cx="4937760" cy="566928"/>
          </a:xfrm>
          <a:prstGeom prst="rect">
            <a:avLst/>
          </a:prstGeom>
          <a:noFill/>
          <a:ln/>
        </p:spPr>
        <p:txBody>
          <a:bodyPr wrap="square" lIns="0" tIns="0" rIns="0" bIns="0" rtlCol="0" anchor="ctr"/>
          <a:lstStyle/>
          <a:p>
            <a:pPr marL="0" indent="0">
              <a:buNone/>
            </a:pPr>
            <a:r>
              <a:rPr lang="en-US" sz="1250" dirty="0">
                <a:solidFill>
                  <a:srgbClr val="1E2430"/>
                </a:solidFill>
                <a:latin typeface="Calibri" pitchFamily="34" charset="0"/>
                <a:ea typeface="Calibri" pitchFamily="34" charset="-122"/>
                <a:cs typeface="Calibri" pitchFamily="34" charset="-120"/>
              </a:rPr>
              <a:t>Ritenta stesso request_id</a:t>
            </a:r>
            <a:endParaRPr lang="en-US" sz="1250" dirty="0"/>
          </a:p>
        </p:txBody>
      </p:sp>
      <p:sp>
        <p:nvSpPr>
          <p:cNvPr id="15" name="Shape 13"/>
          <p:cNvSpPr/>
          <p:nvPr/>
        </p:nvSpPr>
        <p:spPr>
          <a:xfrm>
            <a:off x="3246120" y="4325112"/>
            <a:ext cx="0" cy="182880"/>
          </a:xfrm>
          <a:prstGeom prst="line">
            <a:avLst/>
          </a:prstGeom>
          <a:noFill/>
          <a:ln w="12700">
            <a:solidFill>
              <a:srgbClr val="5B6B79"/>
            </a:solidFill>
            <a:prstDash val="solid"/>
            <a:tailEnd type="triangle"/>
          </a:ln>
        </p:spPr>
        <p:txBody>
          <a:bodyPr/>
          <a:lstStyle/>
          <a:p>
            <a:endParaRPr lang="it-IT"/>
          </a:p>
        </p:txBody>
      </p:sp>
      <p:sp>
        <p:nvSpPr>
          <p:cNvPr id="16" name="Shape 14"/>
          <p:cNvSpPr/>
          <p:nvPr/>
        </p:nvSpPr>
        <p:spPr>
          <a:xfrm>
            <a:off x="548640" y="4507992"/>
            <a:ext cx="5394960" cy="566928"/>
          </a:xfrm>
          <a:prstGeom prst="roundRect">
            <a:avLst>
              <a:gd name="adj" fmla="val 11290"/>
            </a:avLst>
          </a:prstGeom>
          <a:solidFill>
            <a:srgbClr val="FFFFFF"/>
          </a:solidFill>
          <a:ln w="15875">
            <a:solidFill>
              <a:srgbClr val="1C7293"/>
            </a:solidFill>
            <a:prstDash val="solid"/>
          </a:ln>
        </p:spPr>
        <p:txBody>
          <a:bodyPr/>
          <a:lstStyle/>
          <a:p>
            <a:endParaRPr lang="it-IT"/>
          </a:p>
        </p:txBody>
      </p:sp>
      <p:sp>
        <p:nvSpPr>
          <p:cNvPr id="17" name="Text 15"/>
          <p:cNvSpPr/>
          <p:nvPr/>
        </p:nvSpPr>
        <p:spPr>
          <a:xfrm>
            <a:off x="777240" y="4507992"/>
            <a:ext cx="4937760" cy="566928"/>
          </a:xfrm>
          <a:prstGeom prst="rect">
            <a:avLst/>
          </a:prstGeom>
          <a:noFill/>
          <a:ln/>
        </p:spPr>
        <p:txBody>
          <a:bodyPr wrap="square" lIns="0" tIns="0" rIns="0" bIns="0" rtlCol="0" anchor="ctr"/>
          <a:lstStyle/>
          <a:p>
            <a:pPr marL="0" indent="0">
              <a:buNone/>
            </a:pPr>
            <a:r>
              <a:rPr lang="en-US" sz="1250" dirty="0">
                <a:solidFill>
                  <a:srgbClr val="1E2430"/>
                </a:solidFill>
                <a:latin typeface="Calibri" pitchFamily="34" charset="0"/>
                <a:ea typeface="Calibri" pitchFamily="34" charset="-122"/>
                <a:cs typeface="Calibri" pitchFamily="34" charset="-120"/>
              </a:rPr>
              <a:t>Riceve risposta (nuova o replay)</a:t>
            </a:r>
            <a:endParaRPr lang="en-US" sz="1250" dirty="0"/>
          </a:p>
        </p:txBody>
      </p:sp>
      <p:sp>
        <p:nvSpPr>
          <p:cNvPr id="18" name="Shape 16"/>
          <p:cNvSpPr/>
          <p:nvPr/>
        </p:nvSpPr>
        <p:spPr>
          <a:xfrm>
            <a:off x="548640" y="5440680"/>
            <a:ext cx="5394960" cy="777240"/>
          </a:xfrm>
          <a:prstGeom prst="roundRect">
            <a:avLst>
              <a:gd name="adj" fmla="val 9412"/>
            </a:avLst>
          </a:prstGeom>
          <a:solidFill>
            <a:srgbClr val="21295C"/>
          </a:solidFill>
          <a:ln/>
        </p:spPr>
        <p:txBody>
          <a:bodyPr/>
          <a:lstStyle/>
          <a:p>
            <a:endParaRPr lang="it-IT"/>
          </a:p>
        </p:txBody>
      </p:sp>
      <p:sp>
        <p:nvSpPr>
          <p:cNvPr id="19" name="Text 17"/>
          <p:cNvSpPr/>
          <p:nvPr/>
        </p:nvSpPr>
        <p:spPr>
          <a:xfrm>
            <a:off x="804672" y="5605272"/>
            <a:ext cx="4882896" cy="475488"/>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Il request_id resta invariato per tutta la sequenza di retry.</a:t>
            </a:r>
            <a:endParaRPr lang="en-US" sz="1250" dirty="0"/>
          </a:p>
        </p:txBody>
      </p:sp>
      <p:sp>
        <p:nvSpPr>
          <p:cNvPr id="20" name="Shape 18"/>
          <p:cNvSpPr/>
          <p:nvPr/>
        </p:nvSpPr>
        <p:spPr>
          <a:xfrm>
            <a:off x="6172200" y="320040"/>
            <a:ext cx="5658863" cy="6209007"/>
          </a:xfrm>
          <a:prstGeom prst="roundRect">
            <a:avLst>
              <a:gd name="adj" fmla="val 1538"/>
            </a:avLst>
          </a:prstGeom>
          <a:solidFill>
            <a:srgbClr val="1E2430"/>
          </a:solidFill>
          <a:ln/>
          <a:effectLst>
            <a:outerShdw blurRad="101600" dist="38100" dir="5400000" algn="bl" rotWithShape="0">
              <a:srgbClr val="000000">
                <a:alpha val="18000"/>
              </a:srgbClr>
            </a:outerShdw>
          </a:effectLst>
        </p:spPr>
        <p:txBody>
          <a:bodyPr/>
          <a:lstStyle/>
          <a:p>
            <a:endParaRPr lang="it-IT"/>
          </a:p>
        </p:txBody>
      </p:sp>
      <p:sp>
        <p:nvSpPr>
          <p:cNvPr id="21" name="Text 19"/>
          <p:cNvSpPr/>
          <p:nvPr/>
        </p:nvSpPr>
        <p:spPr>
          <a:xfrm>
            <a:off x="6281870" y="328953"/>
            <a:ext cx="5302941" cy="6216531"/>
          </a:xfrm>
          <a:prstGeom prst="rect">
            <a:avLst/>
          </a:prstGeom>
          <a:noFill/>
          <a:ln/>
        </p:spPr>
        <p:txBody>
          <a:bodyPr wrap="square" lIns="0" tIns="0" rIns="0" bIns="0" rtlCol="0" anchor="t"/>
          <a:lstStyle/>
          <a:p>
            <a:pPr>
              <a:lnSpc>
                <a:spcPct val="118000"/>
              </a:lnSpc>
            </a:pPr>
            <a:r>
              <a:rPr lang="en-US" sz="1100" dirty="0">
                <a:solidFill>
                  <a:schemeClr val="bg1"/>
                </a:solidFill>
                <a:latin typeface="Courier New" panose="02070309020205020404" pitchFamily="49" charset="0"/>
                <a:cs typeface="Courier New" panose="02070309020205020404" pitchFamily="49" charset="0"/>
              </a:rPr>
              <a:t>def _</a:t>
            </a:r>
            <a:r>
              <a:rPr lang="en-US" sz="1100" dirty="0" err="1">
                <a:solidFill>
                  <a:schemeClr val="bg1"/>
                </a:solidFill>
                <a:latin typeface="Courier New" panose="02070309020205020404" pitchFamily="49" charset="0"/>
                <a:cs typeface="Courier New" panose="02070309020205020404" pitchFamily="49" charset="0"/>
              </a:rPr>
              <a:t>send_with_retry</a:t>
            </a:r>
            <a:r>
              <a:rPr lang="en-US" sz="1100" dirty="0">
                <a:solidFill>
                  <a:schemeClr val="bg1"/>
                </a:solidFill>
                <a:latin typeface="Courier New" panose="02070309020205020404" pitchFamily="49" charset="0"/>
                <a:cs typeface="Courier New" panose="02070309020205020404" pitchFamily="49" charset="0"/>
              </a:rPr>
              <a:t>(self, command: str) -&gt; str:</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last_error</a:t>
            </a:r>
            <a:r>
              <a:rPr lang="en-US" sz="1100" dirty="0">
                <a:solidFill>
                  <a:schemeClr val="bg1"/>
                </a:solidFill>
                <a:latin typeface="Courier New" panose="02070309020205020404" pitchFamily="49" charset="0"/>
                <a:cs typeface="Courier New" panose="02070309020205020404" pitchFamily="49" charset="0"/>
              </a:rPr>
              <a:t>: Exception | None = None</a:t>
            </a:r>
          </a:p>
          <a:p>
            <a:pPr>
              <a:lnSpc>
                <a:spcPct val="118000"/>
              </a:lnSpc>
            </a:pP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for attempt in range(1, </a:t>
            </a:r>
            <a:r>
              <a:rPr lang="en-US" sz="1100" dirty="0" err="1">
                <a:solidFill>
                  <a:schemeClr val="bg1"/>
                </a:solidFill>
                <a:latin typeface="Courier New" panose="02070309020205020404" pitchFamily="49" charset="0"/>
                <a:cs typeface="Courier New" panose="02070309020205020404" pitchFamily="49" charset="0"/>
              </a:rPr>
              <a:t>self.max_retries</a:t>
            </a:r>
            <a:r>
              <a:rPr lang="en-US" sz="1100" dirty="0">
                <a:solidFill>
                  <a:schemeClr val="bg1"/>
                </a:solidFill>
                <a:latin typeface="Courier New" panose="02070309020205020404" pitchFamily="49" charset="0"/>
                <a:cs typeface="Courier New" panose="02070309020205020404" pitchFamily="49" charset="0"/>
              </a:rPr>
              <a:t> + 1):</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try:</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if </a:t>
            </a:r>
            <a:r>
              <a:rPr lang="en-US" sz="1100" dirty="0" err="1">
                <a:solidFill>
                  <a:schemeClr val="bg1"/>
                </a:solidFill>
                <a:latin typeface="Courier New" panose="02070309020205020404" pitchFamily="49" charset="0"/>
                <a:cs typeface="Courier New" panose="02070309020205020404" pitchFamily="49" charset="0"/>
              </a:rPr>
              <a:t>self._connection</a:t>
            </a:r>
            <a:r>
              <a:rPr lang="en-US" sz="1100" dirty="0">
                <a:solidFill>
                  <a:schemeClr val="bg1"/>
                </a:solidFill>
                <a:latin typeface="Courier New" panose="02070309020205020404" pitchFamily="49" charset="0"/>
                <a:cs typeface="Courier New" panose="02070309020205020404" pitchFamily="49" charset="0"/>
              </a:rPr>
              <a:t> is None or </a:t>
            </a:r>
            <a:r>
              <a:rPr lang="en-US" sz="1100" dirty="0" err="1">
                <a:solidFill>
                  <a:schemeClr val="bg1"/>
                </a:solidFill>
                <a:latin typeface="Courier New" panose="02070309020205020404" pitchFamily="49" charset="0"/>
                <a:cs typeface="Courier New" panose="02070309020205020404" pitchFamily="49" charset="0"/>
              </a:rPr>
              <a:t>self._file</a:t>
            </a:r>
            <a:r>
              <a:rPr lang="en-US" sz="1100" dirty="0">
                <a:solidFill>
                  <a:schemeClr val="bg1"/>
                </a:solidFill>
                <a:latin typeface="Courier New" panose="02070309020205020404" pitchFamily="49" charset="0"/>
                <a:cs typeface="Courier New" panose="02070309020205020404" pitchFamily="49" charset="0"/>
              </a:rPr>
              <a:t> is None:</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self.connect</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self._</a:t>
            </a:r>
            <a:r>
              <a:rPr lang="en-US" sz="1100" dirty="0" err="1">
                <a:solidFill>
                  <a:schemeClr val="bg1"/>
                </a:solidFill>
                <a:latin typeface="Courier New" panose="02070309020205020404" pitchFamily="49" charset="0"/>
                <a:cs typeface="Courier New" panose="02070309020205020404" pitchFamily="49" charset="0"/>
              </a:rPr>
              <a:t>file.write</a:t>
            </a:r>
            <a:r>
              <a:rPr lang="en-US" sz="1100" dirty="0">
                <a:solidFill>
                  <a:schemeClr val="bg1"/>
                </a:solidFill>
                <a:latin typeface="Courier New" panose="02070309020205020404" pitchFamily="49" charset="0"/>
                <a:cs typeface="Courier New" panose="02070309020205020404" pitchFamily="49" charset="0"/>
              </a:rPr>
              <a:t>((command + "\n").encode("utf-8"))</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self._</a:t>
            </a:r>
            <a:r>
              <a:rPr lang="en-US" sz="1100" dirty="0" err="1">
                <a:solidFill>
                  <a:schemeClr val="bg1"/>
                </a:solidFill>
                <a:latin typeface="Courier New" panose="02070309020205020404" pitchFamily="49" charset="0"/>
                <a:cs typeface="Courier New" panose="02070309020205020404" pitchFamily="49" charset="0"/>
              </a:rPr>
              <a:t>file.flush</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response = self._</a:t>
            </a:r>
            <a:r>
              <a:rPr lang="en-US" sz="1100" dirty="0" err="1">
                <a:solidFill>
                  <a:schemeClr val="bg1"/>
                </a:solidFill>
                <a:latin typeface="Courier New" panose="02070309020205020404" pitchFamily="49" charset="0"/>
                <a:cs typeface="Courier New" panose="02070309020205020404" pitchFamily="49" charset="0"/>
              </a:rPr>
              <a:t>file.readline</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if not response:</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raise </a:t>
            </a:r>
            <a:r>
              <a:rPr lang="en-US" sz="1100" dirty="0" err="1">
                <a:solidFill>
                  <a:schemeClr val="bg1"/>
                </a:solidFill>
                <a:latin typeface="Courier New" panose="02070309020205020404" pitchFamily="49" charset="0"/>
                <a:cs typeface="Courier New" panose="02070309020205020404" pitchFamily="49" charset="0"/>
              </a:rPr>
              <a:t>ConnectionError</a:t>
            </a:r>
            <a:r>
              <a:rPr lang="en-US" sz="1100" dirty="0">
                <a:solidFill>
                  <a:schemeClr val="bg1"/>
                </a:solidFill>
                <a:latin typeface="Courier New" panose="02070309020205020404" pitchFamily="49" charset="0"/>
                <a:cs typeface="Courier New" panose="02070309020205020404" pitchFamily="49" charset="0"/>
              </a:rPr>
              <a:t>("Connection closed by server")</a:t>
            </a:r>
          </a:p>
          <a:p>
            <a:pPr>
              <a:lnSpc>
                <a:spcPct val="118000"/>
              </a:lnSpc>
            </a:pP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return </a:t>
            </a:r>
            <a:r>
              <a:rPr lang="en-US" sz="1100" dirty="0" err="1">
                <a:solidFill>
                  <a:schemeClr val="bg1"/>
                </a:solidFill>
                <a:latin typeface="Courier New" panose="02070309020205020404" pitchFamily="49" charset="0"/>
                <a:cs typeface="Courier New" panose="02070309020205020404" pitchFamily="49" charset="0"/>
              </a:rPr>
              <a:t>response.decode</a:t>
            </a:r>
            <a:r>
              <a:rPr lang="en-US" sz="1100" dirty="0">
                <a:solidFill>
                  <a:schemeClr val="bg1"/>
                </a:solidFill>
                <a:latin typeface="Courier New" panose="02070309020205020404" pitchFamily="49" charset="0"/>
                <a:cs typeface="Courier New" panose="02070309020205020404" pitchFamily="49" charset="0"/>
              </a:rPr>
              <a:t>("utf-8", errors="replace").</a:t>
            </a:r>
            <a:r>
              <a:rPr lang="en-US" sz="1100" dirty="0" err="1">
                <a:solidFill>
                  <a:schemeClr val="bg1"/>
                </a:solidFill>
                <a:latin typeface="Courier New" panose="02070309020205020404" pitchFamily="49" charset="0"/>
                <a:cs typeface="Courier New" panose="02070309020205020404" pitchFamily="49" charset="0"/>
              </a:rPr>
              <a:t>rstrip</a:t>
            </a:r>
            <a:r>
              <a:rPr lang="en-US" sz="1100" dirty="0">
                <a:solidFill>
                  <a:schemeClr val="bg1"/>
                </a:solidFill>
                <a:latin typeface="Courier New" panose="02070309020205020404" pitchFamily="49" charset="0"/>
                <a:cs typeface="Courier New" panose="02070309020205020404" pitchFamily="49" charset="0"/>
              </a:rPr>
              <a:t>("\n")</a:t>
            </a:r>
          </a:p>
          <a:p>
            <a:pPr>
              <a:lnSpc>
                <a:spcPct val="118000"/>
              </a:lnSpc>
            </a:pP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except (</a:t>
            </a:r>
            <a:r>
              <a:rPr lang="en-US" sz="1100" dirty="0" err="1">
                <a:solidFill>
                  <a:schemeClr val="bg1"/>
                </a:solidFill>
                <a:latin typeface="Courier New" panose="02070309020205020404" pitchFamily="49" charset="0"/>
                <a:cs typeface="Courier New" panose="02070309020205020404" pitchFamily="49" charset="0"/>
              </a:rPr>
              <a:t>socket.timeout</a:t>
            </a: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ConnectionError</a:t>
            </a: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OSError</a:t>
            </a:r>
            <a:r>
              <a:rPr lang="en-US" sz="1100" dirty="0">
                <a:solidFill>
                  <a:schemeClr val="bg1"/>
                </a:solidFill>
                <a:latin typeface="Courier New" panose="02070309020205020404" pitchFamily="49" charset="0"/>
                <a:cs typeface="Courier New" panose="02070309020205020404" pitchFamily="49" charset="0"/>
              </a:rPr>
              <a:t>) as </a:t>
            </a:r>
            <a:r>
              <a:rPr lang="en-US" sz="1100" dirty="0" err="1">
                <a:solidFill>
                  <a:schemeClr val="bg1"/>
                </a:solidFill>
                <a:latin typeface="Courier New" panose="02070309020205020404" pitchFamily="49" charset="0"/>
                <a:cs typeface="Courier New" panose="02070309020205020404" pitchFamily="49" charset="0"/>
              </a:rPr>
              <a:t>exc</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last_error</a:t>
            </a:r>
            <a:r>
              <a:rPr lang="en-US" sz="1100" dirty="0">
                <a:solidFill>
                  <a:schemeClr val="bg1"/>
                </a:solidFill>
                <a:latin typeface="Courier New" panose="02070309020205020404" pitchFamily="49" charset="0"/>
                <a:cs typeface="Courier New" panose="02070309020205020404" pitchFamily="49" charset="0"/>
              </a:rPr>
              <a:t> = </a:t>
            </a:r>
            <a:r>
              <a:rPr lang="en-US" sz="1100" dirty="0" err="1">
                <a:solidFill>
                  <a:schemeClr val="bg1"/>
                </a:solidFill>
                <a:latin typeface="Courier New" panose="02070309020205020404" pitchFamily="49" charset="0"/>
                <a:cs typeface="Courier New" panose="02070309020205020404" pitchFamily="49" charset="0"/>
              </a:rPr>
              <a:t>exc</a:t>
            </a: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log(</a:t>
            </a:r>
            <a:r>
              <a:rPr lang="en-US" sz="1100" dirty="0" err="1">
                <a:solidFill>
                  <a:schemeClr val="bg1"/>
                </a:solidFill>
                <a:latin typeface="Courier New" panose="02070309020205020404" pitchFamily="49" charset="0"/>
                <a:cs typeface="Courier New" panose="02070309020205020404" pitchFamily="49" charset="0"/>
              </a:rPr>
              <a:t>f"retry</a:t>
            </a:r>
            <a:r>
              <a:rPr lang="en-US" sz="1100" dirty="0">
                <a:solidFill>
                  <a:schemeClr val="bg1"/>
                </a:solidFill>
                <a:latin typeface="Courier New" panose="02070309020205020404" pitchFamily="49" charset="0"/>
                <a:cs typeface="Courier New" panose="02070309020205020404" pitchFamily="49" charset="0"/>
              </a:rPr>
              <a:t> {attempt}/{</a:t>
            </a:r>
            <a:r>
              <a:rPr lang="en-US" sz="1100" dirty="0" err="1">
                <a:solidFill>
                  <a:schemeClr val="bg1"/>
                </a:solidFill>
                <a:latin typeface="Courier New" panose="02070309020205020404" pitchFamily="49" charset="0"/>
                <a:cs typeface="Courier New" panose="02070309020205020404" pitchFamily="49" charset="0"/>
              </a:rPr>
              <a:t>self.max_retries</a:t>
            </a:r>
            <a:r>
              <a:rPr lang="en-US" sz="1100" dirty="0">
                <a:solidFill>
                  <a:schemeClr val="bg1"/>
                </a:solidFill>
                <a:latin typeface="Courier New" panose="02070309020205020404" pitchFamily="49" charset="0"/>
                <a:cs typeface="Courier New" panose="02070309020205020404" pitchFamily="49" charset="0"/>
              </a:rPr>
              <a:t>} failed: {</a:t>
            </a:r>
            <a:r>
              <a:rPr lang="en-US" sz="1100" dirty="0" err="1">
                <a:solidFill>
                  <a:schemeClr val="bg1"/>
                </a:solidFill>
                <a:latin typeface="Courier New" panose="02070309020205020404" pitchFamily="49" charset="0"/>
                <a:cs typeface="Courier New" panose="02070309020205020404" pitchFamily="49" charset="0"/>
              </a:rPr>
              <a:t>exc</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if attempt &lt; </a:t>
            </a:r>
            <a:r>
              <a:rPr lang="en-US" sz="1100" dirty="0" err="1">
                <a:solidFill>
                  <a:schemeClr val="bg1"/>
                </a:solidFill>
                <a:latin typeface="Courier New" panose="02070309020205020404" pitchFamily="49" charset="0"/>
                <a:cs typeface="Courier New" panose="02070309020205020404" pitchFamily="49" charset="0"/>
              </a:rPr>
              <a:t>self.max_retries</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time.sleep</a:t>
            </a:r>
            <a:r>
              <a:rPr lang="en-US" sz="1100" dirty="0">
                <a:solidFill>
                  <a:schemeClr val="bg1"/>
                </a:solidFill>
                <a:latin typeface="Courier New" panose="02070309020205020404" pitchFamily="49" charset="0"/>
                <a:cs typeface="Courier New" panose="02070309020205020404" pitchFamily="49" charset="0"/>
              </a:rPr>
              <a:t>(0.1 * attempt)</a:t>
            </a: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a:t>
            </a:r>
            <a:r>
              <a:rPr lang="en-US" sz="1100" dirty="0" err="1">
                <a:solidFill>
                  <a:schemeClr val="bg1"/>
                </a:solidFill>
                <a:latin typeface="Courier New" panose="02070309020205020404" pitchFamily="49" charset="0"/>
                <a:cs typeface="Courier New" panose="02070309020205020404" pitchFamily="49" charset="0"/>
              </a:rPr>
              <a:t>self._reconnect</a:t>
            </a:r>
            <a:r>
              <a:rPr lang="en-US" sz="1100" dirty="0">
                <a:solidFill>
                  <a:schemeClr val="bg1"/>
                </a:solidFill>
                <a:latin typeface="Courier New" panose="02070309020205020404" pitchFamily="49" charset="0"/>
                <a:cs typeface="Courier New" panose="02070309020205020404" pitchFamily="49" charset="0"/>
              </a:rPr>
              <a:t>()</a:t>
            </a:r>
          </a:p>
          <a:p>
            <a:pPr>
              <a:lnSpc>
                <a:spcPct val="118000"/>
              </a:lnSpc>
            </a:pPr>
            <a:endParaRPr lang="en-US" sz="1100" dirty="0">
              <a:solidFill>
                <a:schemeClr val="bg1"/>
              </a:solidFill>
              <a:latin typeface="Courier New" panose="02070309020205020404" pitchFamily="49" charset="0"/>
              <a:cs typeface="Courier New" panose="02070309020205020404" pitchFamily="49" charset="0"/>
            </a:endParaRPr>
          </a:p>
          <a:p>
            <a:pPr>
              <a:lnSpc>
                <a:spcPct val="118000"/>
              </a:lnSpc>
            </a:pPr>
            <a:r>
              <a:rPr lang="en-US" sz="1100" dirty="0">
                <a:solidFill>
                  <a:schemeClr val="bg1"/>
                </a:solidFill>
                <a:latin typeface="Courier New" panose="02070309020205020404" pitchFamily="49" charset="0"/>
                <a:cs typeface="Courier New" panose="02070309020205020404" pitchFamily="49" charset="0"/>
              </a:rPr>
              <a:t>    raise </a:t>
            </a:r>
            <a:r>
              <a:rPr lang="en-US" sz="1100" dirty="0" err="1">
                <a:solidFill>
                  <a:schemeClr val="bg1"/>
                </a:solidFill>
                <a:latin typeface="Courier New" panose="02070309020205020404" pitchFamily="49" charset="0"/>
                <a:cs typeface="Courier New" panose="02070309020205020404" pitchFamily="49" charset="0"/>
              </a:rPr>
              <a:t>ConnectionError</a:t>
            </a:r>
            <a:r>
              <a:rPr lang="en-US" sz="1100" dirty="0">
                <a:solidFill>
                  <a:schemeClr val="bg1"/>
                </a:solidFill>
                <a:latin typeface="Courier New" panose="02070309020205020404" pitchFamily="49" charset="0"/>
                <a:cs typeface="Courier New" panose="02070309020205020404" pitchFamily="49" charset="0"/>
              </a:rPr>
              <a:t>(</a:t>
            </a:r>
            <a:r>
              <a:rPr lang="en-US" sz="1100" dirty="0" err="1">
                <a:solidFill>
                  <a:schemeClr val="bg1"/>
                </a:solidFill>
                <a:latin typeface="Courier New" panose="02070309020205020404" pitchFamily="49" charset="0"/>
                <a:cs typeface="Courier New" panose="02070309020205020404" pitchFamily="49" charset="0"/>
              </a:rPr>
              <a:t>f"All</a:t>
            </a:r>
            <a:r>
              <a:rPr lang="en-US" sz="1100" dirty="0">
                <a:solidFill>
                  <a:schemeClr val="bg1"/>
                </a:solidFill>
                <a:latin typeface="Courier New" panose="02070309020205020404" pitchFamily="49" charset="0"/>
                <a:cs typeface="Courier New" panose="02070309020205020404" pitchFamily="49" charset="0"/>
              </a:rPr>
              <a:t> retries failed. Last error: {</a:t>
            </a:r>
            <a:r>
              <a:rPr lang="en-US" sz="1100" dirty="0" err="1">
                <a:solidFill>
                  <a:schemeClr val="bg1"/>
                </a:solidFill>
                <a:latin typeface="Courier New" panose="02070309020205020404" pitchFamily="49" charset="0"/>
                <a:cs typeface="Courier New" panose="02070309020205020404" pitchFamily="49" charset="0"/>
              </a:rPr>
              <a:t>last_error</a:t>
            </a:r>
            <a:r>
              <a:rPr lang="en-US" sz="1100" dirty="0">
                <a:solidFill>
                  <a:schemeClr val="bg1"/>
                </a:solidFill>
                <a:latin typeface="Courier New" panose="02070309020205020404" pitchFamily="49" charset="0"/>
                <a:cs typeface="Courier New" panose="02070309020205020404" pitchFamily="49" charset="0"/>
              </a:rPr>
              <a:t>}")</a:t>
            </a: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PROPRIETA'</a:t>
            </a:r>
            <a:endParaRPr lang="en-US" sz="1200" dirty="0"/>
          </a:p>
        </p:txBody>
      </p:sp>
      <p:sp>
        <p:nvSpPr>
          <p:cNvPr id="3" name="Text 1"/>
          <p:cNvSpPr/>
          <p:nvPr/>
        </p:nvSpPr>
        <p:spPr>
          <a:xfrm>
            <a:off x="548640" y="640080"/>
            <a:ext cx="10789920" cy="594360"/>
          </a:xfrm>
          <a:prstGeom prst="rect">
            <a:avLst/>
          </a:prstGeom>
          <a:noFill/>
          <a:ln/>
        </p:spPr>
        <p:txBody>
          <a:bodyPr wrap="square" rtlCol="0" anchor="ctr"/>
          <a:lstStyle/>
          <a:p>
            <a:pPr marL="0" indent="0">
              <a:buNone/>
            </a:pPr>
            <a:r>
              <a:rPr lang="en-US" sz="3000" b="1" dirty="0">
                <a:solidFill>
                  <a:srgbClr val="002060"/>
                </a:solidFill>
                <a:latin typeface="Cambria" pitchFamily="34" charset="0"/>
                <a:ea typeface="Cambria" pitchFamily="34" charset="-122"/>
                <a:cs typeface="Cambria" pitchFamily="34" charset="-120"/>
              </a:rPr>
              <a:t>Safety: niente effetti doppi</a:t>
            </a:r>
            <a:endParaRPr lang="en-US" sz="3000" dirty="0">
              <a:solidFill>
                <a:srgbClr val="002060"/>
              </a:solidFill>
            </a:endParaRPr>
          </a:p>
        </p:txBody>
      </p:sp>
      <p:sp>
        <p:nvSpPr>
          <p:cNvPr id="4" name="Shape 2"/>
          <p:cNvSpPr/>
          <p:nvPr/>
        </p:nvSpPr>
        <p:spPr>
          <a:xfrm>
            <a:off x="548640" y="1508760"/>
            <a:ext cx="3514344" cy="4480560"/>
          </a:xfrm>
          <a:prstGeom prst="roundRect">
            <a:avLst>
              <a:gd name="adj" fmla="val 2602"/>
            </a:avLst>
          </a:prstGeom>
          <a:solidFill>
            <a:srgbClr val="F3F7F9"/>
          </a:solidFill>
          <a:ln/>
          <a:effectLst>
            <a:outerShdw blurRad="101600" dist="25400" dir="5400000" algn="bl" rotWithShape="0">
              <a:srgbClr val="000000">
                <a:alpha val="6000"/>
              </a:srgbClr>
            </a:outerShdw>
          </a:effectLst>
        </p:spPr>
        <p:txBody>
          <a:bodyPr/>
          <a:lstStyle/>
          <a:p>
            <a:endParaRPr lang="it-IT"/>
          </a:p>
        </p:txBody>
      </p:sp>
      <p:sp>
        <p:nvSpPr>
          <p:cNvPr id="7" name="Text 4"/>
          <p:cNvSpPr/>
          <p:nvPr/>
        </p:nvSpPr>
        <p:spPr>
          <a:xfrm>
            <a:off x="822960" y="1612900"/>
            <a:ext cx="2965704" cy="64008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S1 · No doppio effetto</a:t>
            </a:r>
            <a:endParaRPr lang="en-US" sz="1600" dirty="0"/>
          </a:p>
        </p:txBody>
      </p:sp>
      <p:sp>
        <p:nvSpPr>
          <p:cNvPr id="8" name="Text 5"/>
          <p:cNvSpPr/>
          <p:nvPr/>
        </p:nvSpPr>
        <p:spPr>
          <a:xfrm>
            <a:off x="772160" y="2024380"/>
            <a:ext cx="2965704" cy="1005840"/>
          </a:xfrm>
          <a:prstGeom prst="rect">
            <a:avLst/>
          </a:prstGeom>
          <a:noFill/>
          <a:ln/>
        </p:spPr>
        <p:txBody>
          <a:bodyPr wrap="square" rtlCol="0" anchor="ctr"/>
          <a:lstStyle/>
          <a:p>
            <a:pPr marL="0" indent="0" algn="just">
              <a:buNone/>
            </a:pPr>
            <a:r>
              <a:rPr lang="en-US" sz="1400" dirty="0">
                <a:solidFill>
                  <a:srgbClr val="1E2430"/>
                </a:solidFill>
                <a:latin typeface="Calibri" pitchFamily="34" charset="0"/>
                <a:ea typeface="Calibri" pitchFamily="34" charset="-122"/>
                <a:cs typeface="Calibri" pitchFamily="34" charset="-120"/>
              </a:rPr>
              <a:t>La stessa richiesta mutativa non produce effetti doppi.</a:t>
            </a:r>
            <a:endParaRPr lang="en-US" sz="1400" dirty="0"/>
          </a:p>
        </p:txBody>
      </p:sp>
      <p:sp>
        <p:nvSpPr>
          <p:cNvPr id="9" name="Shape 6"/>
          <p:cNvSpPr/>
          <p:nvPr/>
        </p:nvSpPr>
        <p:spPr>
          <a:xfrm>
            <a:off x="822960" y="3030220"/>
            <a:ext cx="2965704" cy="0"/>
          </a:xfrm>
          <a:prstGeom prst="line">
            <a:avLst/>
          </a:prstGeom>
          <a:noFill/>
          <a:ln w="12700">
            <a:solidFill>
              <a:srgbClr val="D7E3E8"/>
            </a:solidFill>
            <a:prstDash val="solid"/>
          </a:ln>
        </p:spPr>
        <p:txBody>
          <a:bodyPr/>
          <a:lstStyle/>
          <a:p>
            <a:endParaRPr lang="it-IT"/>
          </a:p>
        </p:txBody>
      </p:sp>
      <p:sp>
        <p:nvSpPr>
          <p:cNvPr id="10" name="Text 7"/>
          <p:cNvSpPr/>
          <p:nvPr/>
        </p:nvSpPr>
        <p:spPr>
          <a:xfrm>
            <a:off x="799846" y="2966544"/>
            <a:ext cx="3066796" cy="2299343"/>
          </a:xfrm>
          <a:prstGeom prst="rect">
            <a:avLst/>
          </a:prstGeom>
          <a:noFill/>
          <a:ln/>
        </p:spPr>
        <p:txBody>
          <a:bodyPr wrap="square"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Come è garantita
</a:t>
            </a:r>
            <a:endParaRPr lang="en-US" sz="1400" dirty="0"/>
          </a:p>
          <a:p>
            <a:pPr algn="just"/>
            <a:r>
              <a:rPr lang="it-IT" sz="1400" dirty="0">
                <a:latin typeface="Calibri "/>
                <a:ea typeface="Aptos" panose="020B0004020202020204" pitchFamily="34" charset="0"/>
                <a:cs typeface="Times New Roman" panose="02020603050405020304" pitchFamily="18" charset="0"/>
              </a:rPr>
              <a:t>Dalla </a:t>
            </a:r>
            <a:r>
              <a:rPr lang="it-IT" sz="1400" dirty="0" err="1">
                <a:latin typeface="Calibri "/>
                <a:ea typeface="Aptos" panose="020B0004020202020204" pitchFamily="34" charset="0"/>
                <a:cs typeface="Times New Roman" panose="02020603050405020304" pitchFamily="18" charset="0"/>
              </a:rPr>
              <a:t>lookup</a:t>
            </a:r>
            <a:r>
              <a:rPr lang="it-IT" sz="1400" dirty="0">
                <a:latin typeface="Calibri "/>
                <a:ea typeface="Aptos" panose="020B0004020202020204" pitchFamily="34" charset="0"/>
                <a:cs typeface="Times New Roman" panose="02020603050405020304" pitchFamily="18" charset="0"/>
              </a:rPr>
              <a:t> nella </a:t>
            </a:r>
            <a:r>
              <a:rPr lang="it-IT" sz="1400" dirty="0" err="1">
                <a:latin typeface="Calibri "/>
                <a:ea typeface="Aptos" panose="020B0004020202020204" pitchFamily="34" charset="0"/>
                <a:cs typeface="Times New Roman" panose="02020603050405020304" pitchFamily="18" charset="0"/>
              </a:rPr>
              <a:t>request_table</a:t>
            </a:r>
            <a:r>
              <a:rPr lang="it-IT" sz="1400" dirty="0">
                <a:latin typeface="Calibri "/>
                <a:ea typeface="Aptos" panose="020B0004020202020204" pitchFamily="34" charset="0"/>
                <a:cs typeface="Times New Roman" panose="02020603050405020304" pitchFamily="18" charset="0"/>
              </a:rPr>
              <a:t> che avviene prima di qualunque esecuzione, </a:t>
            </a:r>
            <a:r>
              <a:rPr lang="it-IT" sz="1400" dirty="0">
                <a:effectLst/>
                <a:latin typeface="Calibri "/>
                <a:ea typeface="Aptos" panose="020B0004020202020204" pitchFamily="34" charset="0"/>
                <a:cs typeface="Times New Roman" panose="02020603050405020304" pitchFamily="18" charset="0"/>
              </a:rPr>
              <a:t>l'atomicità di questa verifica, l'intero blocco di controllo _</a:t>
            </a:r>
            <a:r>
              <a:rPr lang="it-IT" sz="1400" dirty="0" err="1">
                <a:effectLst/>
                <a:latin typeface="Calibri "/>
                <a:ea typeface="Aptos" panose="020B0004020202020204" pitchFamily="34" charset="0"/>
                <a:cs typeface="Times New Roman" panose="02020603050405020304" pitchFamily="18" charset="0"/>
              </a:rPr>
              <a:t>check_dedup</a:t>
            </a:r>
            <a:r>
              <a:rPr lang="it-IT" sz="1400" dirty="0">
                <a:effectLst/>
                <a:latin typeface="Calibri "/>
                <a:ea typeface="Aptos" panose="020B0004020202020204" pitchFamily="34" charset="0"/>
                <a:cs typeface="Times New Roman" panose="02020603050405020304" pitchFamily="18" charset="0"/>
              </a:rPr>
              <a:t> ed esecuzione della scrittura è protetto da un lock globale (with </a:t>
            </a:r>
            <a:r>
              <a:rPr lang="it-IT" sz="1400" dirty="0" err="1">
                <a:effectLst/>
                <a:latin typeface="Calibri "/>
                <a:ea typeface="Aptos" panose="020B0004020202020204" pitchFamily="34" charset="0"/>
                <a:cs typeface="Times New Roman" panose="02020603050405020304" pitchFamily="18" charset="0"/>
              </a:rPr>
              <a:t>self._lock</a:t>
            </a:r>
            <a:r>
              <a:rPr lang="it-IT" sz="1400" dirty="0">
                <a:effectLst/>
                <a:latin typeface="Calibri "/>
                <a:ea typeface="Aptos" panose="020B0004020202020204" pitchFamily="34" charset="0"/>
                <a:cs typeface="Times New Roman" panose="02020603050405020304" pitchFamily="18" charset="0"/>
              </a:rPr>
              <a:t>:).</a:t>
            </a:r>
            <a:endParaRPr lang="en-US" sz="1200" dirty="0">
              <a:latin typeface="Calibri "/>
            </a:endParaRPr>
          </a:p>
        </p:txBody>
      </p:sp>
      <p:sp>
        <p:nvSpPr>
          <p:cNvPr id="11" name="Shape 8"/>
          <p:cNvSpPr/>
          <p:nvPr/>
        </p:nvSpPr>
        <p:spPr>
          <a:xfrm>
            <a:off x="4337304" y="1508760"/>
            <a:ext cx="3514344" cy="4480560"/>
          </a:xfrm>
          <a:prstGeom prst="roundRect">
            <a:avLst>
              <a:gd name="adj" fmla="val 2602"/>
            </a:avLst>
          </a:prstGeom>
          <a:solidFill>
            <a:srgbClr val="F3F7F9"/>
          </a:solidFill>
          <a:ln/>
          <a:effectLst>
            <a:outerShdw blurRad="101600" dist="25400" dir="5400000" algn="bl" rotWithShape="0">
              <a:srgbClr val="000000">
                <a:alpha val="6000"/>
              </a:srgbClr>
            </a:outerShdw>
          </a:effectLst>
        </p:spPr>
        <p:txBody>
          <a:bodyPr/>
          <a:lstStyle/>
          <a:p>
            <a:endParaRPr lang="it-IT"/>
          </a:p>
        </p:txBody>
      </p:sp>
      <p:sp>
        <p:nvSpPr>
          <p:cNvPr id="14" name="Text 10"/>
          <p:cNvSpPr/>
          <p:nvPr/>
        </p:nvSpPr>
        <p:spPr>
          <a:xfrm>
            <a:off x="4541774" y="1612900"/>
            <a:ext cx="2965704" cy="64008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S2 · Coerenza del replay</a:t>
            </a:r>
            <a:endParaRPr lang="en-US" sz="1600" dirty="0"/>
          </a:p>
        </p:txBody>
      </p:sp>
      <p:sp>
        <p:nvSpPr>
          <p:cNvPr id="15" name="Text 11"/>
          <p:cNvSpPr/>
          <p:nvPr/>
        </p:nvSpPr>
        <p:spPr>
          <a:xfrm>
            <a:off x="4541774" y="2023618"/>
            <a:ext cx="2965704" cy="1005840"/>
          </a:xfrm>
          <a:prstGeom prst="rect">
            <a:avLst/>
          </a:prstGeom>
          <a:noFill/>
          <a:ln/>
        </p:spPr>
        <p:txBody>
          <a:bodyPr wrap="square" rtlCol="0" anchor="ctr"/>
          <a:lstStyle/>
          <a:p>
            <a:pPr marL="0" indent="0">
              <a:buNone/>
            </a:pPr>
            <a:r>
              <a:rPr lang="en-US" sz="1400" dirty="0">
                <a:solidFill>
                  <a:srgbClr val="1E2430"/>
                </a:solidFill>
                <a:latin typeface="Calibri" pitchFamily="34" charset="0"/>
                <a:ea typeface="Calibri" pitchFamily="34" charset="-122"/>
                <a:cs typeface="Calibri" pitchFamily="34" charset="-120"/>
              </a:rPr>
              <a:t>La risposta replayed e' identica a quella originale.</a:t>
            </a:r>
            <a:endParaRPr lang="en-US" sz="1400" dirty="0"/>
          </a:p>
        </p:txBody>
      </p:sp>
      <p:sp>
        <p:nvSpPr>
          <p:cNvPr id="16" name="Shape 12"/>
          <p:cNvSpPr/>
          <p:nvPr/>
        </p:nvSpPr>
        <p:spPr>
          <a:xfrm>
            <a:off x="4460748" y="3030220"/>
            <a:ext cx="2965704" cy="0"/>
          </a:xfrm>
          <a:prstGeom prst="line">
            <a:avLst/>
          </a:prstGeom>
          <a:noFill/>
          <a:ln w="12700">
            <a:solidFill>
              <a:srgbClr val="D7E3E8"/>
            </a:solidFill>
            <a:prstDash val="solid"/>
          </a:ln>
        </p:spPr>
        <p:txBody>
          <a:bodyPr/>
          <a:lstStyle/>
          <a:p>
            <a:endParaRPr lang="it-IT"/>
          </a:p>
        </p:txBody>
      </p:sp>
      <p:sp>
        <p:nvSpPr>
          <p:cNvPr id="17" name="Text 13"/>
          <p:cNvSpPr/>
          <p:nvPr/>
        </p:nvSpPr>
        <p:spPr>
          <a:xfrm>
            <a:off x="4541774" y="3180691"/>
            <a:ext cx="2965704" cy="1690878"/>
          </a:xfrm>
          <a:prstGeom prst="rect">
            <a:avLst/>
          </a:prstGeom>
          <a:noFill/>
          <a:ln/>
        </p:spPr>
        <p:txBody>
          <a:bodyPr wrap="square"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Come è garantita
</a:t>
            </a:r>
            <a:endParaRPr lang="en-US" sz="1400" dirty="0"/>
          </a:p>
          <a:p>
            <a:pPr marL="0" indent="0" algn="just">
              <a:buNone/>
            </a:pPr>
            <a:r>
              <a:rPr lang="it-IT" sz="1400" dirty="0">
                <a:effectLst/>
                <a:latin typeface="Calibri "/>
                <a:ea typeface="Aptos" panose="020B0004020202020204" pitchFamily="34" charset="0"/>
                <a:cs typeface="Times New Roman" panose="02020603050405020304" pitchFamily="18" charset="0"/>
              </a:rPr>
              <a:t>Questa coerenza è assicurata dal metodo _</a:t>
            </a:r>
            <a:r>
              <a:rPr lang="it-IT" sz="1400" dirty="0" err="1">
                <a:effectLst/>
                <a:latin typeface="Calibri "/>
                <a:ea typeface="Aptos" panose="020B0004020202020204" pitchFamily="34" charset="0"/>
                <a:cs typeface="Times New Roman" panose="02020603050405020304" pitchFamily="18" charset="0"/>
              </a:rPr>
              <a:t>save_and_gc</a:t>
            </a:r>
            <a:r>
              <a:rPr lang="it-IT" sz="1400" dirty="0">
                <a:effectLst/>
                <a:latin typeface="Calibri "/>
                <a:ea typeface="Aptos" panose="020B0004020202020204" pitchFamily="34" charset="0"/>
                <a:cs typeface="Times New Roman" panose="02020603050405020304" pitchFamily="18" charset="0"/>
              </a:rPr>
              <a:t>, che salva la risposta nella tabella nello stesso identico istante e sotto lo stesso lock di scrittura in cui viene modificato lo store. </a:t>
            </a:r>
            <a:endParaRPr lang="en-US" sz="1100" dirty="0">
              <a:latin typeface="Calibri "/>
            </a:endParaRPr>
          </a:p>
        </p:txBody>
      </p:sp>
      <p:sp>
        <p:nvSpPr>
          <p:cNvPr id="18" name="Shape 14"/>
          <p:cNvSpPr/>
          <p:nvPr/>
        </p:nvSpPr>
        <p:spPr>
          <a:xfrm>
            <a:off x="8125968" y="1490472"/>
            <a:ext cx="3514344" cy="4480560"/>
          </a:xfrm>
          <a:prstGeom prst="roundRect">
            <a:avLst>
              <a:gd name="adj" fmla="val 2602"/>
            </a:avLst>
          </a:prstGeom>
          <a:solidFill>
            <a:srgbClr val="F3F7F9"/>
          </a:solidFill>
          <a:ln/>
          <a:effectLst>
            <a:outerShdw blurRad="101600" dist="25400" dir="5400000" algn="bl" rotWithShape="0">
              <a:srgbClr val="000000">
                <a:alpha val="6000"/>
              </a:srgbClr>
            </a:outerShdw>
          </a:effectLst>
        </p:spPr>
        <p:txBody>
          <a:bodyPr/>
          <a:lstStyle/>
          <a:p>
            <a:endParaRPr lang="it-IT"/>
          </a:p>
        </p:txBody>
      </p:sp>
      <p:sp>
        <p:nvSpPr>
          <p:cNvPr id="21" name="Text 16"/>
          <p:cNvSpPr/>
          <p:nvPr/>
        </p:nvSpPr>
        <p:spPr>
          <a:xfrm>
            <a:off x="8400288" y="1606550"/>
            <a:ext cx="2965704" cy="64008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S3 · Non confusione</a:t>
            </a:r>
            <a:endParaRPr lang="en-US" sz="1600" dirty="0"/>
          </a:p>
        </p:txBody>
      </p:sp>
      <p:sp>
        <p:nvSpPr>
          <p:cNvPr id="22" name="Text 17"/>
          <p:cNvSpPr/>
          <p:nvPr/>
        </p:nvSpPr>
        <p:spPr>
          <a:xfrm>
            <a:off x="8377428" y="1999742"/>
            <a:ext cx="2965704" cy="1005840"/>
          </a:xfrm>
          <a:prstGeom prst="rect">
            <a:avLst/>
          </a:prstGeom>
          <a:noFill/>
          <a:ln/>
        </p:spPr>
        <p:txBody>
          <a:bodyPr wrap="square" rtlCol="0" anchor="ctr"/>
          <a:lstStyle/>
          <a:p>
            <a:pPr marL="0" indent="0">
              <a:buNone/>
            </a:pPr>
            <a:r>
              <a:rPr lang="en-US" sz="1400" dirty="0">
                <a:solidFill>
                  <a:srgbClr val="1E2430"/>
                </a:solidFill>
                <a:latin typeface="Calibri" pitchFamily="34" charset="0"/>
                <a:ea typeface="Calibri" pitchFamily="34" charset="-122"/>
                <a:cs typeface="Calibri" pitchFamily="34" charset="-120"/>
              </a:rPr>
              <a:t>Richieste diverse non si confondono, anche sulla stessa chiave.</a:t>
            </a:r>
            <a:endParaRPr lang="en-US" sz="1400" dirty="0"/>
          </a:p>
        </p:txBody>
      </p:sp>
      <p:sp>
        <p:nvSpPr>
          <p:cNvPr id="23" name="Shape 18"/>
          <p:cNvSpPr/>
          <p:nvPr/>
        </p:nvSpPr>
        <p:spPr>
          <a:xfrm>
            <a:off x="8364728" y="3083560"/>
            <a:ext cx="2965704" cy="0"/>
          </a:xfrm>
          <a:prstGeom prst="line">
            <a:avLst/>
          </a:prstGeom>
          <a:noFill/>
          <a:ln w="12700">
            <a:solidFill>
              <a:srgbClr val="D7E3E8"/>
            </a:solidFill>
            <a:prstDash val="solid"/>
          </a:ln>
        </p:spPr>
        <p:txBody>
          <a:bodyPr/>
          <a:lstStyle/>
          <a:p>
            <a:endParaRPr lang="it-IT"/>
          </a:p>
        </p:txBody>
      </p:sp>
      <p:sp>
        <p:nvSpPr>
          <p:cNvPr id="24" name="Text 19"/>
          <p:cNvSpPr/>
          <p:nvPr/>
        </p:nvSpPr>
        <p:spPr>
          <a:xfrm>
            <a:off x="8296910" y="3772916"/>
            <a:ext cx="2872740" cy="1417320"/>
          </a:xfrm>
          <a:prstGeom prst="rect">
            <a:avLst/>
          </a:prstGeom>
          <a:noFill/>
          <a:ln/>
        </p:spPr>
        <p:txBody>
          <a:bodyPr wrap="square" rtlCol="0" anchor="ctr"/>
          <a:lstStyle/>
          <a:p>
            <a:r>
              <a:rPr lang="en-US" sz="1400" b="1" dirty="0">
                <a:solidFill>
                  <a:srgbClr val="1C7293"/>
                </a:solidFill>
                <a:latin typeface="Calibri" pitchFamily="34" charset="0"/>
                <a:ea typeface="Calibri" pitchFamily="34" charset="-122"/>
                <a:cs typeface="Calibri" pitchFamily="34" charset="-120"/>
              </a:rPr>
              <a:t>Come è </a:t>
            </a:r>
            <a:r>
              <a:rPr lang="en-US" sz="1400" b="1" dirty="0" err="1">
                <a:solidFill>
                  <a:srgbClr val="1C7293"/>
                </a:solidFill>
                <a:latin typeface="Calibri" pitchFamily="34" charset="0"/>
                <a:ea typeface="Calibri" pitchFamily="34" charset="-122"/>
                <a:cs typeface="Calibri" pitchFamily="34" charset="-120"/>
              </a:rPr>
              <a:t>garantita</a:t>
            </a:r>
            <a:endParaRPr lang="en-US" sz="1400" b="1" dirty="0">
              <a:solidFill>
                <a:srgbClr val="1C7293"/>
              </a:solidFill>
              <a:latin typeface="Calibri" pitchFamily="34" charset="0"/>
              <a:ea typeface="Calibri" pitchFamily="34" charset="-122"/>
              <a:cs typeface="Calibri" pitchFamily="34" charset="-120"/>
            </a:endParaRPr>
          </a:p>
          <a:p>
            <a:pPr algn="just"/>
            <a:r>
              <a:rPr lang="en-US" sz="1400" b="1" dirty="0">
                <a:solidFill>
                  <a:srgbClr val="1C7293"/>
                </a:solidFill>
                <a:ea typeface="Calibri" pitchFamily="34" charset="-122"/>
                <a:cs typeface="Calibri" pitchFamily="34" charset="-120"/>
              </a:rPr>
              <a:t>
</a:t>
            </a:r>
            <a:r>
              <a:rPr lang="it-IT" sz="1400" kern="100" dirty="0">
                <a:ea typeface="Aptos" panose="020B0004020202020204" pitchFamily="34" charset="0"/>
                <a:cs typeface="Times New Roman" panose="02020603050405020304" pitchFamily="18" charset="0"/>
              </a:rPr>
              <a:t>Il server esegue il </a:t>
            </a:r>
            <a:r>
              <a:rPr lang="it-IT" sz="1400" kern="100" dirty="0" err="1">
                <a:ea typeface="Aptos" panose="020B0004020202020204" pitchFamily="34" charset="0"/>
                <a:cs typeface="Times New Roman" panose="02020603050405020304" pitchFamily="18" charset="0"/>
              </a:rPr>
              <a:t>parsing</a:t>
            </a:r>
            <a:r>
              <a:rPr lang="it-IT" sz="1400" kern="100" dirty="0">
                <a:ea typeface="Aptos" panose="020B0004020202020204" pitchFamily="34" charset="0"/>
                <a:cs typeface="Times New Roman" panose="02020603050405020304" pitchFamily="18" charset="0"/>
              </a:rPr>
              <a:t> del </a:t>
            </a:r>
            <a:r>
              <a:rPr lang="it-IT" sz="1400" kern="100" dirty="0" err="1">
                <a:ea typeface="Aptos" panose="020B0004020202020204" pitchFamily="34" charset="0"/>
                <a:cs typeface="Times New Roman" panose="02020603050405020304" pitchFamily="18" charset="0"/>
              </a:rPr>
              <a:t>request_id</a:t>
            </a:r>
            <a:r>
              <a:rPr lang="it-IT" sz="1400" kern="100" dirty="0">
                <a:ea typeface="Aptos" panose="020B0004020202020204" pitchFamily="34" charset="0"/>
                <a:cs typeface="Times New Roman" panose="02020603050405020304" pitchFamily="18" charset="0"/>
              </a:rPr>
              <a:t> e organizza la tabella di deduplicazione in modo gerarchico: self._</a:t>
            </a:r>
            <a:r>
              <a:rPr lang="it-IT" sz="1400" kern="100" dirty="0" err="1">
                <a:ea typeface="Aptos" panose="020B0004020202020204" pitchFamily="34" charset="0"/>
                <a:cs typeface="Times New Roman" panose="02020603050405020304" pitchFamily="18" charset="0"/>
              </a:rPr>
              <a:t>request_table</a:t>
            </a:r>
            <a:r>
              <a:rPr lang="it-IT" sz="1400" kern="100" dirty="0">
                <a:ea typeface="Aptos" panose="020B0004020202020204" pitchFamily="34" charset="0"/>
                <a:cs typeface="Times New Roman" panose="02020603050405020304" pitchFamily="18" charset="0"/>
              </a:rPr>
              <a:t> = {</a:t>
            </a:r>
            <a:r>
              <a:rPr lang="it-IT" sz="1400" kern="100" dirty="0" err="1">
                <a:ea typeface="Aptos" panose="020B0004020202020204" pitchFamily="34" charset="0"/>
                <a:cs typeface="Times New Roman" panose="02020603050405020304" pitchFamily="18" charset="0"/>
              </a:rPr>
              <a:t>client_id</a:t>
            </a:r>
            <a:r>
              <a:rPr lang="it-IT" sz="1400" kern="100" dirty="0">
                <a:ea typeface="Aptos" panose="020B0004020202020204" pitchFamily="34" charset="0"/>
                <a:cs typeface="Times New Roman" panose="02020603050405020304" pitchFamily="18" charset="0"/>
              </a:rPr>
              <a:t>: {</a:t>
            </a:r>
            <a:r>
              <a:rPr lang="it-IT" sz="1400" kern="100" dirty="0" err="1">
                <a:ea typeface="Aptos" panose="020B0004020202020204" pitchFamily="34" charset="0"/>
                <a:cs typeface="Times New Roman" panose="02020603050405020304" pitchFamily="18" charset="0"/>
              </a:rPr>
              <a:t>seq</a:t>
            </a:r>
            <a:r>
              <a:rPr lang="it-IT" sz="1400" kern="100" dirty="0">
                <a:ea typeface="Aptos" panose="020B0004020202020204" pitchFamily="34" charset="0"/>
                <a:cs typeface="Times New Roman" panose="02020603050405020304" pitchFamily="18" charset="0"/>
              </a:rPr>
              <a:t>: </a:t>
            </a:r>
            <a:r>
              <a:rPr lang="it-IT" sz="1400" kern="100" dirty="0" err="1">
                <a:ea typeface="Aptos" panose="020B0004020202020204" pitchFamily="34" charset="0"/>
                <a:cs typeface="Times New Roman" panose="02020603050405020304" pitchFamily="18" charset="0"/>
              </a:rPr>
              <a:t>response</a:t>
            </a:r>
            <a:r>
              <a:rPr lang="it-IT" sz="1400" kern="100" dirty="0">
                <a:ea typeface="Aptos" panose="020B0004020202020204" pitchFamily="34" charset="0"/>
                <a:cs typeface="Times New Roman" panose="02020603050405020304" pitchFamily="18" charset="0"/>
              </a:rPr>
              <a:t>}}. Questo garantisce che la richiesta seq:42 di </a:t>
            </a:r>
            <a:r>
              <a:rPr lang="it-IT" sz="1400" kern="100" dirty="0" err="1">
                <a:ea typeface="Aptos" panose="020B0004020202020204" pitchFamily="34" charset="0"/>
                <a:cs typeface="Times New Roman" panose="02020603050405020304" pitchFamily="18" charset="0"/>
              </a:rPr>
              <a:t>clientA</a:t>
            </a:r>
            <a:r>
              <a:rPr lang="it-IT" sz="1400" kern="100" dirty="0">
                <a:ea typeface="Aptos" panose="020B0004020202020204" pitchFamily="34" charset="0"/>
                <a:cs typeface="Times New Roman" panose="02020603050405020304" pitchFamily="18" charset="0"/>
              </a:rPr>
              <a:t> e la richiesta seq:42 di </a:t>
            </a:r>
            <a:r>
              <a:rPr lang="it-IT" sz="1400" kern="100" dirty="0" err="1">
                <a:ea typeface="Aptos" panose="020B0004020202020204" pitchFamily="34" charset="0"/>
                <a:cs typeface="Times New Roman" panose="02020603050405020304" pitchFamily="18" charset="0"/>
              </a:rPr>
              <a:t>clientB</a:t>
            </a:r>
            <a:r>
              <a:rPr lang="it-IT" sz="1400" kern="100" dirty="0">
                <a:ea typeface="Aptos" panose="020B0004020202020204" pitchFamily="34" charset="0"/>
                <a:cs typeface="Times New Roman" panose="02020603050405020304" pitchFamily="18" charset="0"/>
              </a:rPr>
              <a:t> viaggino su binari logici totalmente separati."</a:t>
            </a:r>
          </a:p>
          <a:p>
            <a:pPr marL="0" indent="0">
              <a:buNone/>
            </a:pP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PROPRIETA'</a:t>
            </a:r>
            <a:endParaRPr lang="en-US" sz="1200" dirty="0"/>
          </a:p>
        </p:txBody>
      </p:sp>
      <p:sp>
        <p:nvSpPr>
          <p:cNvPr id="3" name="Text 1"/>
          <p:cNvSpPr/>
          <p:nvPr/>
        </p:nvSpPr>
        <p:spPr>
          <a:xfrm>
            <a:off x="548640" y="640080"/>
            <a:ext cx="10789920" cy="594360"/>
          </a:xfrm>
          <a:prstGeom prst="rect">
            <a:avLst/>
          </a:prstGeom>
          <a:noFill/>
          <a:ln/>
        </p:spPr>
        <p:txBody>
          <a:bodyPr wrap="square" rtlCol="0" anchor="ctr"/>
          <a:lstStyle/>
          <a:p>
            <a:pPr marL="0" indent="0">
              <a:buNone/>
            </a:pPr>
            <a:r>
              <a:rPr lang="en-US" sz="3000" b="1" dirty="0">
                <a:solidFill>
                  <a:srgbClr val="002060"/>
                </a:solidFill>
                <a:latin typeface="Cambria" pitchFamily="34" charset="0"/>
                <a:ea typeface="Cambria" pitchFamily="34" charset="-122"/>
                <a:cs typeface="Cambria" pitchFamily="34" charset="-120"/>
              </a:rPr>
              <a:t>Liveness: il servizio non si blocca</a:t>
            </a:r>
            <a:endParaRPr lang="en-US" sz="3000" dirty="0">
              <a:solidFill>
                <a:srgbClr val="002060"/>
              </a:solidFill>
            </a:endParaRPr>
          </a:p>
        </p:txBody>
      </p:sp>
      <p:sp>
        <p:nvSpPr>
          <p:cNvPr id="4" name="Shape 2"/>
          <p:cNvSpPr/>
          <p:nvPr/>
        </p:nvSpPr>
        <p:spPr>
          <a:xfrm>
            <a:off x="548640" y="1508760"/>
            <a:ext cx="3514344" cy="2788920"/>
          </a:xfrm>
          <a:prstGeom prst="roundRect">
            <a:avLst>
              <a:gd name="adj" fmla="val 3279"/>
            </a:avLst>
          </a:prstGeom>
          <a:solidFill>
            <a:srgbClr val="F3F7F9"/>
          </a:solidFill>
          <a:ln/>
          <a:effectLst>
            <a:outerShdw blurRad="101600" dist="25400" dir="5400000" algn="bl" rotWithShape="0">
              <a:srgbClr val="000000">
                <a:alpha val="6000"/>
              </a:srgbClr>
            </a:outerShdw>
          </a:effectLst>
        </p:spPr>
        <p:txBody>
          <a:bodyPr/>
          <a:lstStyle/>
          <a:p>
            <a:endParaRPr lang="it-IT" dirty="0"/>
          </a:p>
        </p:txBody>
      </p:sp>
      <p:sp>
        <p:nvSpPr>
          <p:cNvPr id="7" name="Text 4"/>
          <p:cNvSpPr/>
          <p:nvPr/>
        </p:nvSpPr>
        <p:spPr>
          <a:xfrm>
            <a:off x="695960" y="1600200"/>
            <a:ext cx="2965704" cy="548640"/>
          </a:xfrm>
          <a:prstGeom prst="rect">
            <a:avLst/>
          </a:prstGeom>
          <a:noFill/>
          <a:ln/>
        </p:spPr>
        <p:txBody>
          <a:bodyPr wrap="square"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L1 · GC non bloccante</a:t>
            </a:r>
            <a:endParaRPr lang="en-US" sz="1450" dirty="0"/>
          </a:p>
        </p:txBody>
      </p:sp>
      <p:sp>
        <p:nvSpPr>
          <p:cNvPr id="8" name="Text 5"/>
          <p:cNvSpPr/>
          <p:nvPr/>
        </p:nvSpPr>
        <p:spPr>
          <a:xfrm>
            <a:off x="822960" y="3063240"/>
            <a:ext cx="2965704" cy="822960"/>
          </a:xfrm>
          <a:prstGeom prst="rect">
            <a:avLst/>
          </a:prstGeom>
          <a:noFill/>
          <a:ln/>
        </p:spPr>
        <p:txBody>
          <a:bodyPr wrap="square" rtlCol="0" anchor="ctr"/>
          <a:lstStyle/>
          <a:p>
            <a:pPr marL="0" indent="0">
              <a:buNone/>
            </a:pPr>
            <a:endParaRPr lang="en-US" sz="1200" dirty="0"/>
          </a:p>
        </p:txBody>
      </p:sp>
      <p:sp>
        <p:nvSpPr>
          <p:cNvPr id="9" name="Text 6"/>
          <p:cNvSpPr/>
          <p:nvPr/>
        </p:nvSpPr>
        <p:spPr>
          <a:xfrm>
            <a:off x="822960" y="3794760"/>
            <a:ext cx="2965704" cy="457200"/>
          </a:xfrm>
          <a:prstGeom prst="rect">
            <a:avLst/>
          </a:prstGeom>
          <a:noFill/>
          <a:ln/>
        </p:spPr>
        <p:txBody>
          <a:bodyPr wrap="square" rtlCol="0" anchor="ctr"/>
          <a:lstStyle/>
          <a:p>
            <a:pPr marL="0" indent="0">
              <a:buNone/>
            </a:pPr>
            <a:r>
              <a:rPr lang="en-US" sz="1050" i="1" dirty="0">
                <a:solidFill>
                  <a:srgbClr val="5B6B79"/>
                </a:solidFill>
                <a:latin typeface="Calibri" pitchFamily="34" charset="0"/>
                <a:ea typeface="Calibri" pitchFamily="34" charset="-122"/>
                <a:cs typeface="Calibri" pitchFamily="34" charset="-120"/>
              </a:rPr>
              <a:t>O(k log k) sulle entry da rimuovere, tipicamente poche unita'.</a:t>
            </a:r>
            <a:endParaRPr lang="en-US" sz="1050" dirty="0"/>
          </a:p>
        </p:txBody>
      </p:sp>
      <p:sp>
        <p:nvSpPr>
          <p:cNvPr id="10" name="Shape 7"/>
          <p:cNvSpPr/>
          <p:nvPr/>
        </p:nvSpPr>
        <p:spPr>
          <a:xfrm>
            <a:off x="4337304" y="1508760"/>
            <a:ext cx="3514344" cy="2788920"/>
          </a:xfrm>
          <a:prstGeom prst="roundRect">
            <a:avLst>
              <a:gd name="adj" fmla="val 3279"/>
            </a:avLst>
          </a:prstGeom>
          <a:solidFill>
            <a:srgbClr val="F3F7F9"/>
          </a:solidFill>
          <a:ln/>
          <a:effectLst>
            <a:outerShdw blurRad="101600" dist="25400" dir="5400000" algn="bl" rotWithShape="0">
              <a:srgbClr val="000000">
                <a:alpha val="6000"/>
              </a:srgbClr>
            </a:outerShdw>
          </a:effectLst>
        </p:spPr>
        <p:txBody>
          <a:bodyPr/>
          <a:lstStyle/>
          <a:p>
            <a:endParaRPr lang="it-IT"/>
          </a:p>
        </p:txBody>
      </p:sp>
      <p:sp>
        <p:nvSpPr>
          <p:cNvPr id="13" name="Text 9"/>
          <p:cNvSpPr/>
          <p:nvPr/>
        </p:nvSpPr>
        <p:spPr>
          <a:xfrm>
            <a:off x="4560824" y="1515110"/>
            <a:ext cx="2965704" cy="548640"/>
          </a:xfrm>
          <a:prstGeom prst="rect">
            <a:avLst/>
          </a:prstGeom>
          <a:noFill/>
          <a:ln/>
        </p:spPr>
        <p:txBody>
          <a:bodyPr wrap="square"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L2 · Retry completabile</a:t>
            </a:r>
            <a:endParaRPr lang="en-US" sz="1450" dirty="0"/>
          </a:p>
        </p:txBody>
      </p:sp>
      <p:sp>
        <p:nvSpPr>
          <p:cNvPr id="14" name="Text 10"/>
          <p:cNvSpPr/>
          <p:nvPr/>
        </p:nvSpPr>
        <p:spPr>
          <a:xfrm>
            <a:off x="4611624" y="3063240"/>
            <a:ext cx="2965704" cy="822960"/>
          </a:xfrm>
          <a:prstGeom prst="rect">
            <a:avLst/>
          </a:prstGeom>
          <a:noFill/>
          <a:ln/>
        </p:spPr>
        <p:txBody>
          <a:bodyPr wrap="square" rtlCol="0" anchor="ctr"/>
          <a:lstStyle/>
          <a:p>
            <a:pPr marL="0" indent="0">
              <a:buNone/>
            </a:pPr>
            <a:endParaRPr lang="en-US" sz="1200" dirty="0"/>
          </a:p>
        </p:txBody>
      </p:sp>
      <p:sp>
        <p:nvSpPr>
          <p:cNvPr id="15" name="Text 11"/>
          <p:cNvSpPr/>
          <p:nvPr/>
        </p:nvSpPr>
        <p:spPr>
          <a:xfrm>
            <a:off x="4611624" y="3794760"/>
            <a:ext cx="2965704" cy="457200"/>
          </a:xfrm>
          <a:prstGeom prst="rect">
            <a:avLst/>
          </a:prstGeom>
          <a:noFill/>
          <a:ln/>
        </p:spPr>
        <p:txBody>
          <a:bodyPr wrap="square" rtlCol="0" anchor="ctr"/>
          <a:lstStyle/>
          <a:p>
            <a:pPr marL="0" indent="0">
              <a:buNone/>
            </a:pPr>
            <a:r>
              <a:rPr lang="en-US" sz="1050" i="1" dirty="0">
                <a:solidFill>
                  <a:srgbClr val="5B6B79"/>
                </a:solidFill>
                <a:latin typeface="Calibri" pitchFamily="34" charset="0"/>
                <a:ea typeface="Calibri" pitchFamily="34" charset="-122"/>
                <a:cs typeface="Calibri" pitchFamily="34" charset="-120"/>
              </a:rPr>
              <a:t>Con seq monotoni entro la finestra, l'entry si trova sempre.</a:t>
            </a:r>
            <a:endParaRPr lang="en-US" sz="1050" dirty="0"/>
          </a:p>
        </p:txBody>
      </p:sp>
      <p:sp>
        <p:nvSpPr>
          <p:cNvPr id="16" name="Shape 12"/>
          <p:cNvSpPr/>
          <p:nvPr/>
        </p:nvSpPr>
        <p:spPr>
          <a:xfrm>
            <a:off x="8125968" y="1508760"/>
            <a:ext cx="3514344" cy="2788920"/>
          </a:xfrm>
          <a:prstGeom prst="roundRect">
            <a:avLst>
              <a:gd name="adj" fmla="val 3279"/>
            </a:avLst>
          </a:prstGeom>
          <a:solidFill>
            <a:srgbClr val="F3F7F9"/>
          </a:solidFill>
          <a:ln/>
          <a:effectLst>
            <a:outerShdw blurRad="101600" dist="25400" dir="5400000" algn="bl" rotWithShape="0">
              <a:srgbClr val="000000">
                <a:alpha val="6000"/>
              </a:srgbClr>
            </a:outerShdw>
          </a:effectLst>
        </p:spPr>
        <p:txBody>
          <a:bodyPr/>
          <a:lstStyle/>
          <a:p>
            <a:endParaRPr lang="it-IT"/>
          </a:p>
        </p:txBody>
      </p:sp>
      <p:sp>
        <p:nvSpPr>
          <p:cNvPr id="19" name="Text 14"/>
          <p:cNvSpPr/>
          <p:nvPr/>
        </p:nvSpPr>
        <p:spPr>
          <a:xfrm>
            <a:off x="8372856" y="1521460"/>
            <a:ext cx="2965704" cy="548640"/>
          </a:xfrm>
          <a:prstGeom prst="rect">
            <a:avLst/>
          </a:prstGeom>
          <a:noFill/>
          <a:ln/>
        </p:spPr>
        <p:txBody>
          <a:bodyPr wrap="square"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L3 · Memoria limitata</a:t>
            </a:r>
            <a:endParaRPr lang="en-US" sz="1450" dirty="0"/>
          </a:p>
        </p:txBody>
      </p:sp>
      <p:sp>
        <p:nvSpPr>
          <p:cNvPr id="20" name="Text 15"/>
          <p:cNvSpPr/>
          <p:nvPr/>
        </p:nvSpPr>
        <p:spPr>
          <a:xfrm>
            <a:off x="8400288" y="3063240"/>
            <a:ext cx="2965704" cy="822960"/>
          </a:xfrm>
          <a:prstGeom prst="rect">
            <a:avLst/>
          </a:prstGeom>
          <a:noFill/>
          <a:ln/>
        </p:spPr>
        <p:txBody>
          <a:bodyPr wrap="square" rtlCol="0" anchor="ctr"/>
          <a:lstStyle/>
          <a:p>
            <a:pPr marL="0" indent="0">
              <a:buNone/>
            </a:pPr>
            <a:endParaRPr lang="en-US" sz="1200" dirty="0"/>
          </a:p>
        </p:txBody>
      </p:sp>
      <p:sp>
        <p:nvSpPr>
          <p:cNvPr id="21" name="Text 16"/>
          <p:cNvSpPr/>
          <p:nvPr/>
        </p:nvSpPr>
        <p:spPr>
          <a:xfrm>
            <a:off x="8400288" y="3794760"/>
            <a:ext cx="2965704" cy="457200"/>
          </a:xfrm>
          <a:prstGeom prst="rect">
            <a:avLst/>
          </a:prstGeom>
          <a:noFill/>
          <a:ln/>
        </p:spPr>
        <p:txBody>
          <a:bodyPr wrap="square" rtlCol="0" anchor="ctr"/>
          <a:lstStyle/>
          <a:p>
            <a:pPr marL="0" indent="0">
              <a:buNone/>
            </a:pPr>
            <a:r>
              <a:rPr lang="en-US" sz="1050" i="1" dirty="0">
                <a:solidFill>
                  <a:srgbClr val="5B6B79"/>
                </a:solidFill>
                <a:latin typeface="Calibri" pitchFamily="34" charset="0"/>
                <a:ea typeface="Calibri" pitchFamily="34" charset="-122"/>
                <a:cs typeface="Calibri" pitchFamily="34" charset="-120"/>
              </a:rPr>
              <a:t>Sliding window (max N per client) + ACK cumulativo esplicito.</a:t>
            </a:r>
            <a:endParaRPr lang="en-US" sz="1050" dirty="0"/>
          </a:p>
        </p:txBody>
      </p:sp>
      <p:sp>
        <p:nvSpPr>
          <p:cNvPr id="22" name="Text 17"/>
          <p:cNvSpPr/>
          <p:nvPr/>
        </p:nvSpPr>
        <p:spPr>
          <a:xfrm>
            <a:off x="548640" y="4526280"/>
            <a:ext cx="7315200" cy="274320"/>
          </a:xfrm>
          <a:prstGeom prst="rect">
            <a:avLst/>
          </a:prstGeom>
          <a:noFill/>
          <a:ln/>
        </p:spPr>
        <p:txBody>
          <a:bodyPr wrap="square" rtlCol="0" anchor="ctr"/>
          <a:lstStyle/>
          <a:p>
            <a:pPr marL="0" indent="0">
              <a:buNone/>
            </a:pPr>
            <a:r>
              <a:rPr lang="en-US" sz="1100" b="1" kern="0" spc="120" dirty="0">
                <a:solidFill>
                  <a:srgbClr val="5B6B79"/>
                </a:solidFill>
                <a:latin typeface="Calibri" pitchFamily="34" charset="0"/>
                <a:ea typeface="Calibri" pitchFamily="34" charset="-122"/>
                <a:cs typeface="Calibri" pitchFamily="34" charset="-120"/>
              </a:rPr>
              <a:t>MECCANISMO DI GARBAGE COLLECTION</a:t>
            </a:r>
            <a:endParaRPr lang="en-US" sz="1100" dirty="0"/>
          </a:p>
        </p:txBody>
      </p:sp>
      <p:sp>
        <p:nvSpPr>
          <p:cNvPr id="23" name="Shape 18"/>
          <p:cNvSpPr/>
          <p:nvPr/>
        </p:nvSpPr>
        <p:spPr>
          <a:xfrm>
            <a:off x="548640" y="4846320"/>
            <a:ext cx="5394960" cy="1143000"/>
          </a:xfrm>
          <a:prstGeom prst="roundRect">
            <a:avLst>
              <a:gd name="adj" fmla="val 6400"/>
            </a:avLst>
          </a:prstGeom>
          <a:solidFill>
            <a:srgbClr val="DCEAF1"/>
          </a:solidFill>
          <a:ln/>
        </p:spPr>
        <p:txBody>
          <a:bodyPr/>
          <a:lstStyle/>
          <a:p>
            <a:endParaRPr lang="it-IT"/>
          </a:p>
        </p:txBody>
      </p:sp>
      <p:sp>
        <p:nvSpPr>
          <p:cNvPr id="24" name="Text 19"/>
          <p:cNvSpPr/>
          <p:nvPr/>
        </p:nvSpPr>
        <p:spPr>
          <a:xfrm>
            <a:off x="777240" y="4983480"/>
            <a:ext cx="4937760" cy="914400"/>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Sliding window automatica
</a:t>
            </a:r>
            <a:endParaRPr lang="en-US" sz="1250" dirty="0"/>
          </a:p>
          <a:p>
            <a:pPr marL="0" indent="0">
              <a:buNone/>
            </a:pPr>
            <a:r>
              <a:rPr lang="en-US" sz="1100" dirty="0">
                <a:solidFill>
                  <a:srgbClr val="5B6B79"/>
                </a:solidFill>
                <a:latin typeface="Calibri" pitchFamily="34" charset="0"/>
                <a:ea typeface="Calibri" pitchFamily="34" charset="-122"/>
                <a:cs typeface="Calibri" pitchFamily="34" charset="-120"/>
              </a:rPr>
              <a:t>Oltre MAX_WINDOW=100 entry per client, le piu' vecchie vengono rimosse.</a:t>
            </a:r>
            <a:endParaRPr lang="en-US" sz="1250" dirty="0"/>
          </a:p>
        </p:txBody>
      </p:sp>
      <p:sp>
        <p:nvSpPr>
          <p:cNvPr id="25" name="Shape 20"/>
          <p:cNvSpPr/>
          <p:nvPr/>
        </p:nvSpPr>
        <p:spPr>
          <a:xfrm>
            <a:off x="6245352" y="4846320"/>
            <a:ext cx="5394960" cy="1143000"/>
          </a:xfrm>
          <a:prstGeom prst="roundRect">
            <a:avLst>
              <a:gd name="adj" fmla="val 6400"/>
            </a:avLst>
          </a:prstGeom>
          <a:solidFill>
            <a:srgbClr val="DCEAF1"/>
          </a:solidFill>
          <a:ln/>
        </p:spPr>
        <p:txBody>
          <a:bodyPr/>
          <a:lstStyle/>
          <a:p>
            <a:endParaRPr lang="it-IT"/>
          </a:p>
        </p:txBody>
      </p:sp>
      <p:sp>
        <p:nvSpPr>
          <p:cNvPr id="26" name="Text 21"/>
          <p:cNvSpPr/>
          <p:nvPr/>
        </p:nvSpPr>
        <p:spPr>
          <a:xfrm>
            <a:off x="6473952" y="4983480"/>
            <a:ext cx="4937760" cy="914400"/>
          </a:xfrm>
          <a:prstGeom prst="rect">
            <a:avLst/>
          </a:prstGeom>
          <a:noFill/>
          <a:ln/>
        </p:spPr>
        <p:txBody>
          <a:bodyPr wrap="square" rtlCol="0" anchor="ctr"/>
          <a:lstStyle/>
          <a:p>
            <a:pPr marL="0" indent="0">
              <a:buNone/>
            </a:pPr>
            <a:r>
              <a:rPr lang="en-US" sz="1250" b="1" dirty="0">
                <a:solidFill>
                  <a:srgbClr val="065A82"/>
                </a:solidFill>
                <a:latin typeface="Calibri" pitchFamily="34" charset="0"/>
                <a:ea typeface="Calibri" pitchFamily="34" charset="-122"/>
                <a:cs typeface="Calibri" pitchFamily="34" charset="-120"/>
              </a:rPr>
              <a:t>ACK esplicito
</a:t>
            </a:r>
            <a:endParaRPr lang="en-US" sz="1250" dirty="0"/>
          </a:p>
          <a:p>
            <a:pPr marL="0" indent="0">
              <a:buNone/>
            </a:pPr>
            <a:r>
              <a:rPr lang="en-US" sz="1100" dirty="0">
                <a:solidFill>
                  <a:srgbClr val="5B6B79"/>
                </a:solidFill>
                <a:latin typeface="Calibri" pitchFamily="34" charset="0"/>
                <a:ea typeface="Calibri" pitchFamily="34" charset="-122"/>
                <a:cs typeface="Calibri" pitchFamily="34" charset="-120"/>
              </a:rPr>
              <a:t>ACK client_id seq rimuove subito le entry con sequence_number ≤ seq.</a:t>
            </a:r>
            <a:endParaRPr lang="en-US" sz="1250" dirty="0"/>
          </a:p>
        </p:txBody>
      </p:sp>
      <p:sp>
        <p:nvSpPr>
          <p:cNvPr id="28" name="CasellaDiTesto 27">
            <a:extLst>
              <a:ext uri="{FF2B5EF4-FFF2-40B4-BE49-F238E27FC236}">
                <a16:creationId xmlns:a16="http://schemas.microsoft.com/office/drawing/2014/main" id="{E8897C17-4260-2480-1B07-05183EA61659}"/>
              </a:ext>
            </a:extLst>
          </p:cNvPr>
          <p:cNvSpPr txBox="1"/>
          <p:nvPr/>
        </p:nvSpPr>
        <p:spPr>
          <a:xfrm>
            <a:off x="611124" y="2133050"/>
            <a:ext cx="3177540" cy="646331"/>
          </a:xfrm>
          <a:prstGeom prst="rect">
            <a:avLst/>
          </a:prstGeom>
          <a:noFill/>
        </p:spPr>
        <p:txBody>
          <a:bodyPr wrap="square">
            <a:spAutoFit/>
          </a:bodyPr>
          <a:lstStyle/>
          <a:p>
            <a:r>
              <a:rPr lang="it-IT" sz="1200" dirty="0">
                <a:effectLst/>
                <a:latin typeface="Aptos" panose="020B0004020202020204" pitchFamily="34" charset="0"/>
                <a:ea typeface="Aptos" panose="020B0004020202020204" pitchFamily="34" charset="0"/>
                <a:cs typeface="Times New Roman" panose="02020603050405020304" pitchFamily="18" charset="0"/>
              </a:rPr>
              <a:t>Memorizzare le risposte indefinitamente porterebbe inevitabilmente a un crash per esaurimento memoria (Out-Of-Memory).</a:t>
            </a:r>
            <a:endParaRPr lang="it-IT" sz="2000" dirty="0"/>
          </a:p>
        </p:txBody>
      </p:sp>
      <p:sp>
        <p:nvSpPr>
          <p:cNvPr id="30" name="CasellaDiTesto 29">
            <a:extLst>
              <a:ext uri="{FF2B5EF4-FFF2-40B4-BE49-F238E27FC236}">
                <a16:creationId xmlns:a16="http://schemas.microsoft.com/office/drawing/2014/main" id="{AE94FD88-722B-2862-444B-DD225DC01E25}"/>
              </a:ext>
            </a:extLst>
          </p:cNvPr>
          <p:cNvSpPr txBox="1"/>
          <p:nvPr/>
        </p:nvSpPr>
        <p:spPr>
          <a:xfrm>
            <a:off x="596392" y="2893681"/>
            <a:ext cx="3514344" cy="646331"/>
          </a:xfrm>
          <a:prstGeom prst="rect">
            <a:avLst/>
          </a:prstGeom>
          <a:noFill/>
        </p:spPr>
        <p:txBody>
          <a:bodyPr wrap="square">
            <a:spAutoFit/>
          </a:bodyPr>
          <a:lstStyle/>
          <a:p>
            <a:r>
              <a:rPr lang="it-IT" sz="1200" dirty="0">
                <a:effectLst/>
                <a:latin typeface="Aptos" panose="020B0004020202020204" pitchFamily="34" charset="0"/>
                <a:ea typeface="Aptos" panose="020B0004020202020204" pitchFamily="34" charset="0"/>
                <a:cs typeface="Times New Roman" panose="02020603050405020304" pitchFamily="18" charset="0"/>
              </a:rPr>
              <a:t>Per evitare i problemi di concorrenza tipici dei </a:t>
            </a:r>
            <a:r>
              <a:rPr lang="it-IT" sz="1200" dirty="0" err="1">
                <a:effectLst/>
                <a:latin typeface="Aptos" panose="020B0004020202020204" pitchFamily="34" charset="0"/>
                <a:ea typeface="Aptos" panose="020B0004020202020204" pitchFamily="34" charset="0"/>
                <a:cs typeface="Times New Roman" panose="02020603050405020304" pitchFamily="18" charset="0"/>
              </a:rPr>
              <a:t>thread</a:t>
            </a:r>
            <a:r>
              <a:rPr lang="it-IT" sz="1200" dirty="0">
                <a:effectLst/>
                <a:latin typeface="Aptos" panose="020B0004020202020204" pitchFamily="34" charset="0"/>
                <a:ea typeface="Aptos" panose="020B0004020202020204" pitchFamily="34" charset="0"/>
                <a:cs typeface="Times New Roman" panose="02020603050405020304" pitchFamily="18" charset="0"/>
              </a:rPr>
              <a:t> in background, la nostra GC è </a:t>
            </a:r>
            <a:r>
              <a:rPr lang="it-IT" sz="1200" b="1" dirty="0" err="1">
                <a:effectLst/>
                <a:latin typeface="Aptos" panose="020B0004020202020204" pitchFamily="34" charset="0"/>
                <a:ea typeface="Aptos" panose="020B0004020202020204" pitchFamily="34" charset="0"/>
                <a:cs typeface="Times New Roman" panose="02020603050405020304" pitchFamily="18" charset="0"/>
              </a:rPr>
              <a:t>inline</a:t>
            </a:r>
            <a:r>
              <a:rPr lang="it-IT" sz="1200" dirty="0">
                <a:effectLst/>
                <a:latin typeface="Aptos" panose="020B0004020202020204" pitchFamily="34" charset="0"/>
                <a:ea typeface="Aptos" panose="020B0004020202020204" pitchFamily="34" charset="0"/>
                <a:cs typeface="Times New Roman" panose="02020603050405020304" pitchFamily="18" charset="0"/>
              </a:rPr>
              <a:t>: viene eseguita in coda al metodo _</a:t>
            </a:r>
            <a:r>
              <a:rPr lang="it-IT" sz="1200" dirty="0" err="1">
                <a:effectLst/>
                <a:latin typeface="Aptos" panose="020B0004020202020204" pitchFamily="34" charset="0"/>
                <a:ea typeface="Aptos" panose="020B0004020202020204" pitchFamily="34" charset="0"/>
                <a:cs typeface="Times New Roman" panose="02020603050405020304" pitchFamily="18" charset="0"/>
              </a:rPr>
              <a:t>save_and_gc</a:t>
            </a:r>
            <a:r>
              <a:rPr lang="it-IT" sz="1200" dirty="0">
                <a:effectLst/>
                <a:latin typeface="Aptos" panose="020B0004020202020204" pitchFamily="34" charset="0"/>
                <a:ea typeface="Aptos" panose="020B0004020202020204" pitchFamily="34" charset="0"/>
                <a:cs typeface="Times New Roman" panose="02020603050405020304" pitchFamily="18" charset="0"/>
              </a:rPr>
              <a:t>. </a:t>
            </a:r>
            <a:endParaRPr lang="it-IT" sz="2000" dirty="0"/>
          </a:p>
        </p:txBody>
      </p:sp>
      <p:sp>
        <p:nvSpPr>
          <p:cNvPr id="32" name="CasellaDiTesto 31">
            <a:extLst>
              <a:ext uri="{FF2B5EF4-FFF2-40B4-BE49-F238E27FC236}">
                <a16:creationId xmlns:a16="http://schemas.microsoft.com/office/drawing/2014/main" id="{8B4A5D46-7970-8E4B-5AA1-1FF0C7AFD9A2}"/>
              </a:ext>
            </a:extLst>
          </p:cNvPr>
          <p:cNvSpPr txBox="1"/>
          <p:nvPr/>
        </p:nvSpPr>
        <p:spPr>
          <a:xfrm>
            <a:off x="4445000" y="2052902"/>
            <a:ext cx="3197352" cy="1015663"/>
          </a:xfrm>
          <a:prstGeom prst="rect">
            <a:avLst/>
          </a:prstGeom>
          <a:noFill/>
        </p:spPr>
        <p:txBody>
          <a:bodyPr wrap="square">
            <a:spAutoFit/>
          </a:bodyPr>
          <a:lstStyle/>
          <a:p>
            <a:r>
              <a:rPr lang="it-IT" sz="1200" b="0" i="0" dirty="0">
                <a:effectLst/>
                <a:latin typeface="Aptos" panose="020B0004020202020204" pitchFamily="34" charset="0"/>
              </a:rPr>
              <a:t>Un client corretto completa sempre la sequenza grazie ai </a:t>
            </a:r>
            <a:r>
              <a:rPr lang="it-IT" sz="1200" b="0" i="0" dirty="0" err="1">
                <a:effectLst/>
                <a:latin typeface="Aptos" panose="020B0004020202020204" pitchFamily="34" charset="0"/>
              </a:rPr>
              <a:t>retry</a:t>
            </a:r>
            <a:r>
              <a:rPr lang="it-IT" sz="1200" b="0" i="0" dirty="0">
                <a:effectLst/>
                <a:latin typeface="Aptos" panose="020B0004020202020204" pitchFamily="34" charset="0"/>
              </a:rPr>
              <a:t> automatici e riconnessioni del proxy.</a:t>
            </a:r>
            <a:r>
              <a:rPr lang="it-IT" sz="1200" dirty="0">
                <a:effectLst/>
                <a:latin typeface="Aptos" panose="020B0004020202020204" pitchFamily="34" charset="0"/>
                <a:ea typeface="Aptos" panose="020B0004020202020204" pitchFamily="34" charset="0"/>
                <a:cs typeface="Times New Roman" panose="02020603050405020304" pitchFamily="18" charset="0"/>
              </a:rPr>
              <a:t> Per evitare di sovraccaricare il server in caso di riavvio, applichiamo una strategia di </a:t>
            </a:r>
            <a:r>
              <a:rPr lang="it-IT" sz="1200" b="1" dirty="0" err="1">
                <a:effectLst/>
                <a:latin typeface="Aptos" panose="020B0004020202020204" pitchFamily="34" charset="0"/>
                <a:ea typeface="Aptos" panose="020B0004020202020204" pitchFamily="34" charset="0"/>
                <a:cs typeface="Times New Roman" panose="02020603050405020304" pitchFamily="18" charset="0"/>
              </a:rPr>
              <a:t>backoff</a:t>
            </a:r>
            <a:r>
              <a:rPr lang="it-IT" sz="1200" b="1" dirty="0">
                <a:effectLst/>
                <a:latin typeface="Aptos" panose="020B0004020202020204" pitchFamily="34" charset="0"/>
                <a:ea typeface="Aptos" panose="020B0004020202020204" pitchFamily="34" charset="0"/>
                <a:cs typeface="Times New Roman" panose="02020603050405020304" pitchFamily="18" charset="0"/>
              </a:rPr>
              <a:t> lineare</a:t>
            </a:r>
            <a:endParaRPr lang="it-IT" sz="1200" dirty="0">
              <a:latin typeface="Aptos" panose="020B0004020202020204" pitchFamily="34" charset="0"/>
            </a:endParaRPr>
          </a:p>
        </p:txBody>
      </p:sp>
      <p:sp>
        <p:nvSpPr>
          <p:cNvPr id="34" name="CasellaDiTesto 33">
            <a:extLst>
              <a:ext uri="{FF2B5EF4-FFF2-40B4-BE49-F238E27FC236}">
                <a16:creationId xmlns:a16="http://schemas.microsoft.com/office/drawing/2014/main" id="{153A6F9C-4629-8B70-F405-BE6B44A2063A}"/>
              </a:ext>
            </a:extLst>
          </p:cNvPr>
          <p:cNvSpPr txBox="1"/>
          <p:nvPr/>
        </p:nvSpPr>
        <p:spPr>
          <a:xfrm>
            <a:off x="8312150" y="2072640"/>
            <a:ext cx="2819400" cy="1200329"/>
          </a:xfrm>
          <a:prstGeom prst="rect">
            <a:avLst/>
          </a:prstGeom>
          <a:noFill/>
        </p:spPr>
        <p:txBody>
          <a:bodyPr wrap="square">
            <a:spAutoFit/>
          </a:bodyPr>
          <a:lstStyle/>
          <a:p>
            <a:r>
              <a:rPr lang="it-IT" sz="1200" dirty="0">
                <a:effectLst/>
                <a:latin typeface="Aptos" panose="020B0004020202020204" pitchFamily="34" charset="0"/>
                <a:ea typeface="Aptos" panose="020B0004020202020204" pitchFamily="34" charset="0"/>
                <a:cs typeface="Times New Roman" panose="02020603050405020304" pitchFamily="18" charset="0"/>
              </a:rPr>
              <a:t>il protocollo supporta il comando ACK &lt;</a:t>
            </a:r>
            <a:r>
              <a:rPr lang="it-IT" sz="1200" dirty="0" err="1">
                <a:effectLst/>
                <a:latin typeface="Aptos" panose="020B0004020202020204" pitchFamily="34" charset="0"/>
                <a:ea typeface="Aptos" panose="020B0004020202020204" pitchFamily="34" charset="0"/>
                <a:cs typeface="Times New Roman" panose="02020603050405020304" pitchFamily="18" charset="0"/>
              </a:rPr>
              <a:t>client_id</a:t>
            </a:r>
            <a:r>
              <a:rPr lang="it-IT" sz="1200" dirty="0">
                <a:effectLst/>
                <a:latin typeface="Aptos" panose="020B0004020202020204" pitchFamily="34" charset="0"/>
                <a:ea typeface="Aptos" panose="020B0004020202020204" pitchFamily="34" charset="0"/>
                <a:cs typeface="Times New Roman" panose="02020603050405020304" pitchFamily="18" charset="0"/>
              </a:rPr>
              <a:t>&gt; &lt;</a:t>
            </a:r>
            <a:r>
              <a:rPr lang="it-IT" sz="1200" dirty="0" err="1">
                <a:effectLst/>
                <a:latin typeface="Aptos" panose="020B0004020202020204" pitchFamily="34" charset="0"/>
                <a:ea typeface="Aptos" panose="020B0004020202020204" pitchFamily="34" charset="0"/>
                <a:cs typeface="Times New Roman" panose="02020603050405020304" pitchFamily="18" charset="0"/>
              </a:rPr>
              <a:t>seq</a:t>
            </a:r>
            <a:r>
              <a:rPr lang="it-IT" sz="1200" dirty="0">
                <a:effectLst/>
                <a:latin typeface="Aptos" panose="020B0004020202020204" pitchFamily="34" charset="0"/>
                <a:ea typeface="Aptos" panose="020B0004020202020204" pitchFamily="34" charset="0"/>
                <a:cs typeface="Times New Roman" panose="02020603050405020304" pitchFamily="18" charset="0"/>
              </a:rPr>
              <a:t>&gt;. Quando il client conferma di aver ricevuto l'esito fino alla transazione, il server elimina istantaneamente tutte le entry della tabella inferiori o uguali a quel valore. </a:t>
            </a:r>
            <a:endParaRPr lang="it-IT" sz="2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VERIFICA E TEST</a:t>
            </a:r>
            <a:endParaRPr lang="en-US" sz="1200" dirty="0"/>
          </a:p>
        </p:txBody>
      </p:sp>
      <p:sp>
        <p:nvSpPr>
          <p:cNvPr id="3" name="Text 1"/>
          <p:cNvSpPr/>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La suite di test</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450497862"/>
              </p:ext>
            </p:extLst>
          </p:nvPr>
        </p:nvGraphicFramePr>
        <p:xfrm>
          <a:off x="819912" y="1508760"/>
          <a:ext cx="10233911" cy="2862070"/>
        </p:xfrm>
        <a:graphic>
          <a:graphicData uri="http://schemas.openxmlformats.org/drawingml/2006/table">
            <a:tbl>
              <a:tblPr/>
              <a:tblGrid>
                <a:gridCol w="3411304">
                  <a:extLst>
                    <a:ext uri="{9D8B030D-6E8A-4147-A177-3AD203B41FA5}">
                      <a16:colId xmlns:a16="http://schemas.microsoft.com/office/drawing/2014/main" val="20000"/>
                    </a:ext>
                  </a:extLst>
                </a:gridCol>
                <a:gridCol w="6822607">
                  <a:extLst>
                    <a:ext uri="{9D8B030D-6E8A-4147-A177-3AD203B41FA5}">
                      <a16:colId xmlns:a16="http://schemas.microsoft.com/office/drawing/2014/main" val="20001"/>
                    </a:ext>
                  </a:extLst>
                </a:gridCol>
              </a:tblGrid>
              <a:tr h="57241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File</a:t>
                      </a:r>
                      <a:endParaRPr lang="en-US" sz="120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Cosa verifica</a:t>
                      </a:r>
                      <a:endParaRPr lang="en-US" sz="120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72414">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test_idempotenza.py</a:t>
                      </a:r>
                      <a:endParaRPr lang="en-US" sz="115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Casi nominali: SET/CAS/DELETE + replay, non-confusione, replay di un errore</a:t>
                      </a:r>
                      <a:endParaRPr lang="en-US" sz="115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2414">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test_gc.py</a:t>
                      </a:r>
                      <a:endParaRPr lang="en-US" sz="115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3F7F9"/>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Sliding window automatica e ACK esplicito sulla request_table</a:t>
                      </a:r>
                      <a:endParaRPr lang="en-US" sz="115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3F7F9"/>
                    </a:solidFill>
                  </a:tcPr>
                </a:tc>
                <a:extLst>
                  <a:ext uri="{0D108BD9-81ED-4DB2-BD59-A6C34878D82A}">
                    <a16:rowId xmlns:a16="http://schemas.microsoft.com/office/drawing/2014/main" val="10002"/>
                  </a:ext>
                </a:extLst>
              </a:tr>
              <a:tr h="572414">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test_stress.py</a:t>
                      </a:r>
                      <a:endParaRPr lang="en-US" sz="115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5 client concorrenti, retry randomici (30%), collisione esatta sullo stesso request_id</a:t>
                      </a:r>
                      <a:endParaRPr lang="en-US" sz="115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2414">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test_client.py</a:t>
                      </a:r>
                      <a:endParaRPr lang="en-US" sz="115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3F7F9"/>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Client reale (IdempotentClient) dietro un chaos proxy TCP che droppa risposte</a:t>
                      </a:r>
                      <a:endParaRPr lang="en-US" sz="1150" dirty="0">
                        <a:latin typeface="Calibri" charset="0"/>
                        <a:ea typeface="Calibri" charset="0"/>
                        <a:cs typeface="Calibri" charset="0"/>
                      </a:endParaRPr>
                    </a:p>
                  </a:txBody>
                  <a:tcPr marL="101600" marR="101600" marT="50800" marB="50800" anchor="ctr">
                    <a:lnL w="9525" cap="flat" cmpd="sng" algn="ctr">
                      <a:solidFill>
                        <a:srgbClr val="D7E3E8"/>
                      </a:solidFill>
                      <a:prstDash val="solid"/>
                      <a:round/>
                      <a:headEnd type="none" w="med" len="med"/>
                      <a:tailEnd type="none" w="med" len="med"/>
                    </a:lnL>
                    <a:lnR w="9525" cap="flat" cmpd="sng" algn="ctr">
                      <a:solidFill>
                        <a:srgbClr val="D7E3E8"/>
                      </a:solidFill>
                      <a:prstDash val="solid"/>
                      <a:round/>
                      <a:headEnd type="none" w="med" len="med"/>
                      <a:tailEnd type="none" w="med" len="med"/>
                    </a:lnR>
                    <a:lnT w="9525" cap="flat" cmpd="sng" algn="ctr">
                      <a:solidFill>
                        <a:srgbClr val="D7E3E8"/>
                      </a:solidFill>
                      <a:prstDash val="solid"/>
                      <a:round/>
                      <a:headEnd type="none" w="med" len="med"/>
                      <a:tailEnd type="none" w="med" len="med"/>
                    </a:lnT>
                    <a:lnB w="9525" cap="flat" cmpd="sng" algn="ctr">
                      <a:solidFill>
                        <a:srgbClr val="D7E3E8"/>
                      </a:solidFill>
                      <a:prstDash val="solid"/>
                      <a:round/>
                      <a:headEnd type="none" w="med" len="med"/>
                      <a:tailEnd type="none" w="med" len="med"/>
                    </a:lnB>
                    <a:solidFill>
                      <a:srgbClr val="F3F7F9"/>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718304"/>
            <a:ext cx="10552176" cy="1188720"/>
          </a:xfrm>
          <a:prstGeom prst="roundRect">
            <a:avLst>
              <a:gd name="adj" fmla="val 6154"/>
            </a:avLst>
          </a:prstGeom>
          <a:solidFill>
            <a:srgbClr val="F3F7F9"/>
          </a:solidFill>
          <a:ln/>
        </p:spPr>
        <p:txBody>
          <a:bodyPr/>
          <a:lstStyle/>
          <a:p>
            <a:endParaRPr lang="it-IT"/>
          </a:p>
        </p:txBody>
      </p:sp>
      <p:sp>
        <p:nvSpPr>
          <p:cNvPr id="6" name="Text 3"/>
          <p:cNvSpPr/>
          <p:nvPr/>
        </p:nvSpPr>
        <p:spPr>
          <a:xfrm>
            <a:off x="786384" y="4841748"/>
            <a:ext cx="10552176"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Filosofia dei test</a:t>
            </a:r>
            <a:endParaRPr lang="en-US" sz="1100" dirty="0"/>
          </a:p>
        </p:txBody>
      </p:sp>
      <p:sp>
        <p:nvSpPr>
          <p:cNvPr id="7" name="Text 4"/>
          <p:cNvSpPr/>
          <p:nvPr/>
        </p:nvSpPr>
        <p:spPr>
          <a:xfrm>
            <a:off x="819912" y="5088636"/>
            <a:ext cx="10552176" cy="521208"/>
          </a:xfrm>
          <a:prstGeom prst="rect">
            <a:avLst/>
          </a:prstGeom>
          <a:noFill/>
          <a:ln/>
        </p:spPr>
        <p:txBody>
          <a:bodyPr wrap="square" lIns="0" tIns="0" rIns="0" bIns="0" rtlCol="0" anchor="t"/>
          <a:lstStyle/>
          <a:p>
            <a:pPr marL="0" indent="0">
              <a:lnSpc>
                <a:spcPct val="115000"/>
              </a:lnSpc>
              <a:buNone/>
            </a:pPr>
            <a:r>
              <a:rPr lang="en-US" sz="1250" dirty="0">
                <a:solidFill>
                  <a:srgbClr val="1E2430"/>
                </a:solidFill>
                <a:latin typeface="Calibri" pitchFamily="34" charset="0"/>
                <a:ea typeface="Calibri" pitchFamily="34" charset="-122"/>
                <a:cs typeface="Calibri" pitchFamily="34" charset="-120"/>
              </a:rPr>
              <a:t>Dai casi nominali (idempotenza di base) ai casi critici (garbage collection, concorrenza reale, guasti di rete simulati), fino alla collisione esatta sullo stesso request_id. Tutti i test sono ripetibili senza riavviare il server: ogni run genera identificatori (UUID) unici per client e chiavi.</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VERIFICA E TEST</a:t>
            </a:r>
            <a:endParaRPr lang="en-US" sz="1200" dirty="0"/>
          </a:p>
        </p:txBody>
      </p:sp>
      <p:sp>
        <p:nvSpPr>
          <p:cNvPr id="3" name="Text 1"/>
          <p:cNvSpPr/>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test_idempotenza.py: casi nominali</a:t>
            </a:r>
            <a:endParaRPr lang="en-US" sz="3000" dirty="0"/>
          </a:p>
        </p:txBody>
      </p:sp>
      <p:sp>
        <p:nvSpPr>
          <p:cNvPr id="4" name="Text 2"/>
          <p:cNvSpPr/>
          <p:nvPr/>
        </p:nvSpPr>
        <p:spPr>
          <a:xfrm>
            <a:off x="548640" y="1463040"/>
            <a:ext cx="5394960" cy="2377440"/>
          </a:xfrm>
          <a:prstGeom prst="rect">
            <a:avLst/>
          </a:prstGeom>
          <a:noFill/>
          <a:ln/>
        </p:spPr>
        <p:txBody>
          <a:bodyPr wrap="square" lIns="0" tIns="0" rIns="0" bIns="0" rtlCol="0" anchor="ctr"/>
          <a:lstStyle/>
          <a:p>
            <a:pPr marL="342900" indent="-342900">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SET/CAS/DELETE + replay → stessa risposta, versione non incrementata</a:t>
            </a:r>
            <a:endParaRPr lang="en-US" sz="1300" dirty="0"/>
          </a:p>
          <a:p>
            <a:pPr marL="342900" indent="-342900">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Due SET_REQ diverse sulla stessa chiave → effetti distinti</a:t>
            </a:r>
            <a:endParaRPr lang="en-US" sz="1300" dirty="0"/>
          </a:p>
          <a:p>
            <a:pPr marL="342900" indent="-342900">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Replay di un CAS_REQ fallita → stesso errore version_mismatch</a:t>
            </a:r>
            <a:endParaRPr lang="en-US" sz="1300" dirty="0"/>
          </a:p>
          <a:p>
            <a:pPr marL="342900" indent="-342900">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Formato request_id errato (no ':', seq non numerica, client vuoto) → invalid_request_id</a:t>
            </a:r>
            <a:endParaRPr lang="en-US" sz="1300" dirty="0"/>
          </a:p>
        </p:txBody>
      </p:sp>
      <p:sp>
        <p:nvSpPr>
          <p:cNvPr id="5" name="Shape 3"/>
          <p:cNvSpPr/>
          <p:nvPr/>
        </p:nvSpPr>
        <p:spPr>
          <a:xfrm>
            <a:off x="548640" y="4023360"/>
            <a:ext cx="5394960" cy="1463040"/>
          </a:xfrm>
          <a:prstGeom prst="roundRect">
            <a:avLst>
              <a:gd name="adj" fmla="val 5000"/>
            </a:avLst>
          </a:prstGeom>
          <a:solidFill>
            <a:srgbClr val="21295C"/>
          </a:solidFill>
          <a:ln/>
        </p:spPr>
        <p:txBody>
          <a:bodyPr/>
          <a:lstStyle/>
          <a:p>
            <a:endParaRPr lang="it-IT"/>
          </a:p>
        </p:txBody>
      </p:sp>
      <p:sp>
        <p:nvSpPr>
          <p:cNvPr id="6" name="Text 4"/>
          <p:cNvSpPr/>
          <p:nvPr/>
        </p:nvSpPr>
        <p:spPr>
          <a:xfrm>
            <a:off x="804672" y="4187952"/>
            <a:ext cx="4882896" cy="274320"/>
          </a:xfrm>
          <a:prstGeom prst="rect">
            <a:avLst/>
          </a:prstGeom>
          <a:noFill/>
          <a:ln/>
        </p:spPr>
        <p:txBody>
          <a:bodyPr wrap="square" lIns="0" tIns="0" rIns="0" bIns="0" rtlCol="0" anchor="ctr"/>
          <a:lstStyle/>
          <a:p>
            <a:pPr marL="0" indent="0">
              <a:buNone/>
            </a:pPr>
            <a:r>
              <a:rPr lang="en-US" sz="1100" b="1" dirty="0">
                <a:solidFill>
                  <a:srgbClr val="9FD1E6"/>
                </a:solidFill>
                <a:latin typeface="Calibri" pitchFamily="34" charset="0"/>
                <a:ea typeface="Calibri" pitchFamily="34" charset="-122"/>
                <a:cs typeface="Calibri" pitchFamily="34" charset="-120"/>
              </a:rPr>
              <a:t>Perché conta</a:t>
            </a:r>
            <a:endParaRPr lang="en-US" sz="1100" dirty="0"/>
          </a:p>
        </p:txBody>
      </p:sp>
      <p:sp>
        <p:nvSpPr>
          <p:cNvPr id="7" name="Text 5"/>
          <p:cNvSpPr/>
          <p:nvPr/>
        </p:nvSpPr>
        <p:spPr>
          <a:xfrm>
            <a:off x="804672" y="4553712"/>
            <a:ext cx="4882896" cy="795528"/>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Ogni scenario del contratto ha un test che lo verifica letteralmente: successo, replay, errore replicato, formato invalido.</a:t>
            </a:r>
            <a:endParaRPr lang="en-US" sz="1250" dirty="0"/>
          </a:p>
        </p:txBody>
      </p:sp>
      <p:sp>
        <p:nvSpPr>
          <p:cNvPr id="8" name="Shape 6"/>
          <p:cNvSpPr/>
          <p:nvPr/>
        </p:nvSpPr>
        <p:spPr>
          <a:xfrm>
            <a:off x="6309360" y="1463040"/>
            <a:ext cx="5751460" cy="4754880"/>
          </a:xfrm>
          <a:prstGeom prst="roundRect">
            <a:avLst>
              <a:gd name="adj" fmla="val 1538"/>
            </a:avLst>
          </a:prstGeom>
          <a:solidFill>
            <a:srgbClr val="1E2430"/>
          </a:solidFill>
          <a:ln/>
          <a:effectLst>
            <a:outerShdw blurRad="101600" dist="38100" dir="5400000" algn="bl" rotWithShape="0">
              <a:srgbClr val="000000">
                <a:alpha val="18000"/>
              </a:srgbClr>
            </a:outerShdw>
          </a:effectLst>
        </p:spPr>
        <p:txBody>
          <a:bodyPr/>
          <a:lstStyle/>
          <a:p>
            <a:endParaRPr lang="it-IT"/>
          </a:p>
        </p:txBody>
      </p:sp>
      <p:sp>
        <p:nvSpPr>
          <p:cNvPr id="9" name="Text 7"/>
          <p:cNvSpPr/>
          <p:nvPr/>
        </p:nvSpPr>
        <p:spPr>
          <a:xfrm>
            <a:off x="6565392" y="1664208"/>
            <a:ext cx="5413248" cy="4389120"/>
          </a:xfrm>
          <a:prstGeom prst="rect">
            <a:avLst/>
          </a:prstGeom>
          <a:noFill/>
          <a:ln/>
        </p:spPr>
        <p:txBody>
          <a:bodyPr wrap="square" lIns="0" tIns="0" rIns="0" bIns="0" rtlCol="0" anchor="t"/>
          <a:lstStyle/>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r1 = conn.send(f"SET_REQ {cid}:0 {ka} hello")</a:t>
            </a: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check(assert_eq("SET prima </a:t>
            </a:r>
            <a:r>
              <a:rPr lang="en-US" sz="1130" dirty="0" err="1">
                <a:solidFill>
                  <a:srgbClr val="E8EEF2"/>
                </a:solidFill>
                <a:latin typeface="Courier New" pitchFamily="34" charset="0"/>
                <a:ea typeface="Courier New" pitchFamily="34" charset="-122"/>
                <a:cs typeface="Courier New" pitchFamily="34" charset="-120"/>
              </a:rPr>
              <a:t>esecuzione</a:t>
            </a:r>
            <a:r>
              <a:rPr lang="en-US" sz="1130" dirty="0">
                <a:solidFill>
                  <a:srgbClr val="E8EEF2"/>
                </a:solidFill>
                <a:latin typeface="Courier New" pitchFamily="34" charset="0"/>
                <a:ea typeface="Courier New" pitchFamily="34" charset="-122"/>
                <a:cs typeface="Courier New" pitchFamily="34" charset="-120"/>
              </a:rPr>
              <a:t>", r1,</a:t>
            </a:r>
            <a:endParaRPr lang="en-US" sz="1130" dirty="0"/>
          </a:p>
          <a:p>
            <a:pPr marL="0" indent="0">
              <a:lnSpc>
                <a:spcPct val="118000"/>
              </a:lnSpc>
              <a:buNone/>
            </a:pPr>
            <a:r>
              <a:rPr lang="en-US" sz="1130" dirty="0">
                <a:solidFill>
                  <a:srgbClr val="7FD1C9"/>
                </a:solidFill>
                <a:latin typeface="Courier New" pitchFamily="34" charset="0"/>
                <a:ea typeface="Courier New" pitchFamily="34" charset="-122"/>
                <a:cs typeface="Courier New" pitchFamily="34" charset="-120"/>
              </a:rPr>
              <a:t>                "OK version=0"))</a:t>
            </a:r>
            <a:endParaRPr lang="en-US" sz="1130" dirty="0"/>
          </a:p>
          <a:p>
            <a:pPr marL="0" indent="0">
              <a:lnSpc>
                <a:spcPct val="118000"/>
              </a:lnSpc>
              <a:buNone/>
            </a:pP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r2 = conn.send(f"SET_REQ {cid}:0 {ka} hello")</a:t>
            </a:r>
            <a:endParaRPr lang="en-US" sz="1130" dirty="0"/>
          </a:p>
          <a:p>
            <a:pPr marL="0" indent="0">
              <a:lnSpc>
                <a:spcPct val="118000"/>
              </a:lnSpc>
              <a:buNone/>
            </a:pPr>
            <a:r>
              <a:rPr lang="en-US" sz="1130" dirty="0">
                <a:solidFill>
                  <a:schemeClr val="bg1"/>
                </a:solidFill>
                <a:latin typeface="Courier New" pitchFamily="34" charset="0"/>
                <a:ea typeface="Courier New" pitchFamily="34" charset="-122"/>
                <a:cs typeface="Courier New" pitchFamily="34" charset="-120"/>
              </a:rPr>
              <a:t>check(assert_eq("SET _REQ replay </a:t>
            </a:r>
            <a:r>
              <a:rPr lang="en-US" sz="1130" dirty="0" err="1">
                <a:solidFill>
                  <a:schemeClr val="bg1"/>
                </a:solidFill>
                <a:latin typeface="Courier New" pitchFamily="34" charset="0"/>
                <a:ea typeface="Courier New" pitchFamily="34" charset="-122"/>
                <a:cs typeface="Courier New" pitchFamily="34" charset="-120"/>
              </a:rPr>
              <a:t>stessa</a:t>
            </a:r>
            <a:r>
              <a:rPr lang="en-US" sz="1130" dirty="0">
                <a:solidFill>
                  <a:schemeClr val="bg1"/>
                </a:solidFill>
                <a:latin typeface="Courier New" pitchFamily="34" charset="0"/>
                <a:ea typeface="Courier New" pitchFamily="34" charset="-122"/>
                <a:cs typeface="Courier New" pitchFamily="34" charset="-120"/>
              </a:rPr>
              <a:t> </a:t>
            </a:r>
            <a:r>
              <a:rPr lang="en-US" sz="1130" dirty="0" err="1">
                <a:solidFill>
                  <a:schemeClr val="bg1"/>
                </a:solidFill>
                <a:latin typeface="Courier New" pitchFamily="34" charset="0"/>
                <a:ea typeface="Courier New" pitchFamily="34" charset="-122"/>
                <a:cs typeface="Courier New" pitchFamily="34" charset="-120"/>
              </a:rPr>
              <a:t>risposta</a:t>
            </a:r>
            <a:r>
              <a:rPr lang="en-US" sz="1130" dirty="0">
                <a:solidFill>
                  <a:schemeClr val="bg1"/>
                </a:solidFill>
                <a:latin typeface="Courier New" pitchFamily="34" charset="0"/>
                <a:ea typeface="Courier New" pitchFamily="34" charset="-122"/>
                <a:cs typeface="Courier New" pitchFamily="34" charset="-120"/>
              </a:rPr>
              <a:t>", r2, r1))</a:t>
            </a:r>
            <a:endParaRPr lang="en-US" sz="1130" dirty="0">
              <a:solidFill>
                <a:schemeClr val="bg1"/>
              </a:solidFill>
            </a:endParaRPr>
          </a:p>
          <a:p>
            <a:pPr marL="0" indent="0">
              <a:lnSpc>
                <a:spcPct val="118000"/>
              </a:lnSpc>
              <a:buNone/>
            </a:pPr>
            <a:endParaRPr lang="en-US" sz="1130" dirty="0"/>
          </a:p>
          <a:p>
            <a:pPr>
              <a:lnSpc>
                <a:spcPct val="118000"/>
              </a:lnSpc>
            </a:pPr>
            <a:r>
              <a:rPr lang="it-IT" sz="1100" dirty="0">
                <a:solidFill>
                  <a:schemeClr val="bg1"/>
                </a:solidFill>
                <a:latin typeface="Courier New" panose="02070309020205020404" pitchFamily="49" charset="0"/>
                <a:cs typeface="Courier New" panose="02070309020205020404" pitchFamily="49" charset="0"/>
              </a:rPr>
              <a:t>r3 = </a:t>
            </a:r>
            <a:r>
              <a:rPr lang="it-IT" sz="1100" dirty="0" err="1">
                <a:solidFill>
                  <a:schemeClr val="bg1"/>
                </a:solidFill>
                <a:latin typeface="Courier New" panose="02070309020205020404" pitchFamily="49" charset="0"/>
                <a:cs typeface="Courier New" panose="02070309020205020404" pitchFamily="49" charset="0"/>
              </a:rPr>
              <a:t>conn.send</a:t>
            </a:r>
            <a:r>
              <a:rPr lang="it-IT" sz="1100" dirty="0">
                <a:solidFill>
                  <a:schemeClr val="bg1"/>
                </a:solidFill>
                <a:latin typeface="Courier New" panose="02070309020205020404" pitchFamily="49" charset="0"/>
                <a:cs typeface="Courier New" panose="02070309020205020404" pitchFamily="49" charset="0"/>
              </a:rPr>
              <a:t>(</a:t>
            </a:r>
            <a:r>
              <a:rPr lang="it-IT" sz="1100" dirty="0" err="1">
                <a:solidFill>
                  <a:schemeClr val="bg1"/>
                </a:solidFill>
                <a:latin typeface="Courier New" panose="02070309020205020404" pitchFamily="49" charset="0"/>
                <a:cs typeface="Courier New" panose="02070309020205020404" pitchFamily="49" charset="0"/>
              </a:rPr>
              <a:t>f"GETV</a:t>
            </a:r>
            <a:r>
              <a:rPr lang="it-IT" sz="1100" dirty="0">
                <a:solidFill>
                  <a:schemeClr val="bg1"/>
                </a:solidFill>
                <a:latin typeface="Courier New" panose="02070309020205020404" pitchFamily="49" charset="0"/>
                <a:cs typeface="Courier New" panose="02070309020205020404" pitchFamily="49" charset="0"/>
              </a:rPr>
              <a:t> {ka}")</a:t>
            </a:r>
          </a:p>
          <a:p>
            <a:r>
              <a:rPr lang="it-IT" sz="1100" dirty="0">
                <a:solidFill>
                  <a:schemeClr val="bg1"/>
                </a:solidFill>
                <a:latin typeface="Courier New" panose="02070309020205020404" pitchFamily="49" charset="0"/>
                <a:cs typeface="Courier New" panose="02070309020205020404" pitchFamily="49" charset="0"/>
              </a:rPr>
              <a:t>check(</a:t>
            </a:r>
            <a:r>
              <a:rPr lang="it-IT" sz="1100" dirty="0" err="1">
                <a:solidFill>
                  <a:schemeClr val="bg1"/>
                </a:solidFill>
                <a:latin typeface="Courier New" panose="02070309020205020404" pitchFamily="49" charset="0"/>
                <a:cs typeface="Courier New" panose="02070309020205020404" pitchFamily="49" charset="0"/>
              </a:rPr>
              <a:t>assert_eq</a:t>
            </a:r>
            <a:r>
              <a:rPr lang="it-IT" sz="1100" dirty="0">
                <a:solidFill>
                  <a:schemeClr val="bg1"/>
                </a:solidFill>
                <a:latin typeface="Courier New" panose="02070309020205020404" pitchFamily="49" charset="0"/>
                <a:cs typeface="Courier New" panose="02070309020205020404" pitchFamily="49" charset="0"/>
              </a:rPr>
              <a:t>("GETV versione non incrementata", r3, "OK hello </a:t>
            </a:r>
            <a:r>
              <a:rPr lang="it-IT" sz="1100" dirty="0" err="1">
                <a:solidFill>
                  <a:schemeClr val="bg1"/>
                </a:solidFill>
                <a:latin typeface="Courier New" panose="02070309020205020404" pitchFamily="49" charset="0"/>
                <a:cs typeface="Courier New" panose="02070309020205020404" pitchFamily="49" charset="0"/>
              </a:rPr>
              <a:t>version</a:t>
            </a:r>
            <a:r>
              <a:rPr lang="it-IT" sz="1100" dirty="0">
                <a:solidFill>
                  <a:schemeClr val="bg1"/>
                </a:solidFill>
                <a:latin typeface="Courier New" panose="02070309020205020404" pitchFamily="49" charset="0"/>
                <a:cs typeface="Courier New" panose="02070309020205020404" pitchFamily="49" charset="0"/>
              </a:rPr>
              <a:t>=0"))</a:t>
            </a:r>
          </a:p>
          <a:p>
            <a:br>
              <a:rPr lang="it-IT" dirty="0"/>
            </a:br>
            <a:endParaRPr lang="en-US" sz="1130" dirty="0"/>
          </a:p>
          <a:p>
            <a:pPr marL="0" indent="0">
              <a:lnSpc>
                <a:spcPct val="118000"/>
              </a:lnSpc>
              <a:buNone/>
            </a:pP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r13 = conn.send(f"CAS_REQ {cid}:5 {kb} 99 tre")</a:t>
            </a: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check(assert_eq("CAS fallita", r13,</a:t>
            </a:r>
            <a:endParaRPr lang="en-US" sz="1130" dirty="0"/>
          </a:p>
          <a:p>
            <a:pPr marL="0" indent="0">
              <a:lnSpc>
                <a:spcPct val="118000"/>
              </a:lnSpc>
              <a:buNone/>
            </a:pPr>
            <a:r>
              <a:rPr lang="en-US" sz="1130" dirty="0">
                <a:solidFill>
                  <a:srgbClr val="8A97A6"/>
                </a:solidFill>
                <a:latin typeface="Courier New" pitchFamily="34" charset="0"/>
                <a:ea typeface="Courier New" pitchFamily="34" charset="-122"/>
                <a:cs typeface="Courier New" pitchFamily="34" charset="-120"/>
              </a:rPr>
              <a:t>      "ERR version_mismatch current=1"))</a:t>
            </a:r>
            <a:endParaRPr lang="en-US" sz="1130" dirty="0"/>
          </a:p>
          <a:p>
            <a:pPr marL="0" indent="0">
              <a:lnSpc>
                <a:spcPct val="118000"/>
              </a:lnSpc>
              <a:buNone/>
            </a:pP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r14 = conn.send(f"CAS_REQ {cid}:5 {kb} 99 tre")</a:t>
            </a:r>
            <a:endParaRPr lang="en-US" sz="1130" dirty="0"/>
          </a:p>
          <a:p>
            <a:pPr marL="0" indent="0">
              <a:lnSpc>
                <a:spcPct val="118000"/>
              </a:lnSpc>
              <a:buNone/>
            </a:pPr>
            <a:r>
              <a:rPr lang="en-US" sz="1130" dirty="0">
                <a:solidFill>
                  <a:srgbClr val="7FD1C9"/>
                </a:solidFill>
                <a:latin typeface="Courier New" pitchFamily="34" charset="0"/>
                <a:ea typeface="Courier New" pitchFamily="34" charset="-122"/>
                <a:cs typeface="Courier New" pitchFamily="34" charset="-120"/>
              </a:rPr>
              <a:t>check(assert_eq("CAS replay errore", r14, r13))</a:t>
            </a:r>
            <a:endParaRPr lang="en-US" sz="1130" dirty="0"/>
          </a:p>
        </p:txBody>
      </p:sp>
      <p:sp>
        <p:nvSpPr>
          <p:cNvPr id="11" name="Text 9"/>
          <p:cNvSpPr/>
          <p:nvPr/>
        </p:nvSpPr>
        <p:spPr>
          <a:xfrm>
            <a:off x="11521440" y="6510528"/>
            <a:ext cx="457200" cy="274320"/>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VERIFICA E TEST</a:t>
            </a:r>
            <a:endParaRPr lang="en-US" sz="1200" dirty="0"/>
          </a:p>
        </p:txBody>
      </p:sp>
      <p:sp>
        <p:nvSpPr>
          <p:cNvPr id="3" name="Text 1"/>
          <p:cNvSpPr/>
          <p:nvPr/>
        </p:nvSpPr>
        <p:spPr>
          <a:xfrm>
            <a:off x="548640" y="438912"/>
            <a:ext cx="10789920" cy="640080"/>
          </a:xfrm>
          <a:prstGeom prst="rect">
            <a:avLst/>
          </a:prstGeom>
          <a:noFill/>
          <a:ln/>
        </p:spPr>
        <p:txBody>
          <a:bodyPr wrap="square" lIns="0" tIns="0" rIns="0" bIns="0" rtlCol="0" anchor="ctr"/>
          <a:lstStyle/>
          <a:p>
            <a:pPr marL="0" indent="0">
              <a:buNone/>
            </a:pPr>
            <a:r>
              <a:rPr lang="en-US" sz="3000" b="1" u="sng" dirty="0">
                <a:solidFill>
                  <a:srgbClr val="21295C"/>
                </a:solidFill>
                <a:latin typeface="Cambria" pitchFamily="34" charset="0"/>
                <a:ea typeface="Cambria" pitchFamily="34" charset="-122"/>
                <a:cs typeface="Cambria" pitchFamily="34" charset="-120"/>
              </a:rPr>
              <a:t>test_gc.py: sliding window e ACK</a:t>
            </a:r>
            <a:endParaRPr lang="en-US" sz="3000" u="sng" dirty="0"/>
          </a:p>
        </p:txBody>
      </p:sp>
      <p:sp>
        <p:nvSpPr>
          <p:cNvPr id="4" name="Text 2"/>
          <p:cNvSpPr/>
          <p:nvPr/>
        </p:nvSpPr>
        <p:spPr>
          <a:xfrm>
            <a:off x="548640" y="1463040"/>
            <a:ext cx="5394960" cy="2377440"/>
          </a:xfrm>
          <a:prstGeom prst="rect">
            <a:avLst/>
          </a:prstGeom>
          <a:noFill/>
          <a:ln/>
        </p:spPr>
        <p:txBody>
          <a:bodyPr wrap="square" lIns="0" tIns="0" rIns="0" bIns="0" rtlCol="0" anchor="ctr"/>
          <a:lstStyle/>
          <a:p>
            <a:pPr marL="342900" indent="-342900">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Invio di MAX_WINDOW + 20 richieste → sliding window senza errori</a:t>
            </a:r>
            <a:endParaRPr lang="en-US" sz="1300" dirty="0"/>
          </a:p>
          <a:p>
            <a:pPr marL="342900" indent="-342900">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Replay di richiesta recente (ancora in finestra) → replay corretto</a:t>
            </a:r>
            <a:endParaRPr lang="en-US" sz="1300" dirty="0"/>
          </a:p>
          <a:p>
            <a:pPr marL="342900" indent="-342900">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Replay di richiesta scaduta → ERR request_id_expired</a:t>
            </a:r>
            <a:endParaRPr lang="en-US" sz="1300" dirty="0"/>
          </a:p>
          <a:p>
            <a:pPr marL="342900" indent="-342900">
              <a:lnSpc>
                <a:spcPct val="125000"/>
              </a:lnSpc>
              <a:spcAft>
                <a:spcPts val="800"/>
              </a:spcAft>
              <a:buSzPct val="100000"/>
              <a:buChar char="•"/>
            </a:pPr>
            <a:r>
              <a:rPr lang="en-US" sz="1300" dirty="0">
                <a:solidFill>
                  <a:srgbClr val="1E2430"/>
                </a:solidFill>
                <a:latin typeface="Calibri" pitchFamily="34" charset="0"/>
                <a:ea typeface="Calibri" pitchFamily="34" charset="-122"/>
                <a:cs typeface="Calibri" pitchFamily="34" charset="-120"/>
              </a:rPr>
              <a:t>ACK esplicito: entry pre-ACK scadute, post-ACK ancora valide</a:t>
            </a:r>
            <a:endParaRPr lang="en-US" sz="1300" dirty="0"/>
          </a:p>
        </p:txBody>
      </p:sp>
      <p:sp>
        <p:nvSpPr>
          <p:cNvPr id="5" name="Shape 3"/>
          <p:cNvSpPr/>
          <p:nvPr/>
        </p:nvSpPr>
        <p:spPr>
          <a:xfrm>
            <a:off x="548640" y="4023360"/>
            <a:ext cx="5394960" cy="1463040"/>
          </a:xfrm>
          <a:prstGeom prst="roundRect">
            <a:avLst>
              <a:gd name="adj" fmla="val 5000"/>
            </a:avLst>
          </a:prstGeom>
          <a:solidFill>
            <a:srgbClr val="F3F7F9"/>
          </a:solidFill>
          <a:ln/>
        </p:spPr>
        <p:txBody>
          <a:bodyPr/>
          <a:lstStyle/>
          <a:p>
            <a:endParaRPr lang="it-IT"/>
          </a:p>
        </p:txBody>
      </p:sp>
      <p:sp>
        <p:nvSpPr>
          <p:cNvPr id="6" name="Text 4"/>
          <p:cNvSpPr/>
          <p:nvPr/>
        </p:nvSpPr>
        <p:spPr>
          <a:xfrm>
            <a:off x="804672" y="4187952"/>
            <a:ext cx="4882896" cy="274320"/>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Boundary testing</a:t>
            </a:r>
            <a:endParaRPr lang="en-US" sz="1100" dirty="0"/>
          </a:p>
        </p:txBody>
      </p:sp>
      <p:sp>
        <p:nvSpPr>
          <p:cNvPr id="7" name="Text 5"/>
          <p:cNvSpPr/>
          <p:nvPr/>
        </p:nvSpPr>
        <p:spPr>
          <a:xfrm>
            <a:off x="804672" y="4553712"/>
            <a:ext cx="4882896" cy="795528"/>
          </a:xfrm>
          <a:prstGeom prst="rect">
            <a:avLst/>
          </a:prstGeom>
          <a:noFill/>
          <a:ln/>
        </p:spPr>
        <p:txBody>
          <a:bodyPr wrap="square" lIns="0" tIns="0" rIns="0" bIns="0" rtlCol="0" anchor="t"/>
          <a:lstStyle/>
          <a:p>
            <a:pPr marL="0" indent="0">
              <a:lnSpc>
                <a:spcPct val="115000"/>
              </a:lnSpc>
              <a:buNone/>
            </a:pPr>
            <a:r>
              <a:rPr lang="en-US" sz="1250" dirty="0">
                <a:solidFill>
                  <a:srgbClr val="1E2430"/>
                </a:solidFill>
                <a:latin typeface="Calibri" pitchFamily="34" charset="0"/>
                <a:ea typeface="Calibri" pitchFamily="34" charset="-122"/>
                <a:cs typeface="Calibri" pitchFamily="34" charset="-120"/>
              </a:rPr>
              <a:t>Il test controlla esattamente il confine della finestra: l'ultima entry ancora viva e la prima già rimossa, oltre al comportamento dopo un ACK cumulativo.</a:t>
            </a:r>
            <a:endParaRPr lang="en-US" sz="1250" dirty="0"/>
          </a:p>
        </p:txBody>
      </p:sp>
      <p:sp>
        <p:nvSpPr>
          <p:cNvPr id="8" name="Shape 6"/>
          <p:cNvSpPr/>
          <p:nvPr/>
        </p:nvSpPr>
        <p:spPr>
          <a:xfrm>
            <a:off x="6291072" y="1078992"/>
            <a:ext cx="5687568" cy="5340096"/>
          </a:xfrm>
          <a:prstGeom prst="roundRect">
            <a:avLst>
              <a:gd name="adj" fmla="val 1538"/>
            </a:avLst>
          </a:prstGeom>
          <a:solidFill>
            <a:srgbClr val="1E2430"/>
          </a:solidFill>
          <a:ln/>
          <a:effectLst>
            <a:outerShdw blurRad="101600" dist="38100" dir="5400000" algn="bl" rotWithShape="0">
              <a:srgbClr val="000000">
                <a:alpha val="18000"/>
              </a:srgbClr>
            </a:outerShdw>
          </a:effectLst>
        </p:spPr>
        <p:txBody>
          <a:bodyPr/>
          <a:lstStyle/>
          <a:p>
            <a:endParaRPr lang="it-IT"/>
          </a:p>
        </p:txBody>
      </p:sp>
      <p:sp>
        <p:nvSpPr>
          <p:cNvPr id="9" name="Text 7"/>
          <p:cNvSpPr/>
          <p:nvPr/>
        </p:nvSpPr>
        <p:spPr>
          <a:xfrm>
            <a:off x="6419783" y="1152028"/>
            <a:ext cx="5444268" cy="6620487"/>
          </a:xfrm>
          <a:prstGeom prst="rect">
            <a:avLst/>
          </a:prstGeom>
          <a:noFill/>
          <a:ln/>
        </p:spPr>
        <p:txBody>
          <a:bodyPr wrap="square" lIns="0" tIns="0" rIns="0" bIns="0" rtlCol="0" anchor="t"/>
          <a:lstStyle/>
          <a:p>
            <a:r>
              <a:rPr lang="it-IT" sz="1100" dirty="0">
                <a:solidFill>
                  <a:schemeClr val="bg1"/>
                </a:solidFill>
                <a:latin typeface="Courier New" panose="02070309020205020404" pitchFamily="49" charset="0"/>
                <a:cs typeface="Courier New" panose="02070309020205020404" pitchFamily="49" charset="0"/>
              </a:rPr>
              <a:t>r2 = </a:t>
            </a:r>
            <a:r>
              <a:rPr lang="it-IT" sz="1100" dirty="0" err="1">
                <a:solidFill>
                  <a:schemeClr val="bg1"/>
                </a:solidFill>
                <a:latin typeface="Courier New" panose="02070309020205020404" pitchFamily="49" charset="0"/>
                <a:cs typeface="Courier New" panose="02070309020205020404" pitchFamily="49" charset="0"/>
              </a:rPr>
              <a:t>conn.send</a:t>
            </a:r>
            <a:r>
              <a:rPr lang="it-IT" sz="1100" dirty="0">
                <a:solidFill>
                  <a:schemeClr val="bg1"/>
                </a:solidFill>
                <a:latin typeface="Courier New" panose="02070309020205020404" pitchFamily="49" charset="0"/>
                <a:cs typeface="Courier New" panose="02070309020205020404" pitchFamily="49" charset="0"/>
              </a:rPr>
              <a:t>(</a:t>
            </a:r>
            <a:r>
              <a:rPr lang="it-IT" sz="1100" dirty="0" err="1">
                <a:solidFill>
                  <a:schemeClr val="bg1"/>
                </a:solidFill>
                <a:latin typeface="Courier New" panose="02070309020205020404" pitchFamily="49" charset="0"/>
                <a:cs typeface="Courier New" panose="02070309020205020404" pitchFamily="49" charset="0"/>
              </a:rPr>
              <a:t>f"SET_REQ</a:t>
            </a:r>
            <a:r>
              <a:rPr lang="it-IT" sz="1100" dirty="0">
                <a:solidFill>
                  <a:schemeClr val="bg1"/>
                </a:solidFill>
                <a:latin typeface="Courier New" panose="02070309020205020404" pitchFamily="49" charset="0"/>
                <a:cs typeface="Courier New" panose="02070309020205020404" pitchFamily="49" charset="0"/>
              </a:rPr>
              <a:t> {</a:t>
            </a:r>
            <a:r>
              <a:rPr lang="it-IT" sz="1100" dirty="0" err="1">
                <a:solidFill>
                  <a:schemeClr val="bg1"/>
                </a:solidFill>
                <a:latin typeface="Courier New" panose="02070309020205020404" pitchFamily="49" charset="0"/>
                <a:cs typeface="Courier New" panose="02070309020205020404" pitchFamily="49" charset="0"/>
              </a:rPr>
              <a:t>client_id</a:t>
            </a:r>
            <a:r>
              <a:rPr lang="it-IT" sz="1100" dirty="0">
                <a:solidFill>
                  <a:schemeClr val="bg1"/>
                </a:solidFill>
                <a:latin typeface="Courier New" panose="02070309020205020404" pitchFamily="49" charset="0"/>
                <a:cs typeface="Courier New" panose="02070309020205020404" pitchFamily="49" charset="0"/>
              </a:rPr>
              <a:t>}:0 </a:t>
            </a:r>
            <a:r>
              <a:rPr lang="it-IT" sz="1100" dirty="0" err="1">
                <a:solidFill>
                  <a:schemeClr val="bg1"/>
                </a:solidFill>
                <a:latin typeface="Courier New" panose="02070309020205020404" pitchFamily="49" charset="0"/>
                <a:cs typeface="Courier New" panose="02070309020205020404" pitchFamily="49" charset="0"/>
              </a:rPr>
              <a:t>gckey</a:t>
            </a:r>
            <a:r>
              <a:rPr lang="it-IT" sz="1100" dirty="0">
                <a:solidFill>
                  <a:schemeClr val="bg1"/>
                </a:solidFill>
                <a:latin typeface="Courier New" panose="02070309020205020404" pitchFamily="49" charset="0"/>
                <a:cs typeface="Courier New" panose="02070309020205020404" pitchFamily="49" charset="0"/>
              </a:rPr>
              <a:t>_{</a:t>
            </a:r>
            <a:r>
              <a:rPr lang="it-IT" sz="1100" dirty="0" err="1">
                <a:solidFill>
                  <a:schemeClr val="bg1"/>
                </a:solidFill>
                <a:latin typeface="Courier New" panose="02070309020205020404" pitchFamily="49" charset="0"/>
                <a:cs typeface="Courier New" panose="02070309020205020404" pitchFamily="49" charset="0"/>
              </a:rPr>
              <a:t>run_id</a:t>
            </a:r>
            <a:r>
              <a:rPr lang="it-IT" sz="1100" dirty="0">
                <a:solidFill>
                  <a:schemeClr val="bg1"/>
                </a:solidFill>
                <a:latin typeface="Courier New" panose="02070309020205020404" pitchFamily="49" charset="0"/>
                <a:cs typeface="Courier New" panose="02070309020205020404" pitchFamily="49" charset="0"/>
              </a:rPr>
              <a:t>} val_0")</a:t>
            </a:r>
          </a:p>
          <a:p>
            <a:r>
              <a:rPr lang="it-IT" sz="1100" dirty="0">
                <a:solidFill>
                  <a:schemeClr val="bg1"/>
                </a:solidFill>
                <a:latin typeface="Courier New" panose="02070309020205020404" pitchFamily="49" charset="0"/>
                <a:cs typeface="Courier New" panose="02070309020205020404" pitchFamily="49" charset="0"/>
              </a:rPr>
              <a:t>    check(</a:t>
            </a:r>
            <a:r>
              <a:rPr lang="it-IT" sz="1100" dirty="0" err="1">
                <a:solidFill>
                  <a:schemeClr val="bg1"/>
                </a:solidFill>
                <a:latin typeface="Courier New" panose="02070309020205020404" pitchFamily="49" charset="0"/>
                <a:cs typeface="Courier New" panose="02070309020205020404" pitchFamily="49" charset="0"/>
              </a:rPr>
              <a:t>assert_eq</a:t>
            </a:r>
            <a:r>
              <a:rPr lang="it-IT" sz="1100" dirty="0">
                <a:solidFill>
                  <a:schemeClr val="bg1"/>
                </a:solidFill>
                <a:latin typeface="Courier New" panose="02070309020205020404" pitchFamily="49" charset="0"/>
                <a:cs typeface="Courier New" panose="02070309020205020404" pitchFamily="49" charset="0"/>
              </a:rPr>
              <a:t>("Replay scaduto", r2, "ERR </a:t>
            </a:r>
            <a:r>
              <a:rPr lang="it-IT" sz="1100" dirty="0" err="1">
                <a:solidFill>
                  <a:schemeClr val="bg1"/>
                </a:solidFill>
                <a:latin typeface="Courier New" panose="02070309020205020404" pitchFamily="49" charset="0"/>
                <a:cs typeface="Courier New" panose="02070309020205020404" pitchFamily="49" charset="0"/>
              </a:rPr>
              <a:t>request_id_expired</a:t>
            </a:r>
            <a:r>
              <a:rPr lang="it-IT" sz="1100" dirty="0">
                <a:solidFill>
                  <a:schemeClr val="bg1"/>
                </a:solidFill>
                <a:latin typeface="Courier New" panose="02070309020205020404" pitchFamily="49" charset="0"/>
                <a:cs typeface="Courier New" panose="02070309020205020404" pitchFamily="49" charset="0"/>
              </a:rPr>
              <a:t>"))</a:t>
            </a:r>
          </a:p>
          <a:p>
            <a:pPr marL="0" indent="0">
              <a:lnSpc>
                <a:spcPct val="118000"/>
              </a:lnSpc>
              <a:buNone/>
            </a:pPr>
            <a:endParaRPr lang="en-US" sz="1100" dirty="0">
              <a:solidFill>
                <a:schemeClr val="bg1"/>
              </a:solidFill>
              <a:latin typeface="Courier New" panose="02070309020205020404" pitchFamily="49" charset="0"/>
              <a:ea typeface="Courier New" pitchFamily="34" charset="-122"/>
              <a:cs typeface="Courier New" panose="02070309020205020404" pitchFamily="49" charset="0"/>
            </a:endParaRPr>
          </a:p>
          <a:p>
            <a:pPr>
              <a:lnSpc>
                <a:spcPct val="118000"/>
              </a:lnSpc>
            </a:pPr>
            <a:r>
              <a:rPr lang="it-IT" sz="1100" dirty="0" err="1">
                <a:solidFill>
                  <a:schemeClr val="bg1"/>
                </a:solidFill>
                <a:latin typeface="Courier New" panose="02070309020205020404" pitchFamily="49" charset="0"/>
                <a:cs typeface="Courier New" panose="02070309020205020404" pitchFamily="49" charset="0"/>
              </a:rPr>
              <a:t>first_alive</a:t>
            </a:r>
            <a:r>
              <a:rPr lang="it-IT" sz="1100" dirty="0">
                <a:solidFill>
                  <a:schemeClr val="bg1"/>
                </a:solidFill>
                <a:latin typeface="Courier New" panose="02070309020205020404" pitchFamily="49" charset="0"/>
                <a:cs typeface="Courier New" panose="02070309020205020404" pitchFamily="49" charset="0"/>
              </a:rPr>
              <a:t> = </a:t>
            </a:r>
            <a:r>
              <a:rPr lang="it-IT" sz="1100" dirty="0" err="1">
                <a:solidFill>
                  <a:schemeClr val="bg1"/>
                </a:solidFill>
                <a:latin typeface="Courier New" panose="02070309020205020404" pitchFamily="49" charset="0"/>
                <a:cs typeface="Courier New" panose="02070309020205020404" pitchFamily="49" charset="0"/>
              </a:rPr>
              <a:t>total_ops</a:t>
            </a:r>
            <a:r>
              <a:rPr lang="it-IT" sz="1100" dirty="0">
                <a:solidFill>
                  <a:schemeClr val="bg1"/>
                </a:solidFill>
                <a:latin typeface="Courier New" panose="02070309020205020404" pitchFamily="49" charset="0"/>
                <a:cs typeface="Courier New" panose="02070309020205020404" pitchFamily="49" charset="0"/>
              </a:rPr>
              <a:t> - window</a:t>
            </a:r>
          </a:p>
          <a:p>
            <a:pPr>
              <a:lnSpc>
                <a:spcPct val="118000"/>
              </a:lnSpc>
            </a:pPr>
            <a:r>
              <a:rPr lang="it-IT" sz="1100" dirty="0">
                <a:solidFill>
                  <a:schemeClr val="bg1"/>
                </a:solidFill>
                <a:latin typeface="Courier New" panose="02070309020205020404" pitchFamily="49" charset="0"/>
                <a:cs typeface="Courier New" panose="02070309020205020404" pitchFamily="49" charset="0"/>
              </a:rPr>
              <a:t>r3 = </a:t>
            </a:r>
            <a:r>
              <a:rPr lang="it-IT" sz="1100" dirty="0" err="1">
                <a:solidFill>
                  <a:schemeClr val="bg1"/>
                </a:solidFill>
                <a:latin typeface="Courier New" panose="02070309020205020404" pitchFamily="49" charset="0"/>
                <a:cs typeface="Courier New" panose="02070309020205020404" pitchFamily="49" charset="0"/>
              </a:rPr>
              <a:t>conn.send</a:t>
            </a:r>
            <a:r>
              <a:rPr lang="it-IT" sz="1100" dirty="0">
                <a:solidFill>
                  <a:schemeClr val="bg1"/>
                </a:solidFill>
                <a:latin typeface="Courier New" panose="02070309020205020404" pitchFamily="49" charset="0"/>
                <a:cs typeface="Courier New" panose="02070309020205020404" pitchFamily="49" charset="0"/>
              </a:rPr>
              <a:t>(</a:t>
            </a:r>
            <a:r>
              <a:rPr lang="it-IT" sz="1100" dirty="0" err="1">
                <a:solidFill>
                  <a:schemeClr val="bg1"/>
                </a:solidFill>
                <a:latin typeface="Courier New" panose="02070309020205020404" pitchFamily="49" charset="0"/>
                <a:cs typeface="Courier New" panose="02070309020205020404" pitchFamily="49" charset="0"/>
              </a:rPr>
              <a:t>f"SET_REQ</a:t>
            </a:r>
            <a:r>
              <a:rPr lang="it-IT" sz="1100" dirty="0">
                <a:solidFill>
                  <a:schemeClr val="bg1"/>
                </a:solidFill>
                <a:latin typeface="Courier New" panose="02070309020205020404" pitchFamily="49" charset="0"/>
                <a:cs typeface="Courier New" panose="02070309020205020404" pitchFamily="49" charset="0"/>
              </a:rPr>
              <a:t> {</a:t>
            </a:r>
            <a:r>
              <a:rPr lang="it-IT" sz="1100" dirty="0" err="1">
                <a:solidFill>
                  <a:schemeClr val="bg1"/>
                </a:solidFill>
                <a:latin typeface="Courier New" panose="02070309020205020404" pitchFamily="49" charset="0"/>
                <a:cs typeface="Courier New" panose="02070309020205020404" pitchFamily="49" charset="0"/>
              </a:rPr>
              <a:t>client_id</a:t>
            </a:r>
            <a:r>
              <a:rPr lang="it-IT" sz="1100" dirty="0">
                <a:solidFill>
                  <a:schemeClr val="bg1"/>
                </a:solidFill>
                <a:latin typeface="Courier New" panose="02070309020205020404" pitchFamily="49" charset="0"/>
                <a:cs typeface="Courier New" panose="02070309020205020404" pitchFamily="49" charset="0"/>
              </a:rPr>
              <a:t>}:{</a:t>
            </a:r>
            <a:r>
              <a:rPr lang="it-IT" sz="1100" dirty="0" err="1">
                <a:solidFill>
                  <a:schemeClr val="bg1"/>
                </a:solidFill>
                <a:latin typeface="Courier New" panose="02070309020205020404" pitchFamily="49" charset="0"/>
                <a:cs typeface="Courier New" panose="02070309020205020404" pitchFamily="49" charset="0"/>
              </a:rPr>
              <a:t>first_alive</a:t>
            </a:r>
            <a:r>
              <a:rPr lang="it-IT" sz="1100" dirty="0">
                <a:solidFill>
                  <a:schemeClr val="bg1"/>
                </a:solidFill>
                <a:latin typeface="Courier New" panose="02070309020205020404" pitchFamily="49" charset="0"/>
                <a:cs typeface="Courier New" panose="02070309020205020404" pitchFamily="49" charset="0"/>
              </a:rPr>
              <a:t>} </a:t>
            </a:r>
            <a:r>
              <a:rPr lang="it-IT" sz="1100" dirty="0" err="1">
                <a:solidFill>
                  <a:schemeClr val="bg1"/>
                </a:solidFill>
                <a:latin typeface="Courier New" panose="02070309020205020404" pitchFamily="49" charset="0"/>
                <a:cs typeface="Courier New" panose="02070309020205020404" pitchFamily="49" charset="0"/>
              </a:rPr>
              <a:t>gckey</a:t>
            </a:r>
            <a:r>
              <a:rPr lang="it-IT" sz="1100" dirty="0">
                <a:solidFill>
                  <a:schemeClr val="bg1"/>
                </a:solidFill>
                <a:latin typeface="Courier New" panose="02070309020205020404" pitchFamily="49" charset="0"/>
                <a:cs typeface="Courier New" panose="02070309020205020404" pitchFamily="49" charset="0"/>
              </a:rPr>
              <a:t>_{</a:t>
            </a:r>
            <a:r>
              <a:rPr lang="it-IT" sz="1100" dirty="0" err="1">
                <a:solidFill>
                  <a:schemeClr val="bg1"/>
                </a:solidFill>
                <a:latin typeface="Courier New" panose="02070309020205020404" pitchFamily="49" charset="0"/>
                <a:cs typeface="Courier New" panose="02070309020205020404" pitchFamily="49" charset="0"/>
              </a:rPr>
              <a:t>run_id</a:t>
            </a:r>
            <a:r>
              <a:rPr lang="it-IT" sz="1100" dirty="0">
                <a:solidFill>
                  <a:schemeClr val="bg1"/>
                </a:solidFill>
                <a:latin typeface="Courier New" panose="02070309020205020404" pitchFamily="49" charset="0"/>
                <a:cs typeface="Courier New" panose="02070309020205020404" pitchFamily="49" charset="0"/>
              </a:rPr>
              <a:t>} val_{</a:t>
            </a:r>
            <a:r>
              <a:rPr lang="it-IT" sz="1100" dirty="0" err="1">
                <a:solidFill>
                  <a:schemeClr val="bg1"/>
                </a:solidFill>
                <a:latin typeface="Courier New" panose="02070309020205020404" pitchFamily="49" charset="0"/>
                <a:cs typeface="Courier New" panose="02070309020205020404" pitchFamily="49" charset="0"/>
              </a:rPr>
              <a:t>first_alive</a:t>
            </a:r>
            <a:r>
              <a:rPr lang="it-IT" sz="1100" dirty="0">
                <a:solidFill>
                  <a:schemeClr val="bg1"/>
                </a:solidFill>
                <a:latin typeface="Courier New" panose="02070309020205020404" pitchFamily="49" charset="0"/>
                <a:cs typeface="Courier New" panose="02070309020205020404" pitchFamily="49" charset="0"/>
              </a:rPr>
              <a:t>}")</a:t>
            </a:r>
          </a:p>
          <a:p>
            <a:pPr>
              <a:lnSpc>
                <a:spcPct val="118000"/>
              </a:lnSpc>
            </a:pPr>
            <a:r>
              <a:rPr lang="it-IT" sz="1100" dirty="0">
                <a:solidFill>
                  <a:schemeClr val="bg1"/>
                </a:solidFill>
                <a:latin typeface="Courier New" panose="02070309020205020404" pitchFamily="49" charset="0"/>
                <a:cs typeface="Courier New" panose="02070309020205020404" pitchFamily="49" charset="0"/>
              </a:rPr>
              <a:t>check(</a:t>
            </a:r>
            <a:r>
              <a:rPr lang="it-IT" sz="1100" dirty="0" err="1">
                <a:solidFill>
                  <a:schemeClr val="bg1"/>
                </a:solidFill>
                <a:latin typeface="Courier New" panose="02070309020205020404" pitchFamily="49" charset="0"/>
                <a:cs typeface="Courier New" panose="02070309020205020404" pitchFamily="49" charset="0"/>
              </a:rPr>
              <a:t>assert_starts</a:t>
            </a:r>
            <a:r>
              <a:rPr lang="it-IT" sz="1100" dirty="0">
                <a:solidFill>
                  <a:schemeClr val="bg1"/>
                </a:solidFill>
                <a:latin typeface="Courier New" panose="02070309020205020404" pitchFamily="49" charset="0"/>
                <a:cs typeface="Courier New" panose="02070309020205020404" pitchFamily="49" charset="0"/>
              </a:rPr>
              <a:t>(</a:t>
            </a:r>
            <a:r>
              <a:rPr lang="it-IT" sz="1100" dirty="0" err="1">
                <a:solidFill>
                  <a:schemeClr val="bg1"/>
                </a:solidFill>
                <a:latin typeface="Courier New" panose="02070309020205020404" pitchFamily="49" charset="0"/>
                <a:cs typeface="Courier New" panose="02070309020205020404" pitchFamily="49" charset="0"/>
              </a:rPr>
              <a:t>f"Replay</a:t>
            </a:r>
            <a:r>
              <a:rPr lang="it-IT" sz="1100" dirty="0">
                <a:solidFill>
                  <a:schemeClr val="bg1"/>
                </a:solidFill>
                <a:latin typeface="Courier New" panose="02070309020205020404" pitchFamily="49" charset="0"/>
                <a:cs typeface="Courier New" panose="02070309020205020404" pitchFamily="49" charset="0"/>
              </a:rPr>
              <a:t> prima entry viva (</a:t>
            </a:r>
            <a:r>
              <a:rPr lang="it-IT" sz="1100" dirty="0" err="1">
                <a:solidFill>
                  <a:schemeClr val="bg1"/>
                </a:solidFill>
                <a:latin typeface="Courier New" panose="02070309020205020404" pitchFamily="49" charset="0"/>
                <a:cs typeface="Courier New" panose="02070309020205020404" pitchFamily="49" charset="0"/>
              </a:rPr>
              <a:t>seq</a:t>
            </a:r>
            <a:r>
              <a:rPr lang="it-IT" sz="1100" dirty="0">
                <a:solidFill>
                  <a:schemeClr val="bg1"/>
                </a:solidFill>
                <a:latin typeface="Courier New" panose="02070309020205020404" pitchFamily="49" charset="0"/>
                <a:cs typeface="Courier New" panose="02070309020205020404" pitchFamily="49" charset="0"/>
              </a:rPr>
              <a:t>={</a:t>
            </a:r>
            <a:r>
              <a:rPr lang="it-IT" sz="1100" dirty="0" err="1">
                <a:solidFill>
                  <a:schemeClr val="bg1"/>
                </a:solidFill>
                <a:latin typeface="Courier New" panose="02070309020205020404" pitchFamily="49" charset="0"/>
                <a:cs typeface="Courier New" panose="02070309020205020404" pitchFamily="49" charset="0"/>
              </a:rPr>
              <a:t>first_alive</a:t>
            </a:r>
            <a:r>
              <a:rPr lang="it-IT" sz="1100" dirty="0">
                <a:solidFill>
                  <a:schemeClr val="bg1"/>
                </a:solidFill>
                <a:latin typeface="Courier New" panose="02070309020205020404" pitchFamily="49" charset="0"/>
                <a:cs typeface="Courier New" panose="02070309020205020404" pitchFamily="49" charset="0"/>
              </a:rPr>
              <a:t>})", r3, "OK"))</a:t>
            </a:r>
          </a:p>
          <a:p>
            <a:pPr marL="0" indent="0">
              <a:lnSpc>
                <a:spcPct val="118000"/>
              </a:lnSpc>
              <a:buNone/>
            </a:pPr>
            <a:endParaRPr lang="en-US" sz="1100" dirty="0">
              <a:solidFill>
                <a:schemeClr val="bg1"/>
              </a:solidFill>
              <a:latin typeface="Courier New" panose="02070309020205020404" pitchFamily="49" charset="0"/>
              <a:ea typeface="Courier New" pitchFamily="34" charset="-122"/>
              <a:cs typeface="Courier New" panose="02070309020205020404" pitchFamily="49" charset="0"/>
            </a:endParaRPr>
          </a:p>
          <a:p>
            <a:pPr marL="0" indent="0">
              <a:lnSpc>
                <a:spcPct val="118000"/>
              </a:lnSpc>
              <a:buNone/>
            </a:pPr>
            <a:r>
              <a:rPr lang="en-US" sz="1100" dirty="0" err="1">
                <a:solidFill>
                  <a:schemeClr val="bg1"/>
                </a:solidFill>
                <a:latin typeface="Courier New" panose="02070309020205020404" pitchFamily="49" charset="0"/>
                <a:ea typeface="Courier New" pitchFamily="34" charset="-122"/>
                <a:cs typeface="Courier New" panose="02070309020205020404" pitchFamily="49" charset="0"/>
              </a:rPr>
              <a:t>just_expired</a:t>
            </a: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 = first_alive - 1</a:t>
            </a:r>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r4 = conn.send(</a:t>
            </a:r>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    f"SET_REQ {client_id}:{just_expired} "</a:t>
            </a:r>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    f"gckey_{run_id} val_{just_expired}")</a:t>
            </a:r>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check(assert_eq("Replay entry scaduta", r4,</a:t>
            </a:r>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                "ERR request_id_expired"))</a:t>
            </a:r>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r6 = conn.send(f"ACK {ack_client} 7")</a:t>
            </a:r>
          </a:p>
          <a:p>
            <a:r>
              <a:rPr lang="it-IT" sz="1100" dirty="0">
                <a:solidFill>
                  <a:schemeClr val="bg1"/>
                </a:solidFill>
                <a:latin typeface="Courier New" panose="02070309020205020404" pitchFamily="49" charset="0"/>
                <a:cs typeface="Courier New" panose="02070309020205020404" pitchFamily="49" charset="0"/>
              </a:rPr>
              <a:t>check(</a:t>
            </a:r>
            <a:r>
              <a:rPr lang="it-IT" sz="1100" dirty="0" err="1">
                <a:solidFill>
                  <a:schemeClr val="bg1"/>
                </a:solidFill>
                <a:latin typeface="Courier New" panose="02070309020205020404" pitchFamily="49" charset="0"/>
                <a:cs typeface="Courier New" panose="02070309020205020404" pitchFamily="49" charset="0"/>
              </a:rPr>
              <a:t>assert_eq</a:t>
            </a:r>
            <a:r>
              <a:rPr lang="it-IT" sz="1100" dirty="0">
                <a:solidFill>
                  <a:schemeClr val="bg1"/>
                </a:solidFill>
                <a:latin typeface="Courier New" panose="02070309020205020404" pitchFamily="49" charset="0"/>
                <a:cs typeface="Courier New" panose="02070309020205020404" pitchFamily="49" charset="0"/>
              </a:rPr>
              <a:t>("ACK risposta", r6, "OK"))</a:t>
            </a:r>
          </a:p>
          <a:p>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r7 = conn.send(f"SET_REQ {ack_client}:5 ...")</a:t>
            </a:r>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check(assert_eq("Post-ACK replay seq=5 scaduto",</a:t>
            </a:r>
            <a:endParaRPr lang="en-US" sz="1100" dirty="0">
              <a:solidFill>
                <a:schemeClr val="bg1"/>
              </a:solidFill>
              <a:latin typeface="Courier New" panose="02070309020205020404" pitchFamily="49" charset="0"/>
              <a:cs typeface="Courier New" panose="02070309020205020404" pitchFamily="49" charset="0"/>
            </a:endParaRPr>
          </a:p>
          <a:p>
            <a:pPr marL="0" indent="0">
              <a:lnSpc>
                <a:spcPct val="118000"/>
              </a:lnSpc>
              <a:buNone/>
            </a:pP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      r7, "ERR </a:t>
            </a:r>
            <a:r>
              <a:rPr lang="en-US" sz="1100" dirty="0" err="1">
                <a:solidFill>
                  <a:schemeClr val="bg1"/>
                </a:solidFill>
                <a:latin typeface="Courier New" panose="02070309020205020404" pitchFamily="49" charset="0"/>
                <a:ea typeface="Courier New" pitchFamily="34" charset="-122"/>
                <a:cs typeface="Courier New" panose="02070309020205020404" pitchFamily="49" charset="0"/>
              </a:rPr>
              <a:t>request_id_expired</a:t>
            </a:r>
            <a:r>
              <a:rPr lang="en-US" sz="1100" dirty="0">
                <a:solidFill>
                  <a:schemeClr val="bg1"/>
                </a:solidFill>
                <a:latin typeface="Courier New" panose="02070309020205020404" pitchFamily="49" charset="0"/>
                <a:ea typeface="Courier New" pitchFamily="34" charset="-122"/>
                <a:cs typeface="Courier New" panose="02070309020205020404" pitchFamily="49" charset="0"/>
              </a:rPr>
              <a:t>"))</a:t>
            </a:r>
          </a:p>
          <a:p>
            <a:pPr marL="0" indent="0">
              <a:lnSpc>
                <a:spcPct val="118000"/>
              </a:lnSpc>
              <a:buNone/>
            </a:pPr>
            <a:endParaRPr lang="en-US" sz="1100" dirty="0">
              <a:solidFill>
                <a:schemeClr val="bg1"/>
              </a:solidFill>
              <a:latin typeface="Courier New" panose="02070309020205020404" pitchFamily="49" charset="0"/>
              <a:cs typeface="Courier New" panose="02070309020205020404" pitchFamily="49" charset="0"/>
            </a:endParaRPr>
          </a:p>
          <a:p>
            <a:r>
              <a:rPr lang="it-IT" sz="1100" dirty="0">
                <a:solidFill>
                  <a:schemeClr val="bg1"/>
                </a:solidFill>
                <a:latin typeface="Courier New" panose="02070309020205020404" pitchFamily="49" charset="0"/>
                <a:cs typeface="Courier New" panose="02070309020205020404" pitchFamily="49" charset="0"/>
              </a:rPr>
              <a:t>r8 = </a:t>
            </a:r>
            <a:r>
              <a:rPr lang="it-IT" sz="1100" dirty="0" err="1">
                <a:solidFill>
                  <a:schemeClr val="bg1"/>
                </a:solidFill>
                <a:latin typeface="Courier New" panose="02070309020205020404" pitchFamily="49" charset="0"/>
                <a:cs typeface="Courier New" panose="02070309020205020404" pitchFamily="49" charset="0"/>
              </a:rPr>
              <a:t>conn.send</a:t>
            </a:r>
            <a:r>
              <a:rPr lang="it-IT" sz="1100" dirty="0">
                <a:solidFill>
                  <a:schemeClr val="bg1"/>
                </a:solidFill>
                <a:latin typeface="Courier New" panose="02070309020205020404" pitchFamily="49" charset="0"/>
                <a:cs typeface="Courier New" panose="02070309020205020404" pitchFamily="49" charset="0"/>
              </a:rPr>
              <a:t>(</a:t>
            </a:r>
            <a:r>
              <a:rPr lang="it-IT" sz="1100" dirty="0" err="1">
                <a:solidFill>
                  <a:schemeClr val="bg1"/>
                </a:solidFill>
                <a:latin typeface="Courier New" panose="02070309020205020404" pitchFamily="49" charset="0"/>
                <a:cs typeface="Courier New" panose="02070309020205020404" pitchFamily="49" charset="0"/>
              </a:rPr>
              <a:t>f"SET_REQ</a:t>
            </a:r>
            <a:r>
              <a:rPr lang="it-IT" sz="1100" dirty="0">
                <a:solidFill>
                  <a:schemeClr val="bg1"/>
                </a:solidFill>
                <a:latin typeface="Courier New" panose="02070309020205020404" pitchFamily="49" charset="0"/>
                <a:cs typeface="Courier New" panose="02070309020205020404" pitchFamily="49" charset="0"/>
              </a:rPr>
              <a:t> {</a:t>
            </a:r>
            <a:r>
              <a:rPr lang="it-IT" sz="1100" dirty="0" err="1">
                <a:solidFill>
                  <a:schemeClr val="bg1"/>
                </a:solidFill>
                <a:latin typeface="Courier New" panose="02070309020205020404" pitchFamily="49" charset="0"/>
                <a:cs typeface="Courier New" panose="02070309020205020404" pitchFamily="49" charset="0"/>
              </a:rPr>
              <a:t>ack_client</a:t>
            </a:r>
            <a:r>
              <a:rPr lang="it-IT" sz="1100" dirty="0">
                <a:solidFill>
                  <a:schemeClr val="bg1"/>
                </a:solidFill>
                <a:latin typeface="Courier New" panose="02070309020205020404" pitchFamily="49" charset="0"/>
                <a:cs typeface="Courier New" panose="02070309020205020404" pitchFamily="49" charset="0"/>
              </a:rPr>
              <a:t>}:8 {</a:t>
            </a:r>
            <a:r>
              <a:rPr lang="it-IT" sz="1100" dirty="0" err="1">
                <a:solidFill>
                  <a:schemeClr val="bg1"/>
                </a:solidFill>
                <a:latin typeface="Courier New" panose="02070309020205020404" pitchFamily="49" charset="0"/>
                <a:cs typeface="Courier New" panose="02070309020205020404" pitchFamily="49" charset="0"/>
              </a:rPr>
              <a:t>ack_key</a:t>
            </a:r>
            <a:r>
              <a:rPr lang="it-IT" sz="1100" dirty="0">
                <a:solidFill>
                  <a:schemeClr val="bg1"/>
                </a:solidFill>
                <a:latin typeface="Courier New" panose="02070309020205020404" pitchFamily="49" charset="0"/>
                <a:cs typeface="Courier New" panose="02070309020205020404" pitchFamily="49" charset="0"/>
              </a:rPr>
              <a:t>} val_8")</a:t>
            </a:r>
          </a:p>
          <a:p>
            <a:r>
              <a:rPr lang="it-IT" sz="1100" dirty="0">
                <a:solidFill>
                  <a:schemeClr val="bg1"/>
                </a:solidFill>
                <a:latin typeface="Courier New" panose="02070309020205020404" pitchFamily="49" charset="0"/>
                <a:cs typeface="Courier New" panose="02070309020205020404" pitchFamily="49" charset="0"/>
              </a:rPr>
              <a:t>    check(</a:t>
            </a:r>
            <a:r>
              <a:rPr lang="it-IT" sz="1100" dirty="0" err="1">
                <a:solidFill>
                  <a:schemeClr val="bg1"/>
                </a:solidFill>
                <a:latin typeface="Courier New" panose="02070309020205020404" pitchFamily="49" charset="0"/>
                <a:cs typeface="Courier New" panose="02070309020205020404" pitchFamily="49" charset="0"/>
              </a:rPr>
              <a:t>assert_starts</a:t>
            </a:r>
            <a:r>
              <a:rPr lang="it-IT" sz="1100" dirty="0">
                <a:solidFill>
                  <a:schemeClr val="bg1"/>
                </a:solidFill>
                <a:latin typeface="Courier New" panose="02070309020205020404" pitchFamily="49" charset="0"/>
                <a:cs typeface="Courier New" panose="02070309020205020404" pitchFamily="49" charset="0"/>
              </a:rPr>
              <a:t>("Post-ACK replay </a:t>
            </a:r>
            <a:r>
              <a:rPr lang="it-IT" sz="1100" dirty="0" err="1">
                <a:solidFill>
                  <a:schemeClr val="bg1"/>
                </a:solidFill>
                <a:latin typeface="Courier New" panose="02070309020205020404" pitchFamily="49" charset="0"/>
                <a:cs typeface="Courier New" panose="02070309020205020404" pitchFamily="49" charset="0"/>
              </a:rPr>
              <a:t>seq</a:t>
            </a:r>
            <a:r>
              <a:rPr lang="it-IT" sz="1100" dirty="0">
                <a:solidFill>
                  <a:schemeClr val="bg1"/>
                </a:solidFill>
                <a:latin typeface="Courier New" panose="02070309020205020404" pitchFamily="49" charset="0"/>
                <a:cs typeface="Courier New" panose="02070309020205020404" pitchFamily="49" charset="0"/>
              </a:rPr>
              <a:t>=8 OK", r8, "OK"))</a:t>
            </a:r>
          </a:p>
          <a:p>
            <a:pPr marL="0" indent="0">
              <a:lnSpc>
                <a:spcPct val="118000"/>
              </a:lnSpc>
              <a:buNone/>
            </a:pPr>
            <a:endParaRPr lang="en-US" sz="1100" dirty="0">
              <a:solidFill>
                <a:schemeClr val="bg1"/>
              </a:solidFill>
              <a:latin typeface="Courier New" panose="02070309020205020404" pitchFamily="49" charset="0"/>
              <a:cs typeface="Courier New" panose="02070309020205020404" pitchFamily="49" charset="0"/>
            </a:endParaRPr>
          </a:p>
          <a:p>
            <a:br>
              <a:rPr lang="it-IT" sz="1100" dirty="0">
                <a:solidFill>
                  <a:schemeClr val="bg1"/>
                </a:solidFill>
                <a:latin typeface="Courier New" panose="02070309020205020404" pitchFamily="49" charset="0"/>
                <a:cs typeface="Courier New" panose="02070309020205020404" pitchFamily="49" charset="0"/>
              </a:rPr>
            </a:br>
            <a:endParaRPr lang="en-US" sz="1100" dirty="0">
              <a:solidFill>
                <a:schemeClr val="bg1"/>
              </a:solidFill>
              <a:latin typeface="Courier New" panose="02070309020205020404" pitchFamily="49" charset="0"/>
              <a:cs typeface="Courier New" panose="02070309020205020404" pitchFamily="49" charset="0"/>
            </a:endParaRPr>
          </a:p>
        </p:txBody>
      </p:sp>
      <p:sp>
        <p:nvSpPr>
          <p:cNvPr id="11" name="Text 9"/>
          <p:cNvSpPr/>
          <p:nvPr/>
        </p:nvSpPr>
        <p:spPr>
          <a:xfrm>
            <a:off x="11521440" y="6510528"/>
            <a:ext cx="457200" cy="274320"/>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VERIFICA E TEST</a:t>
            </a:r>
            <a:endParaRPr lang="en-US" sz="1200" dirty="0"/>
          </a:p>
        </p:txBody>
      </p:sp>
      <p:sp>
        <p:nvSpPr>
          <p:cNvPr id="3" name="Text 1"/>
          <p:cNvSpPr/>
          <p:nvPr/>
        </p:nvSpPr>
        <p:spPr>
          <a:xfrm>
            <a:off x="548640" y="566928"/>
            <a:ext cx="10789920"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Stress test e collisione esatta</a:t>
            </a:r>
            <a:endParaRPr lang="en-US" sz="3000" dirty="0"/>
          </a:p>
        </p:txBody>
      </p:sp>
      <p:sp>
        <p:nvSpPr>
          <p:cNvPr id="4" name="Text 2"/>
          <p:cNvSpPr/>
          <p:nvPr/>
        </p:nvSpPr>
        <p:spPr>
          <a:xfrm>
            <a:off x="548640" y="1417320"/>
            <a:ext cx="5394960" cy="274320"/>
          </a:xfrm>
          <a:prstGeom prst="rect">
            <a:avLst/>
          </a:prstGeom>
          <a:noFill/>
          <a:ln/>
        </p:spPr>
        <p:txBody>
          <a:bodyPr wrap="square" lIns="0" tIns="0" rIns="0" bIns="0" rtlCol="0" anchor="ctr"/>
          <a:lstStyle/>
          <a:p>
            <a:pPr marL="0" indent="0">
              <a:buNone/>
            </a:pPr>
            <a:r>
              <a:rPr lang="en-US" sz="1250" b="1" dirty="0">
                <a:solidFill>
                  <a:srgbClr val="21295C"/>
                </a:solidFill>
                <a:latin typeface="Courier New" pitchFamily="34" charset="0"/>
                <a:ea typeface="Courier New" pitchFamily="34" charset="-122"/>
                <a:cs typeface="Courier New" pitchFamily="34" charset="-120"/>
              </a:rPr>
              <a:t>test_stress.py — stress test principale</a:t>
            </a:r>
            <a:endParaRPr lang="en-US" sz="1250" dirty="0"/>
          </a:p>
        </p:txBody>
      </p:sp>
      <p:sp>
        <p:nvSpPr>
          <p:cNvPr id="5" name="Text 3"/>
          <p:cNvSpPr/>
          <p:nvPr/>
        </p:nvSpPr>
        <p:spPr>
          <a:xfrm>
            <a:off x="548640" y="1737360"/>
            <a:ext cx="5394960" cy="1463040"/>
          </a:xfrm>
          <a:prstGeom prst="rect">
            <a:avLst/>
          </a:prstGeom>
          <a:noFill/>
          <a:ln/>
        </p:spPr>
        <p:txBody>
          <a:bodyPr wrap="square" lIns="0" tIns="0" rIns="0" bIns="0" rtlCol="0" anchor="ctr"/>
          <a:lstStyle/>
          <a:p>
            <a:pPr marL="342900" indent="-342900">
              <a:lnSpc>
                <a:spcPct val="120000"/>
              </a:lnSpc>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5 client concorrenti (thread separati), connessione TCP propria</a:t>
            </a:r>
            <a:endParaRPr lang="en-US" sz="1200" dirty="0"/>
          </a:p>
          <a:p>
            <a:pPr marL="342900" indent="-342900">
              <a:lnSpc>
                <a:spcPct val="120000"/>
              </a:lnSpc>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20 operazioni SET_REQ per client sulla stessa chiave, 30% di probabilità di retry</a:t>
            </a:r>
            <a:endParaRPr lang="en-US" sz="1200" dirty="0"/>
          </a:p>
          <a:p>
            <a:pPr marL="342900" indent="-342900">
              <a:lnSpc>
                <a:spcPct val="120000"/>
              </a:lnSpc>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Verifica finale: versione della chiave = numero di operazioni uniche</a:t>
            </a:r>
            <a:endParaRPr lang="en-US" sz="1200" dirty="0"/>
          </a:p>
        </p:txBody>
      </p:sp>
      <p:sp>
        <p:nvSpPr>
          <p:cNvPr id="6" name="Shape 4"/>
          <p:cNvSpPr/>
          <p:nvPr/>
        </p:nvSpPr>
        <p:spPr>
          <a:xfrm>
            <a:off x="548640" y="3383280"/>
            <a:ext cx="5394960" cy="2103120"/>
          </a:xfrm>
          <a:prstGeom prst="roundRect">
            <a:avLst>
              <a:gd name="adj" fmla="val 3478"/>
            </a:avLst>
          </a:prstGeom>
          <a:solidFill>
            <a:srgbClr val="21295C"/>
          </a:solidFill>
          <a:ln/>
        </p:spPr>
        <p:txBody>
          <a:bodyPr/>
          <a:lstStyle/>
          <a:p>
            <a:endParaRPr lang="it-IT"/>
          </a:p>
        </p:txBody>
      </p:sp>
      <p:sp>
        <p:nvSpPr>
          <p:cNvPr id="7" name="Text 5"/>
          <p:cNvSpPr/>
          <p:nvPr/>
        </p:nvSpPr>
        <p:spPr>
          <a:xfrm>
            <a:off x="804672" y="3547872"/>
            <a:ext cx="4882896" cy="274320"/>
          </a:xfrm>
          <a:prstGeom prst="rect">
            <a:avLst/>
          </a:prstGeom>
          <a:noFill/>
          <a:ln/>
        </p:spPr>
        <p:txBody>
          <a:bodyPr wrap="square" lIns="0" tIns="0" rIns="0" bIns="0" rtlCol="0" anchor="ctr"/>
          <a:lstStyle/>
          <a:p>
            <a:pPr marL="0" indent="0">
              <a:buNone/>
            </a:pPr>
            <a:r>
              <a:rPr lang="en-US" sz="1100" b="1" dirty="0">
                <a:solidFill>
                  <a:srgbClr val="9FD1E6"/>
                </a:solidFill>
                <a:latin typeface="Calibri" pitchFamily="34" charset="0"/>
                <a:ea typeface="Calibri" pitchFamily="34" charset="-122"/>
                <a:cs typeface="Calibri" pitchFamily="34" charset="-120"/>
              </a:rPr>
              <a:t>Collisione esatta (worst case)</a:t>
            </a:r>
            <a:endParaRPr lang="en-US" sz="1100" dirty="0"/>
          </a:p>
        </p:txBody>
      </p:sp>
      <p:sp>
        <p:nvSpPr>
          <p:cNvPr id="8" name="Text 6"/>
          <p:cNvSpPr/>
          <p:nvPr/>
        </p:nvSpPr>
        <p:spPr>
          <a:xfrm>
            <a:off x="804672" y="3913632"/>
            <a:ext cx="4882896" cy="1435608"/>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10 thread inviano contemporaneamente lo stesso identico request_id sulla stessa chiave, simulando il timeout del client mentre la prima risposta è ancora in transito. Esercita direttamente l'atomicità del blocco with self._lock in _dispatch_idempotent.</a:t>
            </a:r>
            <a:endParaRPr lang="en-US" sz="1250" dirty="0"/>
          </a:p>
        </p:txBody>
      </p:sp>
      <p:sp>
        <p:nvSpPr>
          <p:cNvPr id="9" name="Shape 7"/>
          <p:cNvSpPr/>
          <p:nvPr/>
        </p:nvSpPr>
        <p:spPr>
          <a:xfrm>
            <a:off x="6309360" y="1463040"/>
            <a:ext cx="5303520" cy="4023360"/>
          </a:xfrm>
          <a:prstGeom prst="roundRect">
            <a:avLst>
              <a:gd name="adj" fmla="val 1538"/>
            </a:avLst>
          </a:prstGeom>
          <a:solidFill>
            <a:srgbClr val="1E2430"/>
          </a:solidFill>
          <a:ln/>
          <a:effectLst>
            <a:outerShdw blurRad="101600" dist="38100" dir="5400000" algn="bl" rotWithShape="0">
              <a:srgbClr val="000000">
                <a:alpha val="18000"/>
              </a:srgbClr>
            </a:outerShdw>
          </a:effectLst>
        </p:spPr>
        <p:txBody>
          <a:bodyPr/>
          <a:lstStyle/>
          <a:p>
            <a:endParaRPr lang="it-IT"/>
          </a:p>
        </p:txBody>
      </p:sp>
      <p:sp>
        <p:nvSpPr>
          <p:cNvPr id="10" name="Text 8"/>
          <p:cNvSpPr/>
          <p:nvPr/>
        </p:nvSpPr>
        <p:spPr>
          <a:xfrm>
            <a:off x="6565392" y="1664208"/>
            <a:ext cx="4791456" cy="4389120"/>
          </a:xfrm>
          <a:prstGeom prst="rect">
            <a:avLst/>
          </a:prstGeom>
          <a:noFill/>
          <a:ln/>
        </p:spPr>
        <p:txBody>
          <a:bodyPr wrap="square" lIns="0" tIns="0" rIns="0" bIns="0" rtlCol="0" anchor="t"/>
          <a:lstStyle/>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command = f"SET_REQ {client_id}:999 {key} conc_val"</a:t>
            </a:r>
            <a:endParaRPr lang="en-US" sz="1130" dirty="0"/>
          </a:p>
          <a:p>
            <a:pPr marL="0" indent="0">
              <a:lnSpc>
                <a:spcPct val="118000"/>
              </a:lnSpc>
              <a:buNone/>
            </a:pP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def worker():</a:t>
            </a: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    resp = RawClient(host, port).send(command)</a:t>
            </a:r>
            <a:endParaRPr lang="en-US" sz="1130" dirty="0"/>
          </a:p>
          <a:p>
            <a:pPr marL="0" indent="0">
              <a:lnSpc>
                <a:spcPct val="118000"/>
              </a:lnSpc>
              <a:buNone/>
            </a:pPr>
            <a:r>
              <a:rPr lang="en-US" sz="1130" dirty="0">
                <a:solidFill>
                  <a:srgbClr val="7FD1C9"/>
                </a:solidFill>
                <a:latin typeface="Courier New" pitchFamily="34" charset="0"/>
                <a:ea typeface="Courier New" pitchFamily="34" charset="-122"/>
                <a:cs typeface="Courier New" pitchFamily="34" charset="-120"/>
              </a:rPr>
              <a:t>    with lock:</a:t>
            </a: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        results.append(resp)</a:t>
            </a:r>
            <a:endParaRPr lang="en-US" sz="1130" dirty="0"/>
          </a:p>
          <a:p>
            <a:pPr marL="0" indent="0">
              <a:lnSpc>
                <a:spcPct val="118000"/>
              </a:lnSpc>
              <a:buNone/>
            </a:pP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threads = [Thread(target=worker) for _ in range(10)]</a:t>
            </a: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[t.start() for t in threads]</a:t>
            </a:r>
            <a:endParaRPr lang="en-US" sz="1130" dirty="0"/>
          </a:p>
          <a:p>
            <a:pPr marL="0" indent="0">
              <a:lnSpc>
                <a:spcPct val="118000"/>
              </a:lnSpc>
              <a:buNone/>
            </a:pPr>
            <a:r>
              <a:rPr lang="en-US" sz="1130" dirty="0">
                <a:solidFill>
                  <a:srgbClr val="E8EEF2"/>
                </a:solidFill>
                <a:latin typeface="Courier New" pitchFamily="34" charset="0"/>
                <a:ea typeface="Courier New" pitchFamily="34" charset="-122"/>
                <a:cs typeface="Courier New" pitchFamily="34" charset="-120"/>
              </a:rPr>
              <a:t>[t.join() for t in threads]</a:t>
            </a:r>
            <a:endParaRPr lang="en-US" sz="1130" dirty="0"/>
          </a:p>
          <a:p>
            <a:pPr marL="0" indent="0">
              <a:lnSpc>
                <a:spcPct val="118000"/>
              </a:lnSpc>
              <a:buNone/>
            </a:pPr>
            <a:endParaRPr lang="en-US" sz="1130" dirty="0"/>
          </a:p>
          <a:p>
            <a:pPr marL="0" indent="0">
              <a:lnSpc>
                <a:spcPct val="118000"/>
              </a:lnSpc>
              <a:buNone/>
            </a:pPr>
            <a:r>
              <a:rPr lang="en-US" sz="1130" dirty="0">
                <a:solidFill>
                  <a:srgbClr val="8A97A6"/>
                </a:solidFill>
                <a:latin typeface="Courier New" pitchFamily="34" charset="0"/>
                <a:ea typeface="Courier New" pitchFamily="34" charset="-122"/>
                <a:cs typeface="Courier New" pitchFamily="34" charset="-120"/>
              </a:rPr>
              <a:t>assert all(r == results[0] for r in results)</a:t>
            </a:r>
            <a:endParaRPr lang="en-US" sz="1130" dirty="0"/>
          </a:p>
          <a:p>
            <a:pPr marL="0" indent="0">
              <a:lnSpc>
                <a:spcPct val="118000"/>
              </a:lnSpc>
              <a:buNone/>
            </a:pPr>
            <a:r>
              <a:rPr lang="en-US" sz="1130" dirty="0">
                <a:solidFill>
                  <a:srgbClr val="8A97A6"/>
                </a:solidFill>
                <a:latin typeface="Courier New" pitchFamily="34" charset="0"/>
                <a:ea typeface="Courier New" pitchFamily="34" charset="-122"/>
                <a:cs typeface="Courier New" pitchFamily="34" charset="-120"/>
              </a:rPr>
              <a:t># GETV key -&gt; "OK conc_val version=1"</a:t>
            </a:r>
            <a:endParaRPr lang="en-US" sz="1130" dirty="0"/>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188720" y="-1463040"/>
            <a:ext cx="3291840" cy="3291840"/>
          </a:xfrm>
          <a:prstGeom prst="ellipse">
            <a:avLst/>
          </a:prstGeom>
          <a:solidFill>
            <a:srgbClr val="2B3570"/>
          </a:solidFill>
          <a:ln/>
        </p:spPr>
        <p:txBody>
          <a:bodyPr/>
          <a:lstStyle/>
          <a:p>
            <a:endParaRPr lang="it-IT"/>
          </a:p>
        </p:txBody>
      </p:sp>
      <p:sp>
        <p:nvSpPr>
          <p:cNvPr id="3" name="Shape 1"/>
          <p:cNvSpPr/>
          <p:nvPr/>
        </p:nvSpPr>
        <p:spPr>
          <a:xfrm>
            <a:off x="10058400" y="4754880"/>
            <a:ext cx="3108960" cy="3108960"/>
          </a:xfrm>
          <a:prstGeom prst="ellipse">
            <a:avLst/>
          </a:prstGeom>
          <a:solidFill>
            <a:srgbClr val="2B3570"/>
          </a:solidFill>
          <a:ln/>
        </p:spPr>
        <p:txBody>
          <a:bodyPr/>
          <a:lstStyle/>
          <a:p>
            <a:endParaRPr lang="it-IT"/>
          </a:p>
        </p:txBody>
      </p:sp>
      <p:sp>
        <p:nvSpPr>
          <p:cNvPr id="4" name="Text 2"/>
          <p:cNvSpPr/>
          <p:nvPr/>
        </p:nvSpPr>
        <p:spPr>
          <a:xfrm>
            <a:off x="640080" y="457200"/>
            <a:ext cx="10058400" cy="274320"/>
          </a:xfrm>
          <a:prstGeom prst="rect">
            <a:avLst/>
          </a:prstGeom>
          <a:noFill/>
          <a:ln/>
        </p:spPr>
        <p:txBody>
          <a:bodyPr wrap="square" lIns="0" tIns="0" rIns="0" bIns="0" rtlCol="0" anchor="ctr"/>
          <a:lstStyle/>
          <a:p>
            <a:pPr marL="0" indent="0">
              <a:buNone/>
            </a:pPr>
            <a:r>
              <a:rPr lang="en-US" sz="1200" b="1" kern="0" spc="200" dirty="0">
                <a:solidFill>
                  <a:srgbClr val="9FD1E6"/>
                </a:solidFill>
                <a:latin typeface="Calibri" pitchFamily="34" charset="0"/>
                <a:ea typeface="Calibri" pitchFamily="34" charset="-122"/>
                <a:cs typeface="Calibri" pitchFamily="34" charset="-120"/>
              </a:rPr>
              <a:t>CHAOS PROXY E NOTA TECNICA</a:t>
            </a:r>
            <a:endParaRPr lang="en-US" sz="1200" dirty="0"/>
          </a:p>
        </p:txBody>
      </p:sp>
      <p:sp>
        <p:nvSpPr>
          <p:cNvPr id="5" name="Text 3"/>
          <p:cNvSpPr/>
          <p:nvPr/>
        </p:nvSpPr>
        <p:spPr>
          <a:xfrm>
            <a:off x="640080" y="731520"/>
            <a:ext cx="1051560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test_client.py verifica il client reale dietro un guasto simulato</a:t>
            </a:r>
            <a:endParaRPr lang="en-US" sz="2200" dirty="0"/>
          </a:p>
        </p:txBody>
      </p:sp>
      <p:sp>
        <p:nvSpPr>
          <p:cNvPr id="6" name="Text 4"/>
          <p:cNvSpPr/>
          <p:nvPr/>
        </p:nvSpPr>
        <p:spPr>
          <a:xfrm>
            <a:off x="640080" y="1325880"/>
            <a:ext cx="10515600" cy="914400"/>
          </a:xfrm>
          <a:prstGeom prst="rect">
            <a:avLst/>
          </a:prstGeom>
          <a:noFill/>
          <a:ln/>
        </p:spPr>
        <p:txBody>
          <a:bodyPr wrap="square" lIns="0" tIns="0" rIns="0" bIns="0" rtlCol="0" anchor="ctr"/>
          <a:lstStyle/>
          <a:p>
            <a:pPr marL="0" indent="0">
              <a:lnSpc>
                <a:spcPct val="125000"/>
              </a:lnSpc>
              <a:buNone/>
            </a:pPr>
            <a:r>
              <a:rPr lang="en-US" sz="1300" dirty="0">
                <a:solidFill>
                  <a:srgbClr val="C7D2E8"/>
                </a:solidFill>
                <a:latin typeface="Calibri" pitchFamily="34" charset="0"/>
                <a:ea typeface="Calibri" pitchFamily="34" charset="-122"/>
                <a:cs typeface="Calibri" pitchFamily="34" charset="-120"/>
              </a:rPr>
              <a:t>A differenza degli altri test, che usano socket raw per verificare il protocollo, questo test esercita il codice di produzione reale del client (IdempotentClient), dietro un chaos proxy TCP che droppa selettivamente le risposte del server, forzando il percorso reale _send_with_retry → _reconnect.</a:t>
            </a:r>
            <a:endParaRPr lang="en-US" sz="1300" dirty="0"/>
          </a:p>
        </p:txBody>
      </p:sp>
      <p:sp>
        <p:nvSpPr>
          <p:cNvPr id="7" name="Text 5"/>
          <p:cNvSpPr/>
          <p:nvPr/>
        </p:nvSpPr>
        <p:spPr>
          <a:xfrm>
            <a:off x="640080" y="2423160"/>
            <a:ext cx="10058400" cy="274320"/>
          </a:xfrm>
          <a:prstGeom prst="rect">
            <a:avLst/>
          </a:prstGeom>
          <a:noFill/>
          <a:ln/>
        </p:spPr>
        <p:txBody>
          <a:bodyPr wrap="square" lIns="0" tIns="0" rIns="0" bIns="0" rtlCol="0" anchor="ctr"/>
          <a:lstStyle/>
          <a:p>
            <a:pPr marL="0" indent="0">
              <a:buNone/>
            </a:pPr>
            <a:r>
              <a:rPr lang="en-US" sz="1200" b="1" kern="0" spc="200" dirty="0">
                <a:solidFill>
                  <a:srgbClr val="9FD1E6"/>
                </a:solidFill>
                <a:latin typeface="Calibri" pitchFamily="34" charset="0"/>
                <a:ea typeface="Calibri" pitchFamily="34" charset="-122"/>
                <a:cs typeface="Calibri" pitchFamily="34" charset="-120"/>
              </a:rPr>
              <a:t>LA DOMANDA DA DIFENDERE</a:t>
            </a:r>
            <a:endParaRPr lang="en-US" sz="1200" dirty="0"/>
          </a:p>
        </p:txBody>
      </p:sp>
      <p:sp>
        <p:nvSpPr>
          <p:cNvPr id="8" name="Text 6"/>
          <p:cNvSpPr/>
          <p:nvPr/>
        </p:nvSpPr>
        <p:spPr>
          <a:xfrm>
            <a:off x="640080" y="2697480"/>
            <a:ext cx="10698480" cy="685800"/>
          </a:xfrm>
          <a:prstGeom prst="rect">
            <a:avLst/>
          </a:prstGeom>
          <a:noFill/>
          <a:ln/>
        </p:spPr>
        <p:txBody>
          <a:bodyPr wrap="square" lIns="0" tIns="0" rIns="0" bIns="0" rtlCol="0" anchor="ctr"/>
          <a:lstStyle/>
          <a:p>
            <a:pPr marL="0" indent="0">
              <a:buNone/>
            </a:pPr>
            <a:r>
              <a:rPr lang="en-US" sz="1900" i="1" dirty="0">
                <a:solidFill>
                  <a:srgbClr val="FFFFFF"/>
                </a:solidFill>
                <a:latin typeface="Cambria" pitchFamily="34" charset="0"/>
                <a:ea typeface="Cambria" pitchFamily="34" charset="-122"/>
                <a:cs typeface="Cambria" pitchFamily="34" charset="-120"/>
              </a:rPr>
              <a:t>“Quale promessa nuova introduce il vostro sistema e quale costo tecnico avete accettato per mantenerla?”</a:t>
            </a:r>
            <a:endParaRPr lang="en-US" sz="1900" dirty="0"/>
          </a:p>
        </p:txBody>
      </p:sp>
      <p:sp>
        <p:nvSpPr>
          <p:cNvPr id="9" name="Shape 7"/>
          <p:cNvSpPr/>
          <p:nvPr/>
        </p:nvSpPr>
        <p:spPr>
          <a:xfrm>
            <a:off x="640080" y="3566160"/>
            <a:ext cx="5257800" cy="1188720"/>
          </a:xfrm>
          <a:prstGeom prst="roundRect">
            <a:avLst>
              <a:gd name="adj" fmla="val 6154"/>
            </a:avLst>
          </a:prstGeom>
          <a:solidFill>
            <a:srgbClr val="2B3570"/>
          </a:solidFill>
          <a:ln/>
        </p:spPr>
        <p:txBody>
          <a:bodyPr/>
          <a:lstStyle/>
          <a:p>
            <a:endParaRPr lang="it-IT"/>
          </a:p>
        </p:txBody>
      </p:sp>
      <p:sp>
        <p:nvSpPr>
          <p:cNvPr id="10" name="Text 8"/>
          <p:cNvSpPr/>
          <p:nvPr/>
        </p:nvSpPr>
        <p:spPr>
          <a:xfrm>
            <a:off x="896112" y="3730752"/>
            <a:ext cx="4745736" cy="274320"/>
          </a:xfrm>
          <a:prstGeom prst="rect">
            <a:avLst/>
          </a:prstGeom>
          <a:noFill/>
          <a:ln/>
        </p:spPr>
        <p:txBody>
          <a:bodyPr wrap="square" lIns="0" tIns="0" rIns="0" bIns="0" rtlCol="0" anchor="ctr"/>
          <a:lstStyle/>
          <a:p>
            <a:pPr marL="0" indent="0">
              <a:buNone/>
            </a:pPr>
            <a:r>
              <a:rPr lang="en-US" sz="1100" b="1" dirty="0">
                <a:solidFill>
                  <a:srgbClr val="9FD1E6"/>
                </a:solidFill>
                <a:latin typeface="Calibri" pitchFamily="34" charset="0"/>
                <a:ea typeface="Calibri" pitchFamily="34" charset="-122"/>
                <a:cs typeface="Calibri" pitchFamily="34" charset="-120"/>
              </a:rPr>
              <a:t>Promessa: at-most-once semantics</a:t>
            </a:r>
            <a:endParaRPr lang="en-US" sz="1100" dirty="0"/>
          </a:p>
        </p:txBody>
      </p:sp>
      <p:sp>
        <p:nvSpPr>
          <p:cNvPr id="11" name="Text 9"/>
          <p:cNvSpPr/>
          <p:nvPr/>
        </p:nvSpPr>
        <p:spPr>
          <a:xfrm>
            <a:off x="896112" y="4096512"/>
            <a:ext cx="4745736" cy="521208"/>
          </a:xfrm>
          <a:prstGeom prst="rect">
            <a:avLst/>
          </a:prstGeom>
          <a:noFill/>
          <a:ln/>
        </p:spPr>
        <p:txBody>
          <a:bodyPr wrap="square" lIns="0" tIns="0" rIns="0" bIns="0" rtlCol="0" anchor="t"/>
          <a:lstStyle/>
          <a:p>
            <a:pPr marL="0" indent="0">
              <a:lnSpc>
                <a:spcPct val="115000"/>
              </a:lnSpc>
              <a:buNone/>
            </a:pPr>
            <a:r>
              <a:rPr lang="en-US" sz="1250" dirty="0">
                <a:solidFill>
                  <a:srgbClr val="E4E9F6"/>
                </a:solidFill>
                <a:latin typeface="Calibri" pitchFamily="34" charset="0"/>
                <a:ea typeface="Calibri" pitchFamily="34" charset="-122"/>
                <a:cs typeface="Calibri" pitchFamily="34" charset="-120"/>
              </a:rPr>
              <a:t>una richiesta viene eseguita al più una volta, indipendentemente dai retry del client.</a:t>
            </a:r>
            <a:endParaRPr lang="en-US" sz="1250" dirty="0"/>
          </a:p>
        </p:txBody>
      </p:sp>
      <p:sp>
        <p:nvSpPr>
          <p:cNvPr id="12" name="Shape 10"/>
          <p:cNvSpPr/>
          <p:nvPr/>
        </p:nvSpPr>
        <p:spPr>
          <a:xfrm>
            <a:off x="6172200" y="3566160"/>
            <a:ext cx="5257800" cy="1188720"/>
          </a:xfrm>
          <a:prstGeom prst="roundRect">
            <a:avLst>
              <a:gd name="adj" fmla="val 6154"/>
            </a:avLst>
          </a:prstGeom>
          <a:solidFill>
            <a:srgbClr val="2B3570"/>
          </a:solidFill>
          <a:ln/>
        </p:spPr>
        <p:txBody>
          <a:bodyPr/>
          <a:lstStyle/>
          <a:p>
            <a:endParaRPr lang="it-IT"/>
          </a:p>
        </p:txBody>
      </p:sp>
      <p:sp>
        <p:nvSpPr>
          <p:cNvPr id="13" name="Text 11"/>
          <p:cNvSpPr/>
          <p:nvPr/>
        </p:nvSpPr>
        <p:spPr>
          <a:xfrm>
            <a:off x="6428232" y="3730752"/>
            <a:ext cx="4745736" cy="274320"/>
          </a:xfrm>
          <a:prstGeom prst="rect">
            <a:avLst/>
          </a:prstGeom>
          <a:noFill/>
          <a:ln/>
        </p:spPr>
        <p:txBody>
          <a:bodyPr wrap="square" lIns="0" tIns="0" rIns="0" bIns="0" rtlCol="0" anchor="ctr"/>
          <a:lstStyle/>
          <a:p>
            <a:pPr marL="0" indent="0">
              <a:buNone/>
            </a:pPr>
            <a:r>
              <a:rPr lang="en-US" sz="1100" b="1" dirty="0">
                <a:solidFill>
                  <a:srgbClr val="9FD1E6"/>
                </a:solidFill>
                <a:latin typeface="Calibri" pitchFamily="34" charset="0"/>
                <a:ea typeface="Calibri" pitchFamily="34" charset="-122"/>
                <a:cs typeface="Calibri" pitchFamily="34" charset="-120"/>
              </a:rPr>
              <a:t>Costo: memoria, overhead, lock globale</a:t>
            </a:r>
            <a:endParaRPr lang="en-US" sz="1100" dirty="0"/>
          </a:p>
        </p:txBody>
      </p:sp>
      <p:sp>
        <p:nvSpPr>
          <p:cNvPr id="14" name="Text 12"/>
          <p:cNvSpPr/>
          <p:nvPr/>
        </p:nvSpPr>
        <p:spPr>
          <a:xfrm>
            <a:off x="6428232" y="4096512"/>
            <a:ext cx="4745736" cy="521208"/>
          </a:xfrm>
          <a:prstGeom prst="rect">
            <a:avLst/>
          </a:prstGeom>
          <a:noFill/>
          <a:ln/>
        </p:spPr>
        <p:txBody>
          <a:bodyPr wrap="square" lIns="0" tIns="0" rIns="0" bIns="0" rtlCol="0" anchor="t"/>
          <a:lstStyle/>
          <a:p>
            <a:pPr marL="0" indent="0">
              <a:lnSpc>
                <a:spcPct val="115000"/>
              </a:lnSpc>
              <a:buNone/>
            </a:pPr>
            <a:r>
              <a:rPr lang="en-US" sz="1250" dirty="0">
                <a:solidFill>
                  <a:srgbClr val="E4E9F6"/>
                </a:solidFill>
                <a:latin typeface="Calibri" pitchFamily="34" charset="0"/>
                <a:ea typeface="Calibri" pitchFamily="34" charset="-122"/>
                <a:cs typeface="Calibri" pitchFamily="34" charset="-120"/>
              </a:rPr>
              <a:t>request_table per client, finestra di deduplicazione finita, serializzazione delle operazioni.</a:t>
            </a:r>
            <a:endParaRPr lang="en-US" sz="1250" dirty="0"/>
          </a:p>
        </p:txBody>
      </p:sp>
      <p:sp>
        <p:nvSpPr>
          <p:cNvPr id="15" name="Text 13"/>
          <p:cNvSpPr/>
          <p:nvPr/>
        </p:nvSpPr>
        <p:spPr>
          <a:xfrm>
            <a:off x="640080" y="4937760"/>
            <a:ext cx="10058400" cy="274320"/>
          </a:xfrm>
          <a:prstGeom prst="rect">
            <a:avLst/>
          </a:prstGeom>
          <a:noFill/>
          <a:ln/>
        </p:spPr>
        <p:txBody>
          <a:bodyPr wrap="square" lIns="0" tIns="0" rIns="0" bIns="0" rtlCol="0" anchor="ctr"/>
          <a:lstStyle/>
          <a:p>
            <a:pPr marL="0" indent="0">
              <a:buNone/>
            </a:pPr>
            <a:r>
              <a:rPr lang="en-US" sz="1100" b="1" kern="0" spc="200" dirty="0">
                <a:solidFill>
                  <a:srgbClr val="9FD1E6"/>
                </a:solidFill>
                <a:latin typeface="Calibri" pitchFamily="34" charset="0"/>
                <a:ea typeface="Calibri" pitchFamily="34" charset="-122"/>
                <a:cs typeface="Calibri" pitchFamily="34" charset="-120"/>
              </a:rPr>
              <a:t>LIMITI DICHIARATI E POSSIBILI EVOLUZIONI</a:t>
            </a:r>
            <a:endParaRPr lang="en-US" sz="1100" dirty="0"/>
          </a:p>
        </p:txBody>
      </p:sp>
      <p:sp>
        <p:nvSpPr>
          <p:cNvPr id="16" name="Text 14"/>
          <p:cNvSpPr/>
          <p:nvPr/>
        </p:nvSpPr>
        <p:spPr>
          <a:xfrm>
            <a:off x="640080" y="5257800"/>
            <a:ext cx="10881360" cy="731520"/>
          </a:xfrm>
          <a:prstGeom prst="rect">
            <a:avLst/>
          </a:prstGeom>
          <a:noFill/>
          <a:ln/>
        </p:spPr>
        <p:txBody>
          <a:bodyPr wrap="square" lIns="0" tIns="0" rIns="0" bIns="0" rtlCol="0" anchor="ctr"/>
          <a:lstStyle/>
          <a:p>
            <a:pPr marL="0" indent="0">
              <a:lnSpc>
                <a:spcPct val="130000"/>
              </a:lnSpc>
              <a:buNone/>
            </a:pPr>
            <a:r>
              <a:rPr lang="en-US" sz="1150" dirty="0">
                <a:solidFill>
                  <a:srgbClr val="C7D2E8"/>
                </a:solidFill>
                <a:latin typeface="Calibri" pitchFamily="34" charset="0"/>
                <a:ea typeface="Calibri" pitchFamily="34" charset="-122"/>
                <a:cs typeface="Calibri" pitchFamily="34" charset="-120"/>
              </a:rPr>
              <a:t>Volatilità al riavvio · singolo nodo · client malevoli possono esaurire memoria · nessun timeout sulle entry orfane</a:t>
            </a:r>
            <a:endParaRPr lang="en-US" sz="1150" dirty="0"/>
          </a:p>
          <a:p>
            <a:pPr marL="0" indent="0">
              <a:lnSpc>
                <a:spcPct val="130000"/>
              </a:lnSpc>
              <a:buNone/>
            </a:pPr>
            <a:r>
              <a:rPr lang="en-US" sz="1150" dirty="0">
                <a:solidFill>
                  <a:srgbClr val="C7D2E8"/>
                </a:solidFill>
                <a:latin typeface="Calibri" pitchFamily="34" charset="0"/>
                <a:ea typeface="Calibri" pitchFamily="34" charset="-122"/>
                <a:cs typeface="Calibri" pitchFamily="34" charset="-120"/>
              </a:rPr>
              <a:t>Evoluzioni: persistenza della request_table, TTL + sliding window, lock per shard, replicazione, rate limiting</a:t>
            </a:r>
            <a:endParaRPr lang="en-US" sz="115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D3707AD-8261-4357-9C64-EEC41E832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 y="-427"/>
            <a:ext cx="6086683" cy="6858428"/>
          </a:xfrm>
          <a:prstGeom prst="rect">
            <a:avLst/>
          </a:prstGeom>
          <a:gradFill>
            <a:gsLst>
              <a:gs pos="0">
                <a:srgbClr val="000000">
                  <a:alpha val="53000"/>
                </a:srgbClr>
              </a:gs>
              <a:gs pos="82000">
                <a:schemeClr val="accent1">
                  <a:lumMod val="75000"/>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498142"/>
            <a:ext cx="12191999" cy="6359430"/>
          </a:xfrm>
          <a:prstGeom prst="rect">
            <a:avLst/>
          </a:prstGeom>
          <a:gradFill>
            <a:gsLst>
              <a:gs pos="13000">
                <a:schemeClr val="accent1">
                  <a:lumMod val="75000"/>
                  <a:alpha val="39000"/>
                </a:schemeClr>
              </a:gs>
              <a:gs pos="100000">
                <a:srgbClr val="000000">
                  <a:alpha val="32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39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D1B01BE8-EBAB-4286-84CC-EC07C7F95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400370"/>
          </a:xfrm>
          <a:prstGeom prst="rect">
            <a:avLst/>
          </a:prstGeom>
          <a:gradFill>
            <a:gsLst>
              <a:gs pos="0">
                <a:srgbClr val="000000">
                  <a:alpha val="70000"/>
                </a:srgbClr>
              </a:gs>
              <a:gs pos="99000">
                <a:schemeClr val="accent1">
                  <a:lumMod val="75000"/>
                  <a:alpha val="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13">
            <a:extLst>
              <a:ext uri="{FF2B5EF4-FFF2-40B4-BE49-F238E27FC236}">
                <a16:creationId xmlns:a16="http://schemas.microsoft.com/office/drawing/2014/main" id="{B810725C-984E-4EC2-A5FA-A193878CB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59729" y="-716753"/>
            <a:ext cx="4893880" cy="10255626"/>
          </a:xfrm>
          <a:custGeom>
            <a:avLst/>
            <a:gdLst>
              <a:gd name="connsiteX0" fmla="*/ 2065105 w 2065105"/>
              <a:gd name="connsiteY0" fmla="*/ 0 h 4139967"/>
              <a:gd name="connsiteX1" fmla="*/ 2065105 w 2065105"/>
              <a:gd name="connsiteY1" fmla="*/ 4139967 h 4139967"/>
              <a:gd name="connsiteX2" fmla="*/ 1858573 w 2065105"/>
              <a:gd name="connsiteY2" fmla="*/ 4129538 h 4139967"/>
              <a:gd name="connsiteX3" fmla="*/ 0 w 2065105"/>
              <a:gd name="connsiteY3" fmla="*/ 2069983 h 4139967"/>
              <a:gd name="connsiteX4" fmla="*/ 1858573 w 2065105"/>
              <a:gd name="connsiteY4" fmla="*/ 10428 h 4139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105" h="4139967">
                <a:moveTo>
                  <a:pt x="2065105" y="0"/>
                </a:moveTo>
                <a:lnTo>
                  <a:pt x="2065105" y="4139967"/>
                </a:lnTo>
                <a:lnTo>
                  <a:pt x="1858573" y="4129538"/>
                </a:lnTo>
                <a:cubicBezTo>
                  <a:pt x="814640" y="4023521"/>
                  <a:pt x="0" y="3141887"/>
                  <a:pt x="0" y="2069983"/>
                </a:cubicBezTo>
                <a:cubicBezTo>
                  <a:pt x="0" y="998079"/>
                  <a:pt x="814640" y="116446"/>
                  <a:pt x="1858573" y="10428"/>
                </a:cubicBezTo>
                <a:close/>
              </a:path>
            </a:pathLst>
          </a:custGeom>
          <a:gradFill flip="none" rotWithShape="1">
            <a:gsLst>
              <a:gs pos="0">
                <a:schemeClr val="accent1">
                  <a:lumMod val="50000"/>
                  <a:alpha val="0"/>
                </a:schemeClr>
              </a:gs>
              <a:gs pos="100000">
                <a:schemeClr val="accent1">
                  <a:alpha val="23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asellaDiTesto 1">
            <a:extLst>
              <a:ext uri="{FF2B5EF4-FFF2-40B4-BE49-F238E27FC236}">
                <a16:creationId xmlns:a16="http://schemas.microsoft.com/office/drawing/2014/main" id="{C147DA82-3BBB-401A-2463-9E9B49298BF3}"/>
              </a:ext>
            </a:extLst>
          </p:cNvPr>
          <p:cNvSpPr txBox="1"/>
          <p:nvPr/>
        </p:nvSpPr>
        <p:spPr>
          <a:xfrm>
            <a:off x="2118359" y="2104546"/>
            <a:ext cx="7457441" cy="2863883"/>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800" kern="1200" dirty="0">
                <a:solidFill>
                  <a:srgbClr val="FFFFFF"/>
                </a:solidFill>
                <a:latin typeface="+mj-lt"/>
                <a:ea typeface="+mj-ea"/>
                <a:cs typeface="+mj-cs"/>
              </a:rPr>
              <a:t>Grazie per </a:t>
            </a:r>
            <a:r>
              <a:rPr lang="en-US" sz="4800" kern="1200">
                <a:solidFill>
                  <a:srgbClr val="FFFFFF"/>
                </a:solidFill>
                <a:latin typeface="+mj-lt"/>
                <a:ea typeface="+mj-ea"/>
                <a:cs typeface="+mj-cs"/>
              </a:rPr>
              <a:t>l’attenzione</a:t>
            </a:r>
            <a:endParaRPr lang="en-US" sz="4800" kern="1200" dirty="0">
              <a:solidFill>
                <a:srgbClr val="FFFFFF"/>
              </a:solidFill>
              <a:latin typeface="+mj-lt"/>
              <a:ea typeface="+mj-ea"/>
              <a:cs typeface="+mj-cs"/>
            </a:endParaRPr>
          </a:p>
          <a:p>
            <a:pPr algn="ctr">
              <a:lnSpc>
                <a:spcPct val="90000"/>
              </a:lnSpc>
              <a:spcBef>
                <a:spcPct val="0"/>
              </a:spcBef>
              <a:spcAft>
                <a:spcPts val="600"/>
              </a:spcAft>
            </a:pPr>
            <a:endParaRPr lang="en-US" sz="4800" kern="1200" dirty="0">
              <a:solidFill>
                <a:srgbClr val="FFFFFF"/>
              </a:solidFill>
              <a:latin typeface="+mj-lt"/>
              <a:ea typeface="+mj-ea"/>
              <a:cs typeface="+mj-cs"/>
            </a:endParaRPr>
          </a:p>
        </p:txBody>
      </p:sp>
    </p:spTree>
    <p:extLst>
      <p:ext uri="{BB962C8B-B14F-4D97-AF65-F5344CB8AC3E}">
        <p14:creationId xmlns:p14="http://schemas.microsoft.com/office/powerpoint/2010/main" val="2627544113"/>
      </p:ext>
    </p:extLst>
  </p:cSld>
  <p:clrMapOvr>
    <a:masterClrMapping/>
  </p:clrMapOvr>
  <p:transition spd="slow">
    <p:randomBar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598</TotalTime>
  <Words>3917</Words>
  <Application>Microsoft Office PowerPoint</Application>
  <PresentationFormat>Widescreen</PresentationFormat>
  <Paragraphs>384</Paragraphs>
  <Slides>18</Slides>
  <Notes>17</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18</vt:i4>
      </vt:variant>
    </vt:vector>
  </HeadingPairs>
  <TitlesOfParts>
    <vt:vector size="27" baseType="lpstr">
      <vt:lpstr>Aptos</vt:lpstr>
      <vt:lpstr>Aptos Slab SemiBold</vt:lpstr>
      <vt:lpstr>Arial</vt:lpstr>
      <vt:lpstr>Calibri</vt:lpstr>
      <vt:lpstr>Calibri </vt:lpstr>
      <vt:lpstr>Cambria</vt:lpstr>
      <vt:lpstr>Courier New</vt:lpstr>
      <vt:lpstr>Inter</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Retry Idempotenti con request_id</dc:title>
  <dc:subject>PptxGenJS Presentation</dc:subject>
  <dc:creator>Homework 3</dc:creator>
  <cp:lastModifiedBy>Gilda Savaia</cp:lastModifiedBy>
  <cp:revision>6</cp:revision>
  <dcterms:created xsi:type="dcterms:W3CDTF">2026-07-06T11:04:54Z</dcterms:created>
  <dcterms:modified xsi:type="dcterms:W3CDTF">2026-07-10T07:01:13Z</dcterms:modified>
</cp:coreProperties>
</file>